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864833cfc64d7d" /><Relationship Type="http://schemas.openxmlformats.org/officeDocument/2006/relationships/extended-properties" Target="/docProps/app.xml" Id="R864f532f6a7645eb" /><Relationship Type="http://schemas.openxmlformats.org/officeDocument/2006/relationships/officeDocument" Target="/ppt/presentation.xml" Id="R59ed6a160d114130" /></Relationships>
</file>

<file path=ppt/presentation.xml><?xml version="1.0" encoding="utf-8"?>
<p:presentation xmlns:p="http://schemas.openxmlformats.org/presentationml/2006/main">
  <p:sldMasterIdLst>
    <p:sldMasterId xmlns:r="http://schemas.openxmlformats.org/officeDocument/2006/relationships" id="2147483648" r:id="R639640b1aa4e4012"/>
  </p:sldMasterIdLst>
  <p:notesMasterIdLst>
    <p:notesMasterId xmlns:r="http://schemas.openxmlformats.org/officeDocument/2006/relationships" r:id="Rddb8fe97e17e4a3f"/>
  </p:notesMasterIdLst>
  <p:sldIdLst>
    <p:sldId xmlns:r="http://schemas.openxmlformats.org/officeDocument/2006/relationships" id="256" r:id="R4a80db91197f42ea"/>
    <p:sldId xmlns:r="http://schemas.openxmlformats.org/officeDocument/2006/relationships" id="257" r:id="R3a0d16447e7749c2"/>
    <p:sldId xmlns:r="http://schemas.openxmlformats.org/officeDocument/2006/relationships" id="258" r:id="R4815b65841a24115"/>
    <p:sldId xmlns:r="http://schemas.openxmlformats.org/officeDocument/2006/relationships" id="259" r:id="R7bd38cbe9c554a8d"/>
    <p:sldId xmlns:r="http://schemas.openxmlformats.org/officeDocument/2006/relationships" id="260" r:id="Rce96be7ad89646cd"/>
    <p:sldId xmlns:r="http://schemas.openxmlformats.org/officeDocument/2006/relationships" id="261" r:id="Rfcfa0279e4ef4b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37742252fb4236" /><Relationship Type="http://schemas.openxmlformats.org/officeDocument/2006/relationships/slideMaster" Target="/ppt/slideMasters/slideMaster1.xml" Id="R639640b1aa4e4012" /><Relationship Type="http://schemas.openxmlformats.org/officeDocument/2006/relationships/notesMaster" Target="/ppt/notesMasters/notesMaster1.xml" Id="Rddb8fe97e17e4a3f" /><Relationship Type="http://schemas.openxmlformats.org/officeDocument/2006/relationships/presProps" Target="/ppt/presProps.xml" Id="R1e802bd74beb4426" /><Relationship Type="http://schemas.openxmlformats.org/officeDocument/2006/relationships/tableStyles" Target="/ppt/tableStyles.xml" Id="R69986e0f25f041b7" /><Relationship Type="http://schemas.openxmlformats.org/officeDocument/2006/relationships/slide" Target="/ppt/slides/slide1.xml" Id="R4a80db91197f42ea" /><Relationship Type="http://schemas.openxmlformats.org/officeDocument/2006/relationships/slide" Target="/ppt/slides/slide2.xml" Id="R3a0d16447e7749c2" /><Relationship Type="http://schemas.openxmlformats.org/officeDocument/2006/relationships/slide" Target="/ppt/slides/slide3.xml" Id="R4815b65841a24115" /><Relationship Type="http://schemas.openxmlformats.org/officeDocument/2006/relationships/slide" Target="/ppt/slides/slide4.xml" Id="R7bd38cbe9c554a8d" /><Relationship Type="http://schemas.openxmlformats.org/officeDocument/2006/relationships/slide" Target="/ppt/slides/slide5.xml" Id="Rce96be7ad89646cd" /><Relationship Type="http://schemas.openxmlformats.org/officeDocument/2006/relationships/slide" Target="/ppt/slides/slide6.xml" Id="Rfcfa0279e4ef4b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3a61970dd34b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69f9dad53c4693" /><Relationship Type="http://schemas.openxmlformats.org/officeDocument/2006/relationships/notesMaster" Target="/ppt/notesMasters/notesMaster1.xml" Id="Re31e6a25711340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d32383a41f4ba2" /><Relationship Type="http://schemas.openxmlformats.org/officeDocument/2006/relationships/notesMaster" Target="/ppt/notesMasters/notesMaster1.xml" Id="Rb6ed6fe1c1e34a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7d92a393fa4589" /><Relationship Type="http://schemas.openxmlformats.org/officeDocument/2006/relationships/notesMaster" Target="/ppt/notesMasters/notesMaster1.xml" Id="Rf9f3535461d045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cb04dd53ea4cc4" /><Relationship Type="http://schemas.openxmlformats.org/officeDocument/2006/relationships/notesMaster" Target="/ppt/notesMasters/notesMaster1.xml" Id="Rd1c17a04febe4c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1b3b29b57f474c" /><Relationship Type="http://schemas.openxmlformats.org/officeDocument/2006/relationships/notesMaster" Target="/ppt/notesMasters/notesMaster1.xml" Id="Reddd74b3155c45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e59af834134ef6" /><Relationship Type="http://schemas.openxmlformats.org/officeDocument/2006/relationships/notesMaster" Target="/ppt/notesMasters/notesMaster1.xml" Id="R4b918479d5804f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Tenet. VajraSetu is a prototype system for recording the colour state of a passive H2S sensing band. This is not a real-time gas detector and does not establish air safety or legal compliance. Current status source [3]: README.md, docs/ARCHITECTURE.md and docs/SCANNER_AND_CALIBRATION.md in local repository snapshot 57d48d1238d04b483a492bf38bbc212b745c98f2, inspected 26 October 2026. https://github.com/aaryanadiger/VajraSetu/tree/57d48d1238d04b483a492bf38bbc212b745c98f2</a:t>
            </a:r>
          </a:p>
          <a:p xmlns:a="http://schemas.openxmlformats.org/drawingml/2006/main">
            <a:r>
              <a:t>Visual: custom AI-generated concept image using OpenAI ImageGen, 26 October 2026. The scene and product are illustrative, not a field trial photograph.</a:t>
            </a:r>
          </a:p>
          <a:p xmlns:a="http://schemas.openxmlformats.org/drawingml/2006/main">
            <a:r>
              <a:t>Inspiration: https://www.canva.com/design/DAHVkQadZBA/8sKx2MfSjISZCmg6W30OqA/edit. Read only. Original design was not modified.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CDC/NIOSH Pocket Guide to Chemical Hazards: Hydrogen sulfide. https://www.cdc.gov/niosh/npg/npgd0337.html Accessed 26 October 2026. IDLH is 100 ppm. NIOSH REL is a 10 ppm ceiling for a 10-minute period, not an 8-hour TWA. NIOSH states that the sense of smell rapidly fatigues and cannot be relied on to warn of continuous H2S presence. These U.S. references are context, not claims about applicable Indian legal limits.</a:t>
            </a:r>
          </a:p>
          <a:p xmlns:a="http://schemas.openxmlformats.org/drawingml/2006/main">
            <a:r>
              <a:t>[3] Product role: https://github.com/aaryanadiger/VajraSetu/tree/57d48d1238d04b483a492bf38bbc212b745c98f2, README.md and docs/OPERATIONS_AND_SAFETY.md. A low band reading does not prove safe air. Certified/direct-reading monitors and site procedures remain essential. The prototype cannot identify instantaneous peaks.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Sources: docs/SCANNER_AND_CALIBRATION.md (expected CuSO4 sensing patch, FeSO4 validity dot, neutral reference), docs/ARCHITECTURE.md (three final capture frames, local SQLite data and language behaviour), README.md (implemented status). The physical sensor and expiry chemistry require batch-specific calibration and independent validation. Current implementation uses known-layout sampling and deterministic rules, not a trained ML model. Colour categories are provisional. Core copy is bundled in English, Bhojpuri, Hindi, Marathi and Kannada. Non-core strings in supported languages may use Sarvam fallback and cache.</a:t>
            </a:r>
          </a:p>
          <a:p xmlns:a="http://schemas.openxmlformats.org/drawingml/2006/main">
            <a:r>
              <a:t>Visual: custom AI-generated product concept illustration, OpenAI ImageGen, 26 October 2026. It is not a photo or production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docs/ARCHITECTURE.md, README.md and src/services/imageProcessing.ts. Scope shown: deterministic scan path and local result persistence. Captured RGB is normalised using the neutral reference and converted to Lab, then CIEDE2000 difference supports validity and colour decisions. The production build requires native OpenCV support. No image upload or remote identity system is part of this scan path. Optional translation fallback for unbundled strings is outside the diagram. CSV text generation exists, but a secure share/save workflow and remote synchronisation are not implemented.</a:t>
            </a:r>
          </a:p>
          <a:p xmlns:a="http://schemas.openxmlformats.org/drawingml/2006/main">
            <a:r>
              <a:t>[4] https://docs.expo.dev/versions/v57.0.0/ Accessed 26 October 2026.</a:t>
            </a:r>
          </a:p>
          <a:p xmlns:a="http://schemas.openxmlformats.org/drawingml/2006/main">
            <a:r>
              <a:t>Editable architecture diagram corresponding to this Mermaid source (line breaks expanded for presentation):</a:t>
            </a:r>
          </a:p>
          <a:p xmlns:a="http://schemas.openxmlformats.org/drawingml/2006/main">
            <a:r>
              <a:t>flowchart LR</a:t>
            </a:r>
          </a:p>
          <a:p xmlns:a="http://schemas.openxmlformats.org/drawingml/2006/main">
            <a:r>
              <a:t>  B["Passive indicator card"] --&gt; C["Expo Camera / 3 frames"]</a:t>
            </a:r>
          </a:p>
          <a:p xmlns:a="http://schemas.openxmlformats.org/drawingml/2006/main">
            <a:r>
              <a:t>  C --&gt; P["OpenCV / CIELAB + DE00"]</a:t>
            </a:r>
          </a:p>
          <a:p xmlns:a="http://schemas.openxmlformats.org/drawingml/2006/main">
            <a:r>
              <a:t>  P --&gt; R["Validity + colour rules"]</a:t>
            </a:r>
          </a:p>
          <a:p xmlns:a="http://schemas.openxmlformats.org/drawingml/2006/main">
            <a:r>
              <a:t>  R --&gt; U["Result + safety text"]</a:t>
            </a:r>
          </a:p>
          <a:p xmlns:a="http://schemas.openxmlformats.org/drawingml/2006/main">
            <a:r>
              <a:t>  U --&gt; D[("SQLite / local history")]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docs/SCANNER_AND_CALIBRATION.md and calibration/h2s_curve_v2.json. Five supplied controls at 30 ppm are 0, 5, 10, 15 and 30 minutes, corresponding to 0, 2.5, 5, 7.5 and 15 ppm*h. The chart is an arithmetic dose calculation, not a sensor accuracy curve. The photographed intermediate patches are not monotonic, and the 5/15-minute colours substantially overlap. The pipeline pools that region rather than claiming those doses can be distinguished. The maximum measured colour represents a lower bound at or above 15 ppm*h. There are no supplied replicates or cross-interference tests. The FeSO4 validity decision also remains provisional. Scan-quality checks describe imaging consistency, not chemical confidence. The eight-hour reference period is fixed, not a measured actual shift. Do not use app estimates to establish compliance or make emergency decisions.</a:t>
            </a:r>
          </a:p>
          <a:p xmlns:a="http://schemas.openxmlformats.org/drawingml/2006/main">
            <a:r>
              <a:t>Editable decision diagram corresponding to this Mermaid source:</a:t>
            </a:r>
          </a:p>
          <a:p xmlns:a="http://schemas.openxmlformats.org/drawingml/2006/main">
            <a:r>
              <a:t>flowchart LR</a:t>
            </a:r>
          </a:p>
          <a:p xmlns:a="http://schemas.openxmlformats.org/drawingml/2006/main">
            <a:r>
              <a:t>  A["Three-frame capture"] --&gt; Q{"Image quality passes?"}</a:t>
            </a:r>
          </a:p>
          <a:p xmlns:a="http://schemas.openxmlformats.org/drawingml/2006/main">
            <a:r>
              <a:t>  Q -- Yes --&gt; V{"Validity dot passes?"}</a:t>
            </a:r>
          </a:p>
          <a:p xmlns:a="http://schemas.openxmlformats.org/drawingml/2006/main">
            <a:r>
              <a:t>  Q -- No --&gt; T["Retry capture"]</a:t>
            </a:r>
          </a:p>
          <a:p xmlns:a="http://schemas.openxmlformats.org/drawingml/2006/main">
            <a:r>
              <a:t>  V -- Yes --&gt; R["Colour category + record"]</a:t>
            </a:r>
          </a:p>
          <a:p xmlns:a="http://schemas.openxmlformats.org/drawingml/2006/main">
            <a:r>
              <a:t>  V -- No --&gt; X["Replace band"]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validation and pilot pathway, not a completed trial or an operating commitment. Based on current blockers in docs/SCANNER_AND_CALIBRATION.md and docs/OPERATIONS_AND_SAFETY.md. Success criteria must be specified with the EHS/lab partner before collecting data. Measure false-valid results, unreadable scans, colour-category errors, retry rate and worker comprehension separately. No unsupported claims of field accuracy, safety improvement, unit price or regulatory approval are made.</a:t>
            </a:r>
          </a:p>
          <a:p xmlns:a="http://schemas.openxmlformats.org/drawingml/2006/main">
            <a:r>
              <a:t>References, accessed 26 October 2026:</a:t>
            </a:r>
          </a:p>
          <a:p xmlns:a="http://schemas.openxmlformats.org/drawingml/2006/main">
            <a:r>
              <a:t>[1] International Labour Organization. Nearly 3 million people die of work-related accidents and diseases. Published 26 November 2023. https://www.ilo.org/resource/news/nearly-3-million-people-die-work-related-accidents-and-diseases This is global all-cause workplace context, not an H2S death estimate.</a:t>
            </a:r>
          </a:p>
          <a:p xmlns:a="http://schemas.openxmlformats.org/drawingml/2006/main">
            <a:r>
              <a:t>[2] CDC/NIOSH. Pocket Guide to Chemical Hazards: Hydrogen sulfide. https://www.cdc.gov/niosh/npg/npgd0337.html</a:t>
            </a:r>
          </a:p>
          <a:p xmlns:a="http://schemas.openxmlformats.org/drawingml/2006/main">
            <a:r>
              <a:t>[3] VajraSetu project repository, revision 57d48d1238d04b483a492bf38bbc212b745c98f2. https://github.com/aaryanadiger/VajraSetu/tree/57d48d1238d04b483a492bf38bbc212b745c98f2 Primary project sources: README.md, docs/ARCHITECTURE.md, docs/SCANNER_AND_CALIBRATION.md, docs/OPERATIONS_AND_SAFETY.md, package.json, calibration/h2s_curve_v2.json. Local snapshot inspected 26 October 2026.</a:t>
            </a:r>
          </a:p>
          <a:p xmlns:a="http://schemas.openxmlformats.org/drawingml/2006/main">
            <a:r>
              <a:t>[4] Expo SDK 57 reference. https://docs.expo.dev/versions/v57.0.0/</a:t>
            </a:r>
          </a:p>
          <a:p xmlns:a="http://schemas.openxmlformats.org/drawingml/2006/main">
            <a:r>
              <a:t>Visual inspiration only: https://www.canva.com/design/DAHVkQadZBA/8sKx2MfSjISZCmg6W30OqA/edit. Custom AI concept images on slides 1 and 3 generated using OpenAI ImageGen on 26 October 2026. All slide copy and diagrams are editable. Mermaid sources are preserved in notes on slides 4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120eae63234b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368d8f62be47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0900fa1dab44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d7abec39204f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0c7f02ac6346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03c04e71a540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36DA24-8910-4A9B-B75C-111C5E1E6A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F06428-1239-45AC-B6B9-3612F5933D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A45D96-886D-4A94-BC9C-AE21E570A3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D18DC-3419-4AA2-95EB-1C91D7FB99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52790C-0667-4C4A-B7E9-33ED7F911B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7F5914-CB3A-4757-B9C8-1C81F883A3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77507D-5014-4895-B26A-CB1F22D563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FF2344-44E6-45CC-9DFA-B155788C83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89F49E-934A-4EA9-A718-635997DD63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AC4DA6-41DB-4630-A081-FE814AA0C9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82814a3db8409b" /><Relationship Type="http://schemas.openxmlformats.org/officeDocument/2006/relationships/slideLayout" Target="/ppt/slideLayouts/slideLayout1.xml" Id="R13ea663c58fa49dd" /><Relationship Type="http://schemas.openxmlformats.org/officeDocument/2006/relationships/slideLayout" Target="/ppt/slideLayouts/slideLayout2.xml" Id="Rc08650d2080541d0" /><Relationship Type="http://schemas.openxmlformats.org/officeDocument/2006/relationships/slideLayout" Target="/ppt/slideLayouts/slideLayout3.xml" Id="R33e5d54d98434837" /><Relationship Type="http://schemas.openxmlformats.org/officeDocument/2006/relationships/slideLayout" Target="/ppt/slideLayouts/slideLayout4.xml" Id="Rababf7dbe53d4422" /><Relationship Type="http://schemas.openxmlformats.org/officeDocument/2006/relationships/slideLayout" Target="/ppt/slideLayouts/slideLayout5.xml" Id="Re80182ebe05b4d3b" /><Relationship Type="http://schemas.openxmlformats.org/officeDocument/2006/relationships/slideLayout" Target="/ppt/slideLayouts/slideLayout6.xml" Id="Rbc9fe105215549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ea663c58fa49dd"/>
    <p:sldLayoutId xmlns:r="http://schemas.openxmlformats.org/officeDocument/2006/relationships" id="2147483650" r:id="Rc08650d2080541d0"/>
    <p:sldLayoutId xmlns:r="http://schemas.openxmlformats.org/officeDocument/2006/relationships" id="2147483651" r:id="R33e5d54d98434837"/>
    <p:sldLayoutId xmlns:r="http://schemas.openxmlformats.org/officeDocument/2006/relationships" id="2147483652" r:id="Rababf7dbe53d4422"/>
    <p:sldLayoutId xmlns:r="http://schemas.openxmlformats.org/officeDocument/2006/relationships" id="2147483653" r:id="Re80182ebe05b4d3b"/>
    <p:sldLayoutId xmlns:r="http://schemas.openxmlformats.org/officeDocument/2006/relationships" id="2147483654" r:id="Rbc9fe105215549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5675911bc1442a" /><Relationship Type="http://schemas.openxmlformats.org/officeDocument/2006/relationships/image" Target="/ppt/media/image.png" Id="Rfb38014c579f4c10" /><Relationship Type="http://schemas.openxmlformats.org/officeDocument/2006/relationships/notesSlide" Target="/ppt/notesSlides/notesSlide1.xml" Id="R4be414428a9640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cf2fdffb4c44aa" /><Relationship Type="http://schemas.openxmlformats.org/officeDocument/2006/relationships/notesSlide" Target="/ppt/notesSlides/notesSlide2.xml" Id="R72b4d49e5a1440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f2192f771a4753" /><Relationship Type="http://schemas.openxmlformats.org/officeDocument/2006/relationships/image" Target="/ppt/media/image2.png" Id="Rd0ec6bf6cf884dc5" /><Relationship Type="http://schemas.openxmlformats.org/officeDocument/2006/relationships/notesSlide" Target="/ppt/notesSlides/notesSlide3.xml" Id="R0b769248202342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c07331422e4346" /><Relationship Type="http://schemas.openxmlformats.org/officeDocument/2006/relationships/notesSlide" Target="/ppt/notesSlides/notesSlide4.xml" Id="Rde2a72021baf4d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7fcdc254214774" /><Relationship Type="http://schemas.openxmlformats.org/officeDocument/2006/relationships/chart" Target="/ppt/slides/charts/chart1.xml" Id="Re5bf56f208fa41a6" /><Relationship Type="http://schemas.openxmlformats.org/officeDocument/2006/relationships/notesSlide" Target="/ppt/notesSlides/notesSlide5.xml" Id="Ra4d7c053292b49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14a6a85b914b51" /><Relationship Type="http://schemas.openxmlformats.org/officeDocument/2006/relationships/hyperlink" Target="https://www.ilo.org/resource/news/nearly-3-million-people-die-work-related-accidents-and-diseases" TargetMode="External" Id="R1dc14e600b9a4b58" /><Relationship Type="http://schemas.openxmlformats.org/officeDocument/2006/relationships/hyperlink" Target="https://www.cdc.gov/niosh/npg/npgd0337.html" TargetMode="External" Id="R76050aa2bbb54eb7" /><Relationship Type="http://schemas.openxmlformats.org/officeDocument/2006/relationships/hyperlink" Target="https://github.com/aaryanadiger/VajraSetu/tree/57d48d1238d04b483a492bf38bbc212b745c98f2" TargetMode="External" Id="R0db4962432894d74" /><Relationship Type="http://schemas.openxmlformats.org/officeDocument/2006/relationships/hyperlink" Target="https://docs.expo.dev/versions/v57.0.0/" TargetMode="External" Id="R4c788a42ec7344c4" /><Relationship Type="http://schemas.openxmlformats.org/officeDocument/2006/relationships/notesSlide" Target="/ppt/notesSlides/notesSlide6.xml" Id="R730429f9c3f3447c" /></Relationships>
</file>

<file path=ppt/slides/charts/chart1.xml><?xml version="1.0" encoding="utf-8"?>
<c:chartSpace xmlns:c="http://schemas.openxmlformats.org/drawingml/2006/chart">
  <c:lang val="en-US"/>
  <c:chart>
    <c:plotArea>
      <c:barChart>
        <c:barDir val="col"/>
        <c:grouping val="clustered"/>
        <c:varyColors val="0"/>
        <c:ser>
          <c:idx val="0"/>
          <c:order val="0"/>
          <c:tx>
            <c:v>Cumulative dose (ppm·h)</c:v>
          </c:tx>
          <c:spPr>
            <a:solidFill xmlns:a="http://schemas.openxmlformats.org/drawingml/2006/main">
              <a:srgbClr val="2363DA"/>
            </a:solidFill>
          </c:spPr>
          <c:invertIfNegative val="0"/>
          <c:cat>
            <c:strLit>
              <c:ptCount val="5"/>
              <c:pt idx="0">
                <c:v>0 min</c:v>
              </c:pt>
              <c:pt idx="1">
                <c:v>5 min</c:v>
              </c:pt>
              <c:pt idx="2">
                <c:v>10 min</c:v>
              </c:pt>
              <c:pt idx="3">
                <c:v>15 min</c:v>
              </c:pt>
              <c:pt idx="4">
                <c:v>30 min</c:v>
              </c:pt>
            </c:strLit>
          </c:cat>
          <c:val>
            <c:numLit>
              <c:formatCode>General</c:formatCode>
              <c:ptCount val="5"/>
              <c:pt idx="0">
                <c:v>0</c:v>
              </c:pt>
              <c:pt idx="1">
                <c:v>2.5</c:v>
              </c:pt>
              <c:pt idx="2">
                <c:v>5</c:v>
              </c:pt>
              <c:pt idx="3">
                <c:v>7.5</c:v>
              </c:pt>
              <c:pt idx="4">
                <c:v>15</c:v>
              </c:pt>
            </c:numLit>
          </c:val>
        </c:ser>
        <c:dLbls>
          <c:txPr>
            <a:bodyPr xmlns:a="http://schemas.openxmlformats.org/drawingml/2006/main" anchorCtr="1"/>
            <a:lstStyle xmlns:a="http://schemas.openxmlformats.org/drawingml/2006/main"/>
            <a:p xmlns:a="http://schemas.openxmlformats.org/drawingml/2006/main">
              <a:pPr>
                <a:defRPr sz="1275" b="1">
                  <a:solidFill>
                    <a:srgbClr val="142B43"/>
                  </a:solidFill>
                  <a:latin typeface="Avenir Next"/>
                  <a:ea typeface="Avenir Next"/>
                  <a:cs typeface="Avenir Next"/>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9D9"/>
            </a:solidFill>
          </a:ln>
        </c:spPr>
        <c:txPr>
          <a:bodyPr xmlns:a="http://schemas.openxmlformats.org/drawingml/2006/main" anchorCtr="1"/>
          <a:lstStyle xmlns:a="http://schemas.openxmlformats.org/drawingml/2006/main"/>
          <a:p xmlns:a="http://schemas.openxmlformats.org/drawingml/2006/main">
            <a:pPr>
              <a:defRPr sz="1125">
                <a:solidFill>
                  <a:srgbClr val="526574"/>
                </a:solidFill>
                <a:latin typeface="Avenir Next"/>
                <a:ea typeface="Avenir Next"/>
                <a:cs typeface="Avenir Next"/>
              </a:defRPr>
            </a:pPr>
          </a:p>
        </c:txPr>
        <c:crossAx val="48672768"/>
      </c:catAx>
      <c:valAx>
        <c:axId val="48672768"/>
        <c:scaling>
          <c:orientation val="minMax"/>
          <c:max val="18"/>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98FA9F9-8AA8-4622-A029-DEBCADA6AA98}"/>
              </a:ext>
            </a:extLst>
          </p:cNvPr>
          <p:cNvPicPr>
            <a:picLocks xmlns:a="http://schemas.openxmlformats.org/drawingml/2006/main" noChangeAspect="1"/>
          </p:cNvPicPr>
          <p:nvPr/>
        </p:nvPicPr>
        <p:blipFill>
          <a:blip xmlns:r="http://schemas.openxmlformats.org/officeDocument/2006/relationships" xmlns:a="http://schemas.openxmlformats.org/drawingml/2006/main" r:embed="Rfb38014c579f4c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M TENET">
            <a:extLst xmlns:a="http://schemas.openxmlformats.org/drawingml/2006/main">
              <a:ext uri="{FF2B5EF4-FFF2-40B4-BE49-F238E27FC236}">
                <a16:creationId xmlns:a16="http://schemas.microsoft.com/office/drawing/2014/main" id="{57046678-558D-4791-9944-27164019F9C5}"/>
              </a:ext>
            </a:extLst>
          </p:cNvPr>
          <p:cNvSpPr>
            <a:spLocks xmlns:a="http://schemas.openxmlformats.org/drawingml/2006/main" noGrp="1"/>
          </p:cNvSpPr>
          <p:nvPr/>
        </p:nvSpPr>
        <p:spPr>
          <a:xfrm xmlns:a="http://schemas.openxmlformats.org/drawingml/2006/main">
            <a:off x="628650" y="628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8B563"/>
                </a:solidFill>
                <a:latin typeface="Avenir Next"/>
                <a:ea typeface="Avenir Next"/>
                <a:cs typeface="Avenir Next"/>
              </a:defRPr>
            </a:defPPr>
            <a:lvl1pPr algn="l">
              <a:defRPr sz="1650" b="1">
                <a:solidFill>
                  <a:srgbClr val="E8B563"/>
                </a:solidFill>
                <a:latin typeface="Avenir Next"/>
                <a:ea typeface="Avenir Next"/>
                <a:cs typeface="Avenir Next"/>
              </a:defRPr>
            </a:lvl1pPr>
            <a:lvl2pPr algn="l">
              <a:defRPr sz="1650" b="1">
                <a:solidFill>
                  <a:srgbClr val="E8B563"/>
                </a:solidFill>
                <a:latin typeface="Avenir Next"/>
                <a:ea typeface="Avenir Next"/>
                <a:cs typeface="Avenir Next"/>
              </a:defRPr>
            </a:lvl2pPr>
            <a:lvl3pPr algn="l">
              <a:defRPr sz="1650" b="1">
                <a:solidFill>
                  <a:srgbClr val="E8B563"/>
                </a:solidFill>
                <a:latin typeface="Avenir Next"/>
                <a:ea typeface="Avenir Next"/>
                <a:cs typeface="Avenir Next"/>
              </a:defRPr>
            </a:lvl3pPr>
            <a:lvl4pPr algn="l">
              <a:defRPr sz="1650" b="1">
                <a:solidFill>
                  <a:srgbClr val="E8B563"/>
                </a:solidFill>
                <a:latin typeface="Avenir Next"/>
                <a:ea typeface="Avenir Next"/>
                <a:cs typeface="Avenir Next"/>
              </a:defRPr>
            </a:lvl4pPr>
            <a:lvl5pPr algn="l">
              <a:defRPr sz="1650" b="1">
                <a:solidFill>
                  <a:srgbClr val="E8B563"/>
                </a:solidFill>
                <a:latin typeface="Avenir Next"/>
                <a:ea typeface="Avenir Next"/>
                <a:cs typeface="Avenir Next"/>
              </a:defRPr>
            </a:lvl5pPr>
            <a:lvl6pPr algn="l">
              <a:defRPr sz="1650" b="1">
                <a:solidFill>
                  <a:srgbClr val="E8B563"/>
                </a:solidFill>
                <a:latin typeface="Avenir Next"/>
                <a:ea typeface="Avenir Next"/>
                <a:cs typeface="Avenir Next"/>
              </a:defRPr>
            </a:lvl6pPr>
            <a:lvl7pPr algn="l">
              <a:defRPr sz="1650" b="1">
                <a:solidFill>
                  <a:srgbClr val="E8B563"/>
                </a:solidFill>
                <a:latin typeface="Avenir Next"/>
                <a:ea typeface="Avenir Next"/>
                <a:cs typeface="Avenir Next"/>
              </a:defRPr>
            </a:lvl7pPr>
            <a:lvl8pPr algn="l">
              <a:defRPr sz="1650" b="1">
                <a:solidFill>
                  <a:srgbClr val="E8B563"/>
                </a:solidFill>
                <a:latin typeface="Avenir Next"/>
                <a:ea typeface="Avenir Next"/>
                <a:cs typeface="Avenir Next"/>
              </a:defRPr>
            </a:lvl8pPr>
            <a:lvl9pPr algn="l">
              <a:defRPr sz="1650" b="1">
                <a:solidFill>
                  <a:srgbClr val="E8B563"/>
                </a:solidFill>
                <a:latin typeface="Avenir Next"/>
                <a:ea typeface="Avenir Next"/>
                <a:cs typeface="Avenir Next"/>
              </a:defRPr>
            </a:lvl9pPr>
          </a:lstStyle>
          <a:p xmlns:a="http://schemas.openxmlformats.org/drawingml/2006/main">
            <a:pPr algn="l">
              <a:defRPr sz="1650" b="1">
                <a:solidFill>
                  <a:srgbClr val="E8B563"/>
                </a:solidFill>
                <a:latin typeface="Avenir Next"/>
                <a:ea typeface="Avenir Next"/>
                <a:cs typeface="Avenir Next"/>
              </a:defRPr>
            </a:pPr>
            <a:r>
              <a:rPr sz="1650" b="1">
                <a:solidFill>
                  <a:srgbClr val="E8B563"/>
                </a:solidFill>
                <a:latin typeface="Avenir Next"/>
                <a:ea typeface="Avenir Next"/>
                <a:cs typeface="Avenir Next"/>
              </a:rPr>
              <a:t>TEAM TENET</a:t>
            </a:r>
          </a:p>
        </p:txBody>
      </p:sp>
      <p:sp>
        <p:nvSpPr>
          <p:cNvPr id="3" name="VajraSetu">
            <a:extLst xmlns:a="http://schemas.openxmlformats.org/drawingml/2006/main">
              <a:ext uri="{FF2B5EF4-FFF2-40B4-BE49-F238E27FC236}">
                <a16:creationId xmlns:a16="http://schemas.microsoft.com/office/drawing/2014/main" id="{808FAE83-97EB-41EA-9B5E-EF80BD511936}"/>
              </a:ext>
            </a:extLst>
          </p:cNvPr>
          <p:cNvSpPr>
            <a:spLocks xmlns:a="http://schemas.openxmlformats.org/drawingml/2006/main" noGrp="1"/>
          </p:cNvSpPr>
          <p:nvPr/>
        </p:nvSpPr>
        <p:spPr>
          <a:xfrm xmlns:a="http://schemas.openxmlformats.org/drawingml/2006/main">
            <a:off x="609600" y="2076450"/>
            <a:ext cx="666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FFFFFF"/>
                </a:solidFill>
                <a:latin typeface="Avenir Next"/>
                <a:ea typeface="Avenir Next"/>
                <a:cs typeface="Avenir Next"/>
              </a:defRPr>
            </a:defPPr>
            <a:lvl1pPr algn="l">
              <a:defRPr sz="6600" b="1">
                <a:solidFill>
                  <a:srgbClr val="FFFFFF"/>
                </a:solidFill>
                <a:latin typeface="Avenir Next"/>
                <a:ea typeface="Avenir Next"/>
                <a:cs typeface="Avenir Next"/>
              </a:defRPr>
            </a:lvl1pPr>
            <a:lvl2pPr algn="l">
              <a:defRPr sz="6600" b="1">
                <a:solidFill>
                  <a:srgbClr val="FFFFFF"/>
                </a:solidFill>
                <a:latin typeface="Avenir Next"/>
                <a:ea typeface="Avenir Next"/>
                <a:cs typeface="Avenir Next"/>
              </a:defRPr>
            </a:lvl2pPr>
            <a:lvl3pPr algn="l">
              <a:defRPr sz="6600" b="1">
                <a:solidFill>
                  <a:srgbClr val="FFFFFF"/>
                </a:solidFill>
                <a:latin typeface="Avenir Next"/>
                <a:ea typeface="Avenir Next"/>
                <a:cs typeface="Avenir Next"/>
              </a:defRPr>
            </a:lvl3pPr>
            <a:lvl4pPr algn="l">
              <a:defRPr sz="6600" b="1">
                <a:solidFill>
                  <a:srgbClr val="FFFFFF"/>
                </a:solidFill>
                <a:latin typeface="Avenir Next"/>
                <a:ea typeface="Avenir Next"/>
                <a:cs typeface="Avenir Next"/>
              </a:defRPr>
            </a:lvl4pPr>
            <a:lvl5pPr algn="l">
              <a:defRPr sz="6600" b="1">
                <a:solidFill>
                  <a:srgbClr val="FFFFFF"/>
                </a:solidFill>
                <a:latin typeface="Avenir Next"/>
                <a:ea typeface="Avenir Next"/>
                <a:cs typeface="Avenir Next"/>
              </a:defRPr>
            </a:lvl5pPr>
            <a:lvl6pPr algn="l">
              <a:defRPr sz="6600" b="1">
                <a:solidFill>
                  <a:srgbClr val="FFFFFF"/>
                </a:solidFill>
                <a:latin typeface="Avenir Next"/>
                <a:ea typeface="Avenir Next"/>
                <a:cs typeface="Avenir Next"/>
              </a:defRPr>
            </a:lvl6pPr>
            <a:lvl7pPr algn="l">
              <a:defRPr sz="6600" b="1">
                <a:solidFill>
                  <a:srgbClr val="FFFFFF"/>
                </a:solidFill>
                <a:latin typeface="Avenir Next"/>
                <a:ea typeface="Avenir Next"/>
                <a:cs typeface="Avenir Next"/>
              </a:defRPr>
            </a:lvl7pPr>
            <a:lvl8pPr algn="l">
              <a:defRPr sz="6600" b="1">
                <a:solidFill>
                  <a:srgbClr val="FFFFFF"/>
                </a:solidFill>
                <a:latin typeface="Avenir Next"/>
                <a:ea typeface="Avenir Next"/>
                <a:cs typeface="Avenir Next"/>
              </a:defRPr>
            </a:lvl8pPr>
            <a:lvl9pPr algn="l">
              <a:defRPr sz="6600" b="1">
                <a:solidFill>
                  <a:srgbClr val="FFFFFF"/>
                </a:solidFill>
                <a:latin typeface="Avenir Next"/>
                <a:ea typeface="Avenir Next"/>
                <a:cs typeface="Avenir Next"/>
              </a:defRPr>
            </a:lvl9pPr>
          </a:lstStyle>
          <a:p xmlns:a="http://schemas.openxmlformats.org/drawingml/2006/main">
            <a:pPr algn="l">
              <a:defRPr sz="6600" b="1">
                <a:solidFill>
                  <a:srgbClr val="FFFFFF"/>
                </a:solidFill>
                <a:latin typeface="Avenir Next"/>
                <a:ea typeface="Avenir Next"/>
                <a:cs typeface="Avenir Next"/>
              </a:defRPr>
            </a:pPr>
            <a:r>
              <a:rPr sz="6600" b="1">
                <a:solidFill>
                  <a:srgbClr val="FFFFFF"/>
                </a:solidFill>
                <a:latin typeface="Avenir Next"/>
                <a:ea typeface="Avenir Next"/>
                <a:cs typeface="Avenir Next"/>
              </a:rPr>
              <a:t>VajraSetu</a:t>
            </a:r>
          </a:p>
        </p:txBody>
      </p:sp>
      <p:sp>
        <p:nvSpPr>
          <p:cNvPr id="4" name="A worker’s wristband check, recorded on a phone">
            <a:extLst xmlns:a="http://schemas.openxmlformats.org/drawingml/2006/main">
              <a:ext uri="{FF2B5EF4-FFF2-40B4-BE49-F238E27FC236}">
                <a16:creationId xmlns:a16="http://schemas.microsoft.com/office/drawing/2014/main" id="{DD982711-096B-4AEB-AB4E-A10BD5736BFF}"/>
              </a:ext>
            </a:extLst>
          </p:cNvPr>
          <p:cNvSpPr>
            <a:spLocks xmlns:a="http://schemas.openxmlformats.org/drawingml/2006/main" noGrp="1"/>
          </p:cNvSpPr>
          <p:nvPr/>
        </p:nvSpPr>
        <p:spPr>
          <a:xfrm xmlns:a="http://schemas.openxmlformats.org/drawingml/2006/main">
            <a:off x="657225" y="33528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FFFFF"/>
                </a:solidFill>
                <a:latin typeface="Avenir Next"/>
                <a:ea typeface="Avenir Next"/>
                <a:cs typeface="Avenir Next"/>
              </a:defRPr>
            </a:defPPr>
            <a:lvl1pPr algn="l">
              <a:defRPr sz="2475" b="0">
                <a:solidFill>
                  <a:srgbClr val="FFFFFF"/>
                </a:solidFill>
                <a:latin typeface="Avenir Next"/>
                <a:ea typeface="Avenir Next"/>
                <a:cs typeface="Avenir Next"/>
              </a:defRPr>
            </a:lvl1pPr>
            <a:lvl2pPr algn="l">
              <a:defRPr sz="2475" b="0">
                <a:solidFill>
                  <a:srgbClr val="FFFFFF"/>
                </a:solidFill>
                <a:latin typeface="Avenir Next"/>
                <a:ea typeface="Avenir Next"/>
                <a:cs typeface="Avenir Next"/>
              </a:defRPr>
            </a:lvl2pPr>
            <a:lvl3pPr algn="l">
              <a:defRPr sz="2475" b="0">
                <a:solidFill>
                  <a:srgbClr val="FFFFFF"/>
                </a:solidFill>
                <a:latin typeface="Avenir Next"/>
                <a:ea typeface="Avenir Next"/>
                <a:cs typeface="Avenir Next"/>
              </a:defRPr>
            </a:lvl3pPr>
            <a:lvl4pPr algn="l">
              <a:defRPr sz="2475" b="0">
                <a:solidFill>
                  <a:srgbClr val="FFFFFF"/>
                </a:solidFill>
                <a:latin typeface="Avenir Next"/>
                <a:ea typeface="Avenir Next"/>
                <a:cs typeface="Avenir Next"/>
              </a:defRPr>
            </a:lvl4pPr>
            <a:lvl5pPr algn="l">
              <a:defRPr sz="2475" b="0">
                <a:solidFill>
                  <a:srgbClr val="FFFFFF"/>
                </a:solidFill>
                <a:latin typeface="Avenir Next"/>
                <a:ea typeface="Avenir Next"/>
                <a:cs typeface="Avenir Next"/>
              </a:defRPr>
            </a:lvl5pPr>
            <a:lvl6pPr algn="l">
              <a:defRPr sz="2475" b="0">
                <a:solidFill>
                  <a:srgbClr val="FFFFFF"/>
                </a:solidFill>
                <a:latin typeface="Avenir Next"/>
                <a:ea typeface="Avenir Next"/>
                <a:cs typeface="Avenir Next"/>
              </a:defRPr>
            </a:lvl6pPr>
            <a:lvl7pPr algn="l">
              <a:defRPr sz="2475" b="0">
                <a:solidFill>
                  <a:srgbClr val="FFFFFF"/>
                </a:solidFill>
                <a:latin typeface="Avenir Next"/>
                <a:ea typeface="Avenir Next"/>
                <a:cs typeface="Avenir Next"/>
              </a:defRPr>
            </a:lvl7pPr>
            <a:lvl8pPr algn="l">
              <a:defRPr sz="2475" b="0">
                <a:solidFill>
                  <a:srgbClr val="FFFFFF"/>
                </a:solidFill>
                <a:latin typeface="Avenir Next"/>
                <a:ea typeface="Avenir Next"/>
                <a:cs typeface="Avenir Next"/>
              </a:defRPr>
            </a:lvl8pPr>
            <a:lvl9pPr algn="l">
              <a:defRPr sz="2475" b="0">
                <a:solidFill>
                  <a:srgbClr val="FFFFFF"/>
                </a:solidFill>
                <a:latin typeface="Avenir Next"/>
                <a:ea typeface="Avenir Next"/>
                <a:cs typeface="Avenir Next"/>
              </a:defRPr>
            </a:lvl9pPr>
          </a:lstStyle>
          <a:p xmlns:a="http://schemas.openxmlformats.org/drawingml/2006/main">
            <a:pPr algn="l">
              <a:defRPr sz="2475" b="0">
                <a:solidFill>
                  <a:srgbClr val="FFFFFF"/>
                </a:solidFill>
                <a:latin typeface="Avenir Next"/>
                <a:ea typeface="Avenir Next"/>
                <a:cs typeface="Avenir Next"/>
              </a:defRPr>
            </a:pPr>
            <a:r>
              <a:rPr sz="2475" b="0">
                <a:solidFill>
                  <a:srgbClr val="FFFFFF"/>
                </a:solidFill>
                <a:latin typeface="Avenir Next"/>
                <a:ea typeface="Avenir Next"/>
                <a:cs typeface="Avenir Next"/>
              </a:rPr>
              <a:t>A worker’s wristband check,</a:t>
            </a:r>
          </a:p>
          <a:p xmlns:a="http://schemas.openxmlformats.org/drawingml/2006/main">
            <a:pPr algn="l">
              <a:defRPr sz="2475" b="0">
                <a:solidFill>
                  <a:srgbClr val="FFFFFF"/>
                </a:solidFill>
                <a:latin typeface="Avenir Next"/>
                <a:ea typeface="Avenir Next"/>
                <a:cs typeface="Avenir Next"/>
              </a:defRPr>
            </a:pPr>
            <a:r>
              <a:rPr sz="2475" b="0">
                <a:solidFill>
                  <a:srgbClr val="FFFFFF"/>
                </a:solidFill>
                <a:latin typeface="Avenir Next"/>
                <a:ea typeface="Avenir Next"/>
                <a:cs typeface="Avenir Next"/>
              </a:rPr>
              <a:t>recorded on a phone</a:t>
            </a:r>
          </a:p>
        </p:txBody>
      </p:sp>
      <p:sp>
        <p:nvSpPr>
          <p:cNvPr id="5" name="Passive H₂S sensing concept Device-local mobile prototype">
            <a:extLst xmlns:a="http://schemas.openxmlformats.org/drawingml/2006/main">
              <a:ext uri="{FF2B5EF4-FFF2-40B4-BE49-F238E27FC236}">
                <a16:creationId xmlns:a16="http://schemas.microsoft.com/office/drawing/2014/main" id="{1D7C8908-A1B4-4760-BAE9-F1F960CB8834}"/>
              </a:ext>
            </a:extLst>
          </p:cNvPr>
          <p:cNvSpPr>
            <a:spLocks xmlns:a="http://schemas.openxmlformats.org/drawingml/2006/main" noGrp="1"/>
          </p:cNvSpPr>
          <p:nvPr/>
        </p:nvSpPr>
        <p:spPr>
          <a:xfrm xmlns:a="http://schemas.openxmlformats.org/drawingml/2006/main">
            <a:off x="666750" y="497205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7E2EA"/>
                </a:solidFill>
                <a:latin typeface="Avenir Next"/>
                <a:ea typeface="Avenir Next"/>
                <a:cs typeface="Avenir Next"/>
              </a:defRPr>
            </a:defPPr>
            <a:lvl1pPr algn="l">
              <a:defRPr sz="1650" b="0">
                <a:solidFill>
                  <a:srgbClr val="D7E2EA"/>
                </a:solidFill>
                <a:latin typeface="Avenir Next"/>
                <a:ea typeface="Avenir Next"/>
                <a:cs typeface="Avenir Next"/>
              </a:defRPr>
            </a:lvl1pPr>
            <a:lvl2pPr algn="l">
              <a:defRPr sz="1650" b="0">
                <a:solidFill>
                  <a:srgbClr val="D7E2EA"/>
                </a:solidFill>
                <a:latin typeface="Avenir Next"/>
                <a:ea typeface="Avenir Next"/>
                <a:cs typeface="Avenir Next"/>
              </a:defRPr>
            </a:lvl2pPr>
            <a:lvl3pPr algn="l">
              <a:defRPr sz="1650" b="0">
                <a:solidFill>
                  <a:srgbClr val="D7E2EA"/>
                </a:solidFill>
                <a:latin typeface="Avenir Next"/>
                <a:ea typeface="Avenir Next"/>
                <a:cs typeface="Avenir Next"/>
              </a:defRPr>
            </a:lvl3pPr>
            <a:lvl4pPr algn="l">
              <a:defRPr sz="1650" b="0">
                <a:solidFill>
                  <a:srgbClr val="D7E2EA"/>
                </a:solidFill>
                <a:latin typeface="Avenir Next"/>
                <a:ea typeface="Avenir Next"/>
                <a:cs typeface="Avenir Next"/>
              </a:defRPr>
            </a:lvl4pPr>
            <a:lvl5pPr algn="l">
              <a:defRPr sz="1650" b="0">
                <a:solidFill>
                  <a:srgbClr val="D7E2EA"/>
                </a:solidFill>
                <a:latin typeface="Avenir Next"/>
                <a:ea typeface="Avenir Next"/>
                <a:cs typeface="Avenir Next"/>
              </a:defRPr>
            </a:lvl5pPr>
            <a:lvl6pPr algn="l">
              <a:defRPr sz="1650" b="0">
                <a:solidFill>
                  <a:srgbClr val="D7E2EA"/>
                </a:solidFill>
                <a:latin typeface="Avenir Next"/>
                <a:ea typeface="Avenir Next"/>
                <a:cs typeface="Avenir Next"/>
              </a:defRPr>
            </a:lvl6pPr>
            <a:lvl7pPr algn="l">
              <a:defRPr sz="1650" b="0">
                <a:solidFill>
                  <a:srgbClr val="D7E2EA"/>
                </a:solidFill>
                <a:latin typeface="Avenir Next"/>
                <a:ea typeface="Avenir Next"/>
                <a:cs typeface="Avenir Next"/>
              </a:defRPr>
            </a:lvl7pPr>
            <a:lvl8pPr algn="l">
              <a:defRPr sz="1650" b="0">
                <a:solidFill>
                  <a:srgbClr val="D7E2EA"/>
                </a:solidFill>
                <a:latin typeface="Avenir Next"/>
                <a:ea typeface="Avenir Next"/>
                <a:cs typeface="Avenir Next"/>
              </a:defRPr>
            </a:lvl8pPr>
            <a:lvl9pPr algn="l">
              <a:defRPr sz="1650" b="0">
                <a:solidFill>
                  <a:srgbClr val="D7E2EA"/>
                </a:solidFill>
                <a:latin typeface="Avenir Next"/>
                <a:ea typeface="Avenir Next"/>
                <a:cs typeface="Avenir Next"/>
              </a:defRPr>
            </a:lvl9pPr>
          </a:lstStyle>
          <a:p xmlns:a="http://schemas.openxmlformats.org/drawingml/2006/main">
            <a:pPr algn="l">
              <a:defRPr sz="1650" b="0">
                <a:solidFill>
                  <a:srgbClr val="D7E2EA"/>
                </a:solidFill>
                <a:latin typeface="Avenir Next"/>
                <a:ea typeface="Avenir Next"/>
                <a:cs typeface="Avenir Next"/>
              </a:defRPr>
            </a:pPr>
            <a:r>
              <a:rPr sz="1650" b="0">
                <a:solidFill>
                  <a:srgbClr val="D7E2EA"/>
                </a:solidFill>
                <a:latin typeface="Avenir Next"/>
                <a:ea typeface="Avenir Next"/>
                <a:cs typeface="Avenir Next"/>
              </a:rPr>
              <a:t>Passive H₂S sensing concept</a:t>
            </a:r>
          </a:p>
          <a:p xmlns:a="http://schemas.openxmlformats.org/drawingml/2006/main">
            <a:pPr algn="l">
              <a:defRPr sz="1650" b="0">
                <a:solidFill>
                  <a:srgbClr val="D7E2EA"/>
                </a:solidFill>
                <a:latin typeface="Avenir Next"/>
                <a:ea typeface="Avenir Next"/>
                <a:cs typeface="Avenir Next"/>
              </a:defRPr>
            </a:pPr>
            <a:r>
              <a:rPr sz="1650" b="0">
                <a:solidFill>
                  <a:srgbClr val="D7E2EA"/>
                </a:solidFill>
                <a:latin typeface="Avenir Next"/>
                <a:ea typeface="Avenir Next"/>
                <a:cs typeface="Avenir Next"/>
              </a:rPr>
              <a:t>Device-local mobile prototype</a:t>
            </a:r>
          </a:p>
        </p:txBody>
      </p:sp>
      <p:sp>
        <p:nvSpPr>
          <p:cNvPr id="6" name="Product concept illustration">
            <a:extLst xmlns:a="http://schemas.openxmlformats.org/drawingml/2006/main">
              <a:ext uri="{FF2B5EF4-FFF2-40B4-BE49-F238E27FC236}">
                <a16:creationId xmlns:a16="http://schemas.microsoft.com/office/drawing/2014/main" id="{52EF0C2D-61A9-423E-A95E-AECABBCDE261}"/>
              </a:ext>
            </a:extLst>
          </p:cNvPr>
          <p:cNvSpPr>
            <a:spLocks xmlns:a="http://schemas.openxmlformats.org/drawingml/2006/main" noGrp="1"/>
          </p:cNvSpPr>
          <p:nvPr/>
        </p:nvSpPr>
        <p:spPr>
          <a:xfrm xmlns:a="http://schemas.openxmlformats.org/drawingml/2006/main">
            <a:off x="666750" y="6353175"/>
            <a:ext cx="476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BBCCD8"/>
                </a:solidFill>
                <a:latin typeface="Avenir Next"/>
                <a:ea typeface="Avenir Next"/>
                <a:cs typeface="Avenir Next"/>
              </a:defRPr>
            </a:defPPr>
            <a:lvl1pPr algn="l">
              <a:defRPr sz="975" b="0">
                <a:solidFill>
                  <a:srgbClr val="BBCCD8"/>
                </a:solidFill>
                <a:latin typeface="Avenir Next"/>
                <a:ea typeface="Avenir Next"/>
                <a:cs typeface="Avenir Next"/>
              </a:defRPr>
            </a:lvl1pPr>
            <a:lvl2pPr algn="l">
              <a:defRPr sz="975" b="0">
                <a:solidFill>
                  <a:srgbClr val="BBCCD8"/>
                </a:solidFill>
                <a:latin typeface="Avenir Next"/>
                <a:ea typeface="Avenir Next"/>
                <a:cs typeface="Avenir Next"/>
              </a:defRPr>
            </a:lvl2pPr>
            <a:lvl3pPr algn="l">
              <a:defRPr sz="975" b="0">
                <a:solidFill>
                  <a:srgbClr val="BBCCD8"/>
                </a:solidFill>
                <a:latin typeface="Avenir Next"/>
                <a:ea typeface="Avenir Next"/>
                <a:cs typeface="Avenir Next"/>
              </a:defRPr>
            </a:lvl3pPr>
            <a:lvl4pPr algn="l">
              <a:defRPr sz="975" b="0">
                <a:solidFill>
                  <a:srgbClr val="BBCCD8"/>
                </a:solidFill>
                <a:latin typeface="Avenir Next"/>
                <a:ea typeface="Avenir Next"/>
                <a:cs typeface="Avenir Next"/>
              </a:defRPr>
            </a:lvl4pPr>
            <a:lvl5pPr algn="l">
              <a:defRPr sz="975" b="0">
                <a:solidFill>
                  <a:srgbClr val="BBCCD8"/>
                </a:solidFill>
                <a:latin typeface="Avenir Next"/>
                <a:ea typeface="Avenir Next"/>
                <a:cs typeface="Avenir Next"/>
              </a:defRPr>
            </a:lvl5pPr>
            <a:lvl6pPr algn="l">
              <a:defRPr sz="975" b="0">
                <a:solidFill>
                  <a:srgbClr val="BBCCD8"/>
                </a:solidFill>
                <a:latin typeface="Avenir Next"/>
                <a:ea typeface="Avenir Next"/>
                <a:cs typeface="Avenir Next"/>
              </a:defRPr>
            </a:lvl6pPr>
            <a:lvl7pPr algn="l">
              <a:defRPr sz="975" b="0">
                <a:solidFill>
                  <a:srgbClr val="BBCCD8"/>
                </a:solidFill>
                <a:latin typeface="Avenir Next"/>
                <a:ea typeface="Avenir Next"/>
                <a:cs typeface="Avenir Next"/>
              </a:defRPr>
            </a:lvl7pPr>
            <a:lvl8pPr algn="l">
              <a:defRPr sz="975" b="0">
                <a:solidFill>
                  <a:srgbClr val="BBCCD8"/>
                </a:solidFill>
                <a:latin typeface="Avenir Next"/>
                <a:ea typeface="Avenir Next"/>
                <a:cs typeface="Avenir Next"/>
              </a:defRPr>
            </a:lvl8pPr>
            <a:lvl9pPr algn="l">
              <a:defRPr sz="975" b="0">
                <a:solidFill>
                  <a:srgbClr val="BBCCD8"/>
                </a:solidFill>
                <a:latin typeface="Avenir Next"/>
                <a:ea typeface="Avenir Next"/>
                <a:cs typeface="Avenir Next"/>
              </a:defRPr>
            </a:lvl9pPr>
          </a:lstStyle>
          <a:p xmlns:a="http://schemas.openxmlformats.org/drawingml/2006/main">
            <a:pPr algn="l">
              <a:defRPr sz="975" b="0">
                <a:solidFill>
                  <a:srgbClr val="BBCCD8"/>
                </a:solidFill>
                <a:latin typeface="Avenir Next"/>
                <a:ea typeface="Avenir Next"/>
                <a:cs typeface="Avenir Next"/>
              </a:defRPr>
            </a:pPr>
            <a:r>
              <a:rPr sz="975" b="0">
                <a:solidFill>
                  <a:srgbClr val="BBCCD8"/>
                </a:solidFill>
                <a:latin typeface="Avenir Next"/>
                <a:ea typeface="Avenir Next"/>
                <a:cs typeface="Avenir Next"/>
              </a:rPr>
              <a:t>Product concept illustration</a:t>
            </a:r>
          </a:p>
        </p:txBody>
      </p:sp>
    </p:spTree>
    <p:extLst>
      <p:ext uri="{BB962C8B-B14F-4D97-AF65-F5344CB8AC3E}">
        <p14:creationId xmlns:p14="http://schemas.microsoft.com/office/powerpoint/2010/main" val="1508569755"/>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The H₂S monitoring gap">
            <a:extLst xmlns:a="http://schemas.openxmlformats.org/drawingml/2006/main">
              <a:ext uri="{FF2B5EF4-FFF2-40B4-BE49-F238E27FC236}">
                <a16:creationId xmlns:a16="http://schemas.microsoft.com/office/drawing/2014/main" id="{FE026673-E443-4B21-9116-8A3608CC021C}"/>
              </a:ext>
            </a:extLst>
          </p:cNvPr>
          <p:cNvSpPr>
            <a:spLocks xmlns:a="http://schemas.openxmlformats.org/drawingml/2006/main" noGrp="1"/>
          </p:cNvSpPr>
          <p:nvPr/>
        </p:nvSpPr>
        <p:spPr>
          <a:xfrm xmlns:a="http://schemas.openxmlformats.org/drawingml/2006/main">
            <a:off x="609600" y="5524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42B43"/>
                </a:solidFill>
                <a:latin typeface="Avenir Next"/>
                <a:ea typeface="Avenir Next"/>
                <a:cs typeface="Avenir Next"/>
              </a:defRPr>
            </a:defPPr>
            <a:lvl1pPr algn="l">
              <a:defRPr sz="3600" b="1">
                <a:solidFill>
                  <a:srgbClr val="142B43"/>
                </a:solidFill>
                <a:latin typeface="Avenir Next"/>
                <a:ea typeface="Avenir Next"/>
                <a:cs typeface="Avenir Next"/>
              </a:defRPr>
            </a:lvl1pPr>
            <a:lvl2pPr algn="l">
              <a:defRPr sz="3600" b="1">
                <a:solidFill>
                  <a:srgbClr val="142B43"/>
                </a:solidFill>
                <a:latin typeface="Avenir Next"/>
                <a:ea typeface="Avenir Next"/>
                <a:cs typeface="Avenir Next"/>
              </a:defRPr>
            </a:lvl2pPr>
            <a:lvl3pPr algn="l">
              <a:defRPr sz="3600" b="1">
                <a:solidFill>
                  <a:srgbClr val="142B43"/>
                </a:solidFill>
                <a:latin typeface="Avenir Next"/>
                <a:ea typeface="Avenir Next"/>
                <a:cs typeface="Avenir Next"/>
              </a:defRPr>
            </a:lvl3pPr>
            <a:lvl4pPr algn="l">
              <a:defRPr sz="3600" b="1">
                <a:solidFill>
                  <a:srgbClr val="142B43"/>
                </a:solidFill>
                <a:latin typeface="Avenir Next"/>
                <a:ea typeface="Avenir Next"/>
                <a:cs typeface="Avenir Next"/>
              </a:defRPr>
            </a:lvl4pPr>
            <a:lvl5pPr algn="l">
              <a:defRPr sz="3600" b="1">
                <a:solidFill>
                  <a:srgbClr val="142B43"/>
                </a:solidFill>
                <a:latin typeface="Avenir Next"/>
                <a:ea typeface="Avenir Next"/>
                <a:cs typeface="Avenir Next"/>
              </a:defRPr>
            </a:lvl5pPr>
            <a:lvl6pPr algn="l">
              <a:defRPr sz="3600" b="1">
                <a:solidFill>
                  <a:srgbClr val="142B43"/>
                </a:solidFill>
                <a:latin typeface="Avenir Next"/>
                <a:ea typeface="Avenir Next"/>
                <a:cs typeface="Avenir Next"/>
              </a:defRPr>
            </a:lvl6pPr>
            <a:lvl7pPr algn="l">
              <a:defRPr sz="3600" b="1">
                <a:solidFill>
                  <a:srgbClr val="142B43"/>
                </a:solidFill>
                <a:latin typeface="Avenir Next"/>
                <a:ea typeface="Avenir Next"/>
                <a:cs typeface="Avenir Next"/>
              </a:defRPr>
            </a:lvl7pPr>
            <a:lvl8pPr algn="l">
              <a:defRPr sz="3600" b="1">
                <a:solidFill>
                  <a:srgbClr val="142B43"/>
                </a:solidFill>
                <a:latin typeface="Avenir Next"/>
                <a:ea typeface="Avenir Next"/>
                <a:cs typeface="Avenir Next"/>
              </a:defRPr>
            </a:lvl8pPr>
            <a:lvl9pPr algn="l">
              <a:defRPr sz="3600" b="1">
                <a:solidFill>
                  <a:srgbClr val="142B43"/>
                </a:solidFill>
                <a:latin typeface="Avenir Next"/>
                <a:ea typeface="Avenir Next"/>
                <a:cs typeface="Avenir Next"/>
              </a:defRPr>
            </a:lvl9pPr>
          </a:lstStyle>
          <a:p xmlns:a="http://schemas.openxmlformats.org/drawingml/2006/main">
            <a:pPr algn="l">
              <a:defRPr sz="3600" b="1">
                <a:solidFill>
                  <a:srgbClr val="142B43"/>
                </a:solidFill>
                <a:latin typeface="Avenir Next"/>
                <a:ea typeface="Avenir Next"/>
                <a:cs typeface="Avenir Next"/>
              </a:defRPr>
            </a:pPr>
            <a:r>
              <a:rPr sz="3600" b="1">
                <a:solidFill>
                  <a:srgbClr val="142B43"/>
                </a:solidFill>
                <a:latin typeface="Avenir Next"/>
                <a:ea typeface="Avenir Next"/>
                <a:cs typeface="Avenir Next"/>
              </a:rPr>
              <a:t>The H₂S monitoring gap</a:t>
            </a:r>
          </a:p>
        </p:txBody>
      </p:sp>
      <p:sp>
        <p:nvSpPr>
          <p:cNvPr id="2" name="Smell cannot reliably warn a worker that hydrogen sulfide is still pre">
            <a:extLst xmlns:a="http://schemas.openxmlformats.org/drawingml/2006/main">
              <a:ext uri="{FF2B5EF4-FFF2-40B4-BE49-F238E27FC236}">
                <a16:creationId xmlns:a16="http://schemas.microsoft.com/office/drawing/2014/main" id="{4B9E7491-3353-469B-BFFD-E9686824B2CD}"/>
              </a:ext>
            </a:extLst>
          </p:cNvPr>
          <p:cNvSpPr>
            <a:spLocks xmlns:a="http://schemas.openxmlformats.org/drawingml/2006/main" noGrp="1"/>
          </p:cNvSpPr>
          <p:nvPr/>
        </p:nvSpPr>
        <p:spPr>
          <a:xfrm xmlns:a="http://schemas.openxmlformats.org/drawingml/2006/main">
            <a:off x="609600" y="14954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26574"/>
                </a:solidFill>
                <a:latin typeface="Avenir Next"/>
                <a:ea typeface="Avenir Next"/>
                <a:cs typeface="Avenir Next"/>
              </a:defRPr>
            </a:defPPr>
            <a:lvl1pPr algn="l">
              <a:defRPr sz="2325" b="0">
                <a:solidFill>
                  <a:srgbClr val="526574"/>
                </a:solidFill>
                <a:latin typeface="Avenir Next"/>
                <a:ea typeface="Avenir Next"/>
                <a:cs typeface="Avenir Next"/>
              </a:defRPr>
            </a:lvl1pPr>
            <a:lvl2pPr algn="l">
              <a:defRPr sz="2325" b="0">
                <a:solidFill>
                  <a:srgbClr val="526574"/>
                </a:solidFill>
                <a:latin typeface="Avenir Next"/>
                <a:ea typeface="Avenir Next"/>
                <a:cs typeface="Avenir Next"/>
              </a:defRPr>
            </a:lvl2pPr>
            <a:lvl3pPr algn="l">
              <a:defRPr sz="2325" b="0">
                <a:solidFill>
                  <a:srgbClr val="526574"/>
                </a:solidFill>
                <a:latin typeface="Avenir Next"/>
                <a:ea typeface="Avenir Next"/>
                <a:cs typeface="Avenir Next"/>
              </a:defRPr>
            </a:lvl3pPr>
            <a:lvl4pPr algn="l">
              <a:defRPr sz="2325" b="0">
                <a:solidFill>
                  <a:srgbClr val="526574"/>
                </a:solidFill>
                <a:latin typeface="Avenir Next"/>
                <a:ea typeface="Avenir Next"/>
                <a:cs typeface="Avenir Next"/>
              </a:defRPr>
            </a:lvl4pPr>
            <a:lvl5pPr algn="l">
              <a:defRPr sz="2325" b="0">
                <a:solidFill>
                  <a:srgbClr val="526574"/>
                </a:solidFill>
                <a:latin typeface="Avenir Next"/>
                <a:ea typeface="Avenir Next"/>
                <a:cs typeface="Avenir Next"/>
              </a:defRPr>
            </a:lvl5pPr>
            <a:lvl6pPr algn="l">
              <a:defRPr sz="2325" b="0">
                <a:solidFill>
                  <a:srgbClr val="526574"/>
                </a:solidFill>
                <a:latin typeface="Avenir Next"/>
                <a:ea typeface="Avenir Next"/>
                <a:cs typeface="Avenir Next"/>
              </a:defRPr>
            </a:lvl6pPr>
            <a:lvl7pPr algn="l">
              <a:defRPr sz="2325" b="0">
                <a:solidFill>
                  <a:srgbClr val="526574"/>
                </a:solidFill>
                <a:latin typeface="Avenir Next"/>
                <a:ea typeface="Avenir Next"/>
                <a:cs typeface="Avenir Next"/>
              </a:defRPr>
            </a:lvl7pPr>
            <a:lvl8pPr algn="l">
              <a:defRPr sz="2325" b="0">
                <a:solidFill>
                  <a:srgbClr val="526574"/>
                </a:solidFill>
                <a:latin typeface="Avenir Next"/>
                <a:ea typeface="Avenir Next"/>
                <a:cs typeface="Avenir Next"/>
              </a:defRPr>
            </a:lvl8pPr>
            <a:lvl9pPr algn="l">
              <a:defRPr sz="2325" b="0">
                <a:solidFill>
                  <a:srgbClr val="526574"/>
                </a:solidFill>
                <a:latin typeface="Avenir Next"/>
                <a:ea typeface="Avenir Next"/>
                <a:cs typeface="Avenir Next"/>
              </a:defRPr>
            </a:lvl9pPr>
          </a:lstStyle>
          <a:p xmlns:a="http://schemas.openxmlformats.org/drawingml/2006/main">
            <a:pPr algn="l">
              <a:defRPr sz="2325" b="0">
                <a:solidFill>
                  <a:srgbClr val="526574"/>
                </a:solidFill>
                <a:latin typeface="Avenir Next"/>
                <a:ea typeface="Avenir Next"/>
                <a:cs typeface="Avenir Next"/>
              </a:defRPr>
            </a:pPr>
            <a:r>
              <a:rPr sz="2325" b="0">
                <a:solidFill>
                  <a:srgbClr val="526574"/>
                </a:solidFill>
                <a:latin typeface="Avenir Next"/>
                <a:ea typeface="Avenir Next"/>
                <a:cs typeface="Avenir Next"/>
              </a:rPr>
              <a:t>Smell cannot reliably warn a worker</a:t>
            </a:r>
          </a:p>
          <a:p xmlns:a="http://schemas.openxmlformats.org/drawingml/2006/main">
            <a:pPr algn="l">
              <a:defRPr sz="2325" b="0">
                <a:solidFill>
                  <a:srgbClr val="526574"/>
                </a:solidFill>
                <a:latin typeface="Avenir Next"/>
                <a:ea typeface="Avenir Next"/>
                <a:cs typeface="Avenir Next"/>
              </a:defRPr>
            </a:pPr>
            <a:r>
              <a:rPr sz="2325" b="0">
                <a:solidFill>
                  <a:srgbClr val="526574"/>
                </a:solidFill>
                <a:latin typeface="Avenir Next"/>
                <a:ea typeface="Avenir Next"/>
                <a:cs typeface="Avenir Next"/>
              </a:rPr>
              <a:t>that hydrogen sulfide is still present. [2]</a:t>
            </a:r>
          </a:p>
        </p:txBody>
      </p:sp>
      <p:sp>
        <p:nvSpPr>
          <p:cNvPr id="3" name="100 ppm">
            <a:extLst xmlns:a="http://schemas.openxmlformats.org/drawingml/2006/main">
              <a:ext uri="{FF2B5EF4-FFF2-40B4-BE49-F238E27FC236}">
                <a16:creationId xmlns:a16="http://schemas.microsoft.com/office/drawing/2014/main" id="{C2BB69EC-C55B-4E45-A50E-EF7110984E56}"/>
              </a:ext>
            </a:extLst>
          </p:cNvPr>
          <p:cNvSpPr>
            <a:spLocks xmlns:a="http://schemas.openxmlformats.org/drawingml/2006/main" noGrp="1"/>
          </p:cNvSpPr>
          <p:nvPr/>
        </p:nvSpPr>
        <p:spPr>
          <a:xfrm xmlns:a="http://schemas.openxmlformats.org/drawingml/2006/main">
            <a:off x="609600" y="2952750"/>
            <a:ext cx="5381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363DA"/>
                </a:solidFill>
                <a:latin typeface="Avenir Next"/>
                <a:ea typeface="Avenir Next"/>
                <a:cs typeface="Avenir Next"/>
              </a:defRPr>
            </a:defPPr>
            <a:lvl1pPr algn="l">
              <a:defRPr sz="6300" b="1">
                <a:solidFill>
                  <a:srgbClr val="2363DA"/>
                </a:solidFill>
                <a:latin typeface="Avenir Next"/>
                <a:ea typeface="Avenir Next"/>
                <a:cs typeface="Avenir Next"/>
              </a:defRPr>
            </a:lvl1pPr>
            <a:lvl2pPr algn="l">
              <a:defRPr sz="6300" b="1">
                <a:solidFill>
                  <a:srgbClr val="2363DA"/>
                </a:solidFill>
                <a:latin typeface="Avenir Next"/>
                <a:ea typeface="Avenir Next"/>
                <a:cs typeface="Avenir Next"/>
              </a:defRPr>
            </a:lvl2pPr>
            <a:lvl3pPr algn="l">
              <a:defRPr sz="6300" b="1">
                <a:solidFill>
                  <a:srgbClr val="2363DA"/>
                </a:solidFill>
                <a:latin typeface="Avenir Next"/>
                <a:ea typeface="Avenir Next"/>
                <a:cs typeface="Avenir Next"/>
              </a:defRPr>
            </a:lvl3pPr>
            <a:lvl4pPr algn="l">
              <a:defRPr sz="6300" b="1">
                <a:solidFill>
                  <a:srgbClr val="2363DA"/>
                </a:solidFill>
                <a:latin typeface="Avenir Next"/>
                <a:ea typeface="Avenir Next"/>
                <a:cs typeface="Avenir Next"/>
              </a:defRPr>
            </a:lvl4pPr>
            <a:lvl5pPr algn="l">
              <a:defRPr sz="6300" b="1">
                <a:solidFill>
                  <a:srgbClr val="2363DA"/>
                </a:solidFill>
                <a:latin typeface="Avenir Next"/>
                <a:ea typeface="Avenir Next"/>
                <a:cs typeface="Avenir Next"/>
              </a:defRPr>
            </a:lvl5pPr>
            <a:lvl6pPr algn="l">
              <a:defRPr sz="6300" b="1">
                <a:solidFill>
                  <a:srgbClr val="2363DA"/>
                </a:solidFill>
                <a:latin typeface="Avenir Next"/>
                <a:ea typeface="Avenir Next"/>
                <a:cs typeface="Avenir Next"/>
              </a:defRPr>
            </a:lvl6pPr>
            <a:lvl7pPr algn="l">
              <a:defRPr sz="6300" b="1">
                <a:solidFill>
                  <a:srgbClr val="2363DA"/>
                </a:solidFill>
                <a:latin typeface="Avenir Next"/>
                <a:ea typeface="Avenir Next"/>
                <a:cs typeface="Avenir Next"/>
              </a:defRPr>
            </a:lvl7pPr>
            <a:lvl8pPr algn="l">
              <a:defRPr sz="6300" b="1">
                <a:solidFill>
                  <a:srgbClr val="2363DA"/>
                </a:solidFill>
                <a:latin typeface="Avenir Next"/>
                <a:ea typeface="Avenir Next"/>
                <a:cs typeface="Avenir Next"/>
              </a:defRPr>
            </a:lvl8pPr>
            <a:lvl9pPr algn="l">
              <a:defRPr sz="6300" b="1">
                <a:solidFill>
                  <a:srgbClr val="2363DA"/>
                </a:solidFill>
                <a:latin typeface="Avenir Next"/>
                <a:ea typeface="Avenir Next"/>
                <a:cs typeface="Avenir Next"/>
              </a:defRPr>
            </a:lvl9pPr>
          </a:lstStyle>
          <a:p xmlns:a="http://schemas.openxmlformats.org/drawingml/2006/main">
            <a:pPr algn="l">
              <a:defRPr sz="6300" b="1">
                <a:solidFill>
                  <a:srgbClr val="2363DA"/>
                </a:solidFill>
                <a:latin typeface="Avenir Next"/>
                <a:ea typeface="Avenir Next"/>
                <a:cs typeface="Avenir Next"/>
              </a:defRPr>
            </a:pPr>
            <a:r>
              <a:rPr sz="6300" b="1">
                <a:solidFill>
                  <a:srgbClr val="2363DA"/>
                </a:solidFill>
                <a:latin typeface="Avenir Next"/>
                <a:ea typeface="Avenir Next"/>
                <a:cs typeface="Avenir Next"/>
              </a:rPr>
              <a:t>100 ppm</a:t>
            </a:r>
          </a:p>
        </p:txBody>
      </p:sp>
      <p:sp>
        <p:nvSpPr>
          <p:cNvPr id="4" name="Immediately dangerous to life or health, according to NIOSH. [2]">
            <a:extLst xmlns:a="http://schemas.openxmlformats.org/drawingml/2006/main">
              <a:ext uri="{FF2B5EF4-FFF2-40B4-BE49-F238E27FC236}">
                <a16:creationId xmlns:a16="http://schemas.microsoft.com/office/drawing/2014/main" id="{D1DC404A-4E53-4F76-9BE5-4BFAF3077837}"/>
              </a:ext>
            </a:extLst>
          </p:cNvPr>
          <p:cNvSpPr>
            <a:spLocks xmlns:a="http://schemas.openxmlformats.org/drawingml/2006/main" noGrp="1"/>
          </p:cNvSpPr>
          <p:nvPr/>
        </p:nvSpPr>
        <p:spPr>
          <a:xfrm xmlns:a="http://schemas.openxmlformats.org/drawingml/2006/main">
            <a:off x="647700" y="406717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Immediately dangerous to life</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or health, according to NIOSH. [2]</a:t>
            </a:r>
          </a:p>
        </p:txBody>
      </p:sp>
      <p:sp>
        <p:nvSpPr>
          <p:cNvPr id="5" name="10 ppm">
            <a:extLst xmlns:a="http://schemas.openxmlformats.org/drawingml/2006/main">
              <a:ext uri="{FF2B5EF4-FFF2-40B4-BE49-F238E27FC236}">
                <a16:creationId xmlns:a16="http://schemas.microsoft.com/office/drawing/2014/main" id="{AB32651D-5F01-4E5D-8B32-1B70F06A4517}"/>
              </a:ext>
            </a:extLst>
          </p:cNvPr>
          <p:cNvSpPr>
            <a:spLocks xmlns:a="http://schemas.openxmlformats.org/drawingml/2006/main" noGrp="1"/>
          </p:cNvSpPr>
          <p:nvPr/>
        </p:nvSpPr>
        <p:spPr>
          <a:xfrm xmlns:a="http://schemas.openxmlformats.org/drawingml/2006/main">
            <a:off x="6448425" y="2971800"/>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B43"/>
                </a:solidFill>
                <a:latin typeface="Avenir Next"/>
                <a:ea typeface="Avenir Next"/>
                <a:cs typeface="Avenir Next"/>
              </a:defRPr>
            </a:defPPr>
            <a:lvl1pPr algn="l">
              <a:defRPr sz="5700" b="1">
                <a:solidFill>
                  <a:srgbClr val="142B43"/>
                </a:solidFill>
                <a:latin typeface="Avenir Next"/>
                <a:ea typeface="Avenir Next"/>
                <a:cs typeface="Avenir Next"/>
              </a:defRPr>
            </a:lvl1pPr>
            <a:lvl2pPr algn="l">
              <a:defRPr sz="5700" b="1">
                <a:solidFill>
                  <a:srgbClr val="142B43"/>
                </a:solidFill>
                <a:latin typeface="Avenir Next"/>
                <a:ea typeface="Avenir Next"/>
                <a:cs typeface="Avenir Next"/>
              </a:defRPr>
            </a:lvl2pPr>
            <a:lvl3pPr algn="l">
              <a:defRPr sz="5700" b="1">
                <a:solidFill>
                  <a:srgbClr val="142B43"/>
                </a:solidFill>
                <a:latin typeface="Avenir Next"/>
                <a:ea typeface="Avenir Next"/>
                <a:cs typeface="Avenir Next"/>
              </a:defRPr>
            </a:lvl3pPr>
            <a:lvl4pPr algn="l">
              <a:defRPr sz="5700" b="1">
                <a:solidFill>
                  <a:srgbClr val="142B43"/>
                </a:solidFill>
                <a:latin typeface="Avenir Next"/>
                <a:ea typeface="Avenir Next"/>
                <a:cs typeface="Avenir Next"/>
              </a:defRPr>
            </a:lvl4pPr>
            <a:lvl5pPr algn="l">
              <a:defRPr sz="5700" b="1">
                <a:solidFill>
                  <a:srgbClr val="142B43"/>
                </a:solidFill>
                <a:latin typeface="Avenir Next"/>
                <a:ea typeface="Avenir Next"/>
                <a:cs typeface="Avenir Next"/>
              </a:defRPr>
            </a:lvl5pPr>
            <a:lvl6pPr algn="l">
              <a:defRPr sz="5700" b="1">
                <a:solidFill>
                  <a:srgbClr val="142B43"/>
                </a:solidFill>
                <a:latin typeface="Avenir Next"/>
                <a:ea typeface="Avenir Next"/>
                <a:cs typeface="Avenir Next"/>
              </a:defRPr>
            </a:lvl6pPr>
            <a:lvl7pPr algn="l">
              <a:defRPr sz="5700" b="1">
                <a:solidFill>
                  <a:srgbClr val="142B43"/>
                </a:solidFill>
                <a:latin typeface="Avenir Next"/>
                <a:ea typeface="Avenir Next"/>
                <a:cs typeface="Avenir Next"/>
              </a:defRPr>
            </a:lvl7pPr>
            <a:lvl8pPr algn="l">
              <a:defRPr sz="5700" b="1">
                <a:solidFill>
                  <a:srgbClr val="142B43"/>
                </a:solidFill>
                <a:latin typeface="Avenir Next"/>
                <a:ea typeface="Avenir Next"/>
                <a:cs typeface="Avenir Next"/>
              </a:defRPr>
            </a:lvl8pPr>
            <a:lvl9pPr algn="l">
              <a:defRPr sz="5700" b="1">
                <a:solidFill>
                  <a:srgbClr val="142B43"/>
                </a:solidFill>
                <a:latin typeface="Avenir Next"/>
                <a:ea typeface="Avenir Next"/>
                <a:cs typeface="Avenir Next"/>
              </a:defRPr>
            </a:lvl9pPr>
          </a:lstStyle>
          <a:p xmlns:a="http://schemas.openxmlformats.org/drawingml/2006/main">
            <a:pPr algn="l">
              <a:defRPr sz="5700" b="1">
                <a:solidFill>
                  <a:srgbClr val="142B43"/>
                </a:solidFill>
                <a:latin typeface="Avenir Next"/>
                <a:ea typeface="Avenir Next"/>
                <a:cs typeface="Avenir Next"/>
              </a:defRPr>
            </a:pPr>
            <a:r>
              <a:rPr sz="5700" b="1">
                <a:solidFill>
                  <a:srgbClr val="142B43"/>
                </a:solidFill>
                <a:latin typeface="Avenir Next"/>
                <a:ea typeface="Avenir Next"/>
                <a:cs typeface="Avenir Next"/>
              </a:rPr>
              <a:t>10 ppm</a:t>
            </a:r>
          </a:p>
        </p:txBody>
      </p:sp>
      <p:sp>
        <p:nvSpPr>
          <p:cNvPr id="6" name="NIOSH recommended ceiling for a 10-minute exposure. [2]">
            <a:extLst xmlns:a="http://schemas.openxmlformats.org/drawingml/2006/main">
              <a:ext uri="{FF2B5EF4-FFF2-40B4-BE49-F238E27FC236}">
                <a16:creationId xmlns:a16="http://schemas.microsoft.com/office/drawing/2014/main" id="{B4D063A1-E320-4E16-8205-DA58E1091E2F}"/>
              </a:ext>
            </a:extLst>
          </p:cNvPr>
          <p:cNvSpPr>
            <a:spLocks xmlns:a="http://schemas.openxmlformats.org/drawingml/2006/main" noGrp="1"/>
          </p:cNvSpPr>
          <p:nvPr/>
        </p:nvSpPr>
        <p:spPr>
          <a:xfrm xmlns:a="http://schemas.openxmlformats.org/drawingml/2006/main">
            <a:off x="6496050" y="4067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NIOSH recommended ceiling</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for a 10-minute exposure. [2]</a:t>
            </a:r>
          </a:p>
        </p:txBody>
      </p:sp>
      <p:sp>
        <p:nvSpPr>
          <p:cNvPr id="7" name="">
            <a:extLst xmlns:a="http://schemas.openxmlformats.org/drawingml/2006/main">
              <a:ext uri="{FF2B5EF4-FFF2-40B4-BE49-F238E27FC236}">
                <a16:creationId xmlns:a16="http://schemas.microsoft.com/office/drawing/2014/main" id="{8EA750F9-102F-4679-86C6-32EBD8D5CE84}"/>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ln xmlns:a="http://schemas.openxmlformats.org/drawingml/2006/main" w="9525">
            <a:solidFill>
              <a:srgbClr val="D3D9D9"/>
            </a:solidFill>
          </a:ln>
        </p:spPr>
      </p:sp>
      <p:sp>
        <p:nvSpPr>
          <p:cNvPr id="8" name="The role for VajraSetu">
            <a:extLst xmlns:a="http://schemas.openxmlformats.org/drawingml/2006/main">
              <a:ext uri="{FF2B5EF4-FFF2-40B4-BE49-F238E27FC236}">
                <a16:creationId xmlns:a16="http://schemas.microsoft.com/office/drawing/2014/main" id="{B269BEBF-BC77-406D-91AB-37CA35D97F0F}"/>
              </a:ext>
            </a:extLst>
          </p:cNvPr>
          <p:cNvSpPr>
            <a:spLocks xmlns:a="http://schemas.openxmlformats.org/drawingml/2006/main" noGrp="1"/>
          </p:cNvSpPr>
          <p:nvPr/>
        </p:nvSpPr>
        <p:spPr>
          <a:xfrm xmlns:a="http://schemas.openxmlformats.org/drawingml/2006/main">
            <a:off x="609600" y="55149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The role for VajraSetu</a:t>
            </a:r>
          </a:p>
        </p:txBody>
      </p:sp>
      <p:sp>
        <p:nvSpPr>
          <p:cNvPr id="9" name="A repeatable wristband check and a local record alongside site-approve">
            <a:extLst xmlns:a="http://schemas.openxmlformats.org/drawingml/2006/main">
              <a:ext uri="{FF2B5EF4-FFF2-40B4-BE49-F238E27FC236}">
                <a16:creationId xmlns:a16="http://schemas.microsoft.com/office/drawing/2014/main" id="{1E31A6D6-7731-46D2-AC2B-6DE7B209B690}"/>
              </a:ext>
            </a:extLst>
          </p:cNvPr>
          <p:cNvSpPr>
            <a:spLocks xmlns:a="http://schemas.openxmlformats.org/drawingml/2006/main" noGrp="1"/>
          </p:cNvSpPr>
          <p:nvPr/>
        </p:nvSpPr>
        <p:spPr>
          <a:xfrm xmlns:a="http://schemas.openxmlformats.org/drawingml/2006/main">
            <a:off x="4286250" y="5476875"/>
            <a:ext cx="7219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A repeatable wristband check and a local record</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alongside site-approved gas monitoring.</a:t>
            </a:r>
          </a:p>
        </p:txBody>
      </p:sp>
      <p:sp>
        <p:nvSpPr>
          <p:cNvPr id="10" name="[2] CDC / NIOSH Pocket Guide, Hydrogen sulfide. U.S. hazard references">
            <a:extLst xmlns:a="http://schemas.openxmlformats.org/drawingml/2006/main">
              <a:ext uri="{FF2B5EF4-FFF2-40B4-BE49-F238E27FC236}">
                <a16:creationId xmlns:a16="http://schemas.microsoft.com/office/drawing/2014/main" id="{99C182E4-C39C-461A-8926-BEA4DD3E07CB}"/>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[2] CDC / NIOSH Pocket Guide, Hydrogen sulfide. U.S. hazard references, not Indian compliance limits.</a:t>
            </a:r>
          </a:p>
        </p:txBody>
      </p:sp>
      <p:sp>
        <p:nvSpPr>
          <p:cNvPr id="11" name="02">
            <a:extLst xmlns:a="http://schemas.openxmlformats.org/drawingml/2006/main">
              <a:ext uri="{FF2B5EF4-FFF2-40B4-BE49-F238E27FC236}">
                <a16:creationId xmlns:a16="http://schemas.microsoft.com/office/drawing/2014/main" id="{DB813F57-B003-42B7-9BDF-1A87838C5FBE}"/>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02</a:t>
            </a:r>
          </a:p>
        </p:txBody>
      </p:sp>
    </p:spTree>
    <p:extLst>
      <p:ext uri="{BB962C8B-B14F-4D97-AF65-F5344CB8AC3E}">
        <p14:creationId xmlns:p14="http://schemas.microsoft.com/office/powerpoint/2010/main" val="1728015198"/>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The band and the worker experience">
            <a:extLst xmlns:a="http://schemas.openxmlformats.org/drawingml/2006/main">
              <a:ext uri="{FF2B5EF4-FFF2-40B4-BE49-F238E27FC236}">
                <a16:creationId xmlns:a16="http://schemas.microsoft.com/office/drawing/2014/main" id="{8A2C6740-6902-4B64-AEF2-B26AB8D69C84}"/>
              </a:ext>
            </a:extLst>
          </p:cNvPr>
          <p:cNvSpPr>
            <a:spLocks xmlns:a="http://schemas.openxmlformats.org/drawingml/2006/main" noGrp="1"/>
          </p:cNvSpPr>
          <p:nvPr/>
        </p:nvSpPr>
        <p:spPr>
          <a:xfrm xmlns:a="http://schemas.openxmlformats.org/drawingml/2006/main">
            <a:off x="609600" y="5524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43"/>
                </a:solidFill>
                <a:latin typeface="Avenir Next"/>
                <a:ea typeface="Avenir Next"/>
                <a:cs typeface="Avenir Next"/>
              </a:defRPr>
            </a:defPPr>
            <a:lvl1pPr algn="l">
              <a:defRPr sz="3450" b="1">
                <a:solidFill>
                  <a:srgbClr val="142B43"/>
                </a:solidFill>
                <a:latin typeface="Avenir Next"/>
                <a:ea typeface="Avenir Next"/>
                <a:cs typeface="Avenir Next"/>
              </a:defRPr>
            </a:lvl1pPr>
            <a:lvl2pPr algn="l">
              <a:defRPr sz="3450" b="1">
                <a:solidFill>
                  <a:srgbClr val="142B43"/>
                </a:solidFill>
                <a:latin typeface="Avenir Next"/>
                <a:ea typeface="Avenir Next"/>
                <a:cs typeface="Avenir Next"/>
              </a:defRPr>
            </a:lvl2pPr>
            <a:lvl3pPr algn="l">
              <a:defRPr sz="3450" b="1">
                <a:solidFill>
                  <a:srgbClr val="142B43"/>
                </a:solidFill>
                <a:latin typeface="Avenir Next"/>
                <a:ea typeface="Avenir Next"/>
                <a:cs typeface="Avenir Next"/>
              </a:defRPr>
            </a:lvl3pPr>
            <a:lvl4pPr algn="l">
              <a:defRPr sz="3450" b="1">
                <a:solidFill>
                  <a:srgbClr val="142B43"/>
                </a:solidFill>
                <a:latin typeface="Avenir Next"/>
                <a:ea typeface="Avenir Next"/>
                <a:cs typeface="Avenir Next"/>
              </a:defRPr>
            </a:lvl4pPr>
            <a:lvl5pPr algn="l">
              <a:defRPr sz="3450" b="1">
                <a:solidFill>
                  <a:srgbClr val="142B43"/>
                </a:solidFill>
                <a:latin typeface="Avenir Next"/>
                <a:ea typeface="Avenir Next"/>
                <a:cs typeface="Avenir Next"/>
              </a:defRPr>
            </a:lvl5pPr>
            <a:lvl6pPr algn="l">
              <a:defRPr sz="3450" b="1">
                <a:solidFill>
                  <a:srgbClr val="142B43"/>
                </a:solidFill>
                <a:latin typeface="Avenir Next"/>
                <a:ea typeface="Avenir Next"/>
                <a:cs typeface="Avenir Next"/>
              </a:defRPr>
            </a:lvl6pPr>
            <a:lvl7pPr algn="l">
              <a:defRPr sz="3450" b="1">
                <a:solidFill>
                  <a:srgbClr val="142B43"/>
                </a:solidFill>
                <a:latin typeface="Avenir Next"/>
                <a:ea typeface="Avenir Next"/>
                <a:cs typeface="Avenir Next"/>
              </a:defRPr>
            </a:lvl7pPr>
            <a:lvl8pPr algn="l">
              <a:defRPr sz="3450" b="1">
                <a:solidFill>
                  <a:srgbClr val="142B43"/>
                </a:solidFill>
                <a:latin typeface="Avenir Next"/>
                <a:ea typeface="Avenir Next"/>
                <a:cs typeface="Avenir Next"/>
              </a:defRPr>
            </a:lvl8pPr>
            <a:lvl9pPr algn="l">
              <a:defRPr sz="3450" b="1">
                <a:solidFill>
                  <a:srgbClr val="142B43"/>
                </a:solidFill>
                <a:latin typeface="Avenir Next"/>
                <a:ea typeface="Avenir Next"/>
                <a:cs typeface="Avenir Next"/>
              </a:defRPr>
            </a:lvl9pPr>
          </a:lstStyle>
          <a:p xmlns:a="http://schemas.openxmlformats.org/drawingml/2006/main">
            <a:pPr algn="l">
              <a:defRPr sz="3450" b="1">
                <a:solidFill>
                  <a:srgbClr val="142B43"/>
                </a:solidFill>
                <a:latin typeface="Avenir Next"/>
                <a:ea typeface="Avenir Next"/>
                <a:cs typeface="Avenir Next"/>
              </a:defRPr>
            </a:pPr>
            <a:r>
              <a:rPr sz="3450" b="1">
                <a:solidFill>
                  <a:srgbClr val="142B43"/>
                </a:solidFill>
                <a:latin typeface="Avenir Next"/>
                <a:ea typeface="Avenir Next"/>
                <a:cs typeface="Avenir Next"/>
              </a:rPr>
              <a:t>The band and the worker experience</a:t>
            </a:r>
          </a:p>
        </p:txBody>
      </p:sp>
      <p:pic>
        <p:nvPicPr>
          <p:cNvPr id="2" name="">
            <a:extLst xmlns:a="http://schemas.openxmlformats.org/drawingml/2006/main">
              <a:ext uri="{FF2B5EF4-FFF2-40B4-BE49-F238E27FC236}">
                <a16:creationId xmlns:a16="http://schemas.microsoft.com/office/drawing/2014/main" id="{CBB22242-A137-446B-A0CA-9C1E72111075}"/>
              </a:ext>
            </a:extLst>
          </p:cNvPr>
          <p:cNvPicPr>
            <a:picLocks xmlns:a="http://schemas.openxmlformats.org/drawingml/2006/main" noChangeAspect="1"/>
          </p:cNvPicPr>
          <p:nvPr/>
        </p:nvPicPr>
        <p:blipFill>
          <a:blip xmlns:r="http://schemas.openxmlformats.org/officeDocument/2006/relationships" xmlns:a="http://schemas.openxmlformats.org/drawingml/2006/main" r:embed="Rd0ec6bf6cf884dc5"/>
          <a:stretch xmlns:a="http://schemas.openxmlformats.org/drawingml/2006/main"/>
        </p:blipFill>
        <p:spPr>
          <a:xfrm xmlns:a="http://schemas.openxmlformats.org/drawingml/2006/main">
            <a:off x="5686425" y="1515666"/>
            <a:ext cx="6257925" cy="4693444"/>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C309A1EA-7F31-4141-A75C-E0D886848766}"/>
              </a:ext>
            </a:extLst>
          </p:cNvPr>
          <p:cNvSpPr>
            <a:spLocks xmlns:a="http://schemas.openxmlformats.org/drawingml/2006/main" noGrp="1"/>
          </p:cNvSpPr>
          <p:nvPr/>
        </p:nvSpPr>
        <p:spPr>
          <a:xfrm xmlns:a="http://schemas.openxmlformats.org/drawingml/2006/main">
            <a:off x="609600" y="1714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01</a:t>
            </a:r>
          </a:p>
        </p:txBody>
      </p:sp>
      <p:sp>
        <p:nvSpPr>
          <p:cNvPr id="4" name="A sensing patch">
            <a:extLst xmlns:a="http://schemas.openxmlformats.org/drawingml/2006/main">
              <a:ext uri="{FF2B5EF4-FFF2-40B4-BE49-F238E27FC236}">
                <a16:creationId xmlns:a16="http://schemas.microsoft.com/office/drawing/2014/main" id="{2D9CD9C4-C5F7-46E1-94D3-9C375FB60170}"/>
              </a:ext>
            </a:extLst>
          </p:cNvPr>
          <p:cNvSpPr>
            <a:spLocks xmlns:a="http://schemas.openxmlformats.org/drawingml/2006/main" noGrp="1"/>
          </p:cNvSpPr>
          <p:nvPr/>
        </p:nvSpPr>
        <p:spPr>
          <a:xfrm xmlns:a="http://schemas.openxmlformats.org/drawingml/2006/main">
            <a:off x="1438275" y="1704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sensing patch</a:t>
            </a:r>
          </a:p>
        </p:txBody>
      </p:sp>
      <p:sp>
        <p:nvSpPr>
          <p:cNvPr id="5" name="CuSO₄ colour change is the signal the camera reads.">
            <a:extLst xmlns:a="http://schemas.openxmlformats.org/drawingml/2006/main">
              <a:ext uri="{FF2B5EF4-FFF2-40B4-BE49-F238E27FC236}">
                <a16:creationId xmlns:a16="http://schemas.microsoft.com/office/drawing/2014/main" id="{8D97F70D-789A-4C85-9CFE-20FF04E06ADF}"/>
              </a:ext>
            </a:extLst>
          </p:cNvPr>
          <p:cNvSpPr>
            <a:spLocks xmlns:a="http://schemas.openxmlformats.org/drawingml/2006/main" noGrp="1"/>
          </p:cNvSpPr>
          <p:nvPr/>
        </p:nvSpPr>
        <p:spPr>
          <a:xfrm xmlns:a="http://schemas.openxmlformats.org/drawingml/2006/main">
            <a:off x="1438275" y="21907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CuSO₄ colour change is the</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signal the camera reads.</a:t>
            </a:r>
          </a:p>
        </p:txBody>
      </p:sp>
      <p:sp>
        <p:nvSpPr>
          <p:cNvPr id="6" name="02">
            <a:extLst xmlns:a="http://schemas.openxmlformats.org/drawingml/2006/main">
              <a:ext uri="{FF2B5EF4-FFF2-40B4-BE49-F238E27FC236}">
                <a16:creationId xmlns:a16="http://schemas.microsoft.com/office/drawing/2014/main" id="{6E7991DC-C01C-46F4-9B5A-2E7E1DFACFA4}"/>
              </a:ext>
            </a:extLst>
          </p:cNvPr>
          <p:cNvSpPr>
            <a:spLocks xmlns:a="http://schemas.openxmlformats.org/drawingml/2006/main" noGrp="1"/>
          </p:cNvSpPr>
          <p:nvPr/>
        </p:nvSpPr>
        <p:spPr>
          <a:xfrm xmlns:a="http://schemas.openxmlformats.org/drawingml/2006/main">
            <a:off x="609600" y="30480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02</a:t>
            </a:r>
          </a:p>
        </p:txBody>
      </p:sp>
      <p:sp>
        <p:nvSpPr>
          <p:cNvPr id="7" name="A validity dot">
            <a:extLst xmlns:a="http://schemas.openxmlformats.org/drawingml/2006/main">
              <a:ext uri="{FF2B5EF4-FFF2-40B4-BE49-F238E27FC236}">
                <a16:creationId xmlns:a16="http://schemas.microsoft.com/office/drawing/2014/main" id="{618755B2-A822-4362-AB46-20167B68E530}"/>
              </a:ext>
            </a:extLst>
          </p:cNvPr>
          <p:cNvSpPr>
            <a:spLocks xmlns:a="http://schemas.openxmlformats.org/drawingml/2006/main" noGrp="1"/>
          </p:cNvSpPr>
          <p:nvPr/>
        </p:nvSpPr>
        <p:spPr>
          <a:xfrm xmlns:a="http://schemas.openxmlformats.org/drawingml/2006/main">
            <a:off x="1438275" y="30384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validity dot</a:t>
            </a:r>
          </a:p>
        </p:txBody>
      </p:sp>
      <p:sp>
        <p:nvSpPr>
          <p:cNvPr id="8" name="FeSO₄ provides a provisional check before interpretation.">
            <a:extLst xmlns:a="http://schemas.openxmlformats.org/drawingml/2006/main">
              <a:ext uri="{FF2B5EF4-FFF2-40B4-BE49-F238E27FC236}">
                <a16:creationId xmlns:a16="http://schemas.microsoft.com/office/drawing/2014/main" id="{27F86A3E-37BB-4560-AD8D-F729BC6BC1F7}"/>
              </a:ext>
            </a:extLst>
          </p:cNvPr>
          <p:cNvSpPr>
            <a:spLocks xmlns:a="http://schemas.openxmlformats.org/drawingml/2006/main" noGrp="1"/>
          </p:cNvSpPr>
          <p:nvPr/>
        </p:nvSpPr>
        <p:spPr>
          <a:xfrm xmlns:a="http://schemas.openxmlformats.org/drawingml/2006/main">
            <a:off x="1438275" y="35242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FeSO₄ provides a provisional</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check before interpretation.</a:t>
            </a:r>
          </a:p>
        </p:txBody>
      </p:sp>
      <p:sp>
        <p:nvSpPr>
          <p:cNvPr id="9" name="03">
            <a:extLst xmlns:a="http://schemas.openxmlformats.org/drawingml/2006/main">
              <a:ext uri="{FF2B5EF4-FFF2-40B4-BE49-F238E27FC236}">
                <a16:creationId xmlns:a16="http://schemas.microsoft.com/office/drawing/2014/main" id="{51B09FE4-5AD4-4593-8EAD-E271DE65F557}"/>
              </a:ext>
            </a:extLst>
          </p:cNvPr>
          <p:cNvSpPr>
            <a:spLocks xmlns:a="http://schemas.openxmlformats.org/drawingml/2006/main" noGrp="1"/>
          </p:cNvSpPr>
          <p:nvPr/>
        </p:nvSpPr>
        <p:spPr>
          <a:xfrm xmlns:a="http://schemas.openxmlformats.org/drawingml/2006/main">
            <a:off x="609600" y="4381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03</a:t>
            </a:r>
          </a:p>
        </p:txBody>
      </p:sp>
      <p:sp>
        <p:nvSpPr>
          <p:cNvPr id="10" name="A guided scan">
            <a:extLst xmlns:a="http://schemas.openxmlformats.org/drawingml/2006/main">
              <a:ext uri="{FF2B5EF4-FFF2-40B4-BE49-F238E27FC236}">
                <a16:creationId xmlns:a16="http://schemas.microsoft.com/office/drawing/2014/main" id="{B781749B-F50F-4E9D-B77F-CE7DE3FB55C9}"/>
              </a:ext>
            </a:extLst>
          </p:cNvPr>
          <p:cNvSpPr>
            <a:spLocks xmlns:a="http://schemas.openxmlformats.org/drawingml/2006/main" noGrp="1"/>
          </p:cNvSpPr>
          <p:nvPr/>
        </p:nvSpPr>
        <p:spPr>
          <a:xfrm xmlns:a="http://schemas.openxmlformats.org/drawingml/2006/main">
            <a:off x="1438275"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guided scan</a:t>
            </a:r>
          </a:p>
        </p:txBody>
      </p:sp>
      <p:sp>
        <p:nvSpPr>
          <p:cNvPr id="11" name="Three consistent frames produce a category and local history.">
            <a:extLst xmlns:a="http://schemas.openxmlformats.org/drawingml/2006/main">
              <a:ext uri="{FF2B5EF4-FFF2-40B4-BE49-F238E27FC236}">
                <a16:creationId xmlns:a16="http://schemas.microsoft.com/office/drawing/2014/main" id="{5AEF7717-C5AA-41E1-8306-2A3D2503DACE}"/>
              </a:ext>
            </a:extLst>
          </p:cNvPr>
          <p:cNvSpPr>
            <a:spLocks xmlns:a="http://schemas.openxmlformats.org/drawingml/2006/main" noGrp="1"/>
          </p:cNvSpPr>
          <p:nvPr/>
        </p:nvSpPr>
        <p:spPr>
          <a:xfrm xmlns:a="http://schemas.openxmlformats.org/drawingml/2006/main">
            <a:off x="1438275" y="48577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Three consistent frames produce</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a category and local history.</a:t>
            </a:r>
          </a:p>
        </p:txBody>
      </p:sp>
      <p:sp>
        <p:nvSpPr>
          <p:cNvPr id="12" name="[3] Current prototype: 5 UI languages, bundled core safety copy, devic">
            <a:extLst xmlns:a="http://schemas.openxmlformats.org/drawingml/2006/main">
              <a:ext uri="{FF2B5EF4-FFF2-40B4-BE49-F238E27FC236}">
                <a16:creationId xmlns:a16="http://schemas.microsoft.com/office/drawing/2014/main" id="{A2DADCF4-F128-4959-8D5F-1CE4D100E64A}"/>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[3] Current prototype: 5 UI languages, bundled core safety copy, device-local SQLite history. Concept illustration.</a:t>
            </a:r>
          </a:p>
        </p:txBody>
      </p:sp>
      <p:sp>
        <p:nvSpPr>
          <p:cNvPr id="13" name="03">
            <a:extLst xmlns:a="http://schemas.openxmlformats.org/drawingml/2006/main">
              <a:ext uri="{FF2B5EF4-FFF2-40B4-BE49-F238E27FC236}">
                <a16:creationId xmlns:a16="http://schemas.microsoft.com/office/drawing/2014/main" id="{51932FA0-D999-4753-8274-0D38F5EC4F54}"/>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03</a:t>
            </a:r>
          </a:p>
        </p:txBody>
      </p:sp>
    </p:spTree>
    <p:extLst>
      <p:ext uri="{BB962C8B-B14F-4D97-AF65-F5344CB8AC3E}">
        <p14:creationId xmlns:p14="http://schemas.microsoft.com/office/powerpoint/2010/main" val="1507809484"/>
      </p:ext>
    </p:extLst>
  </p:cSld>
</p:sld>
</file>

<file path=ppt/slides/slide4.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9B0F06F5-C312-4A32-B65D-7FA36B77D28A}"/>
              </a:ext>
            </a:extLst>
          </p:cNvPr>
          <p:cNvCxnSpPr>
            <a:stCxn xmlns:a="http://schemas.openxmlformats.org/drawingml/2006/main" id="10" idx="1"/>
            <a:endCxn xmlns:a="http://schemas.openxmlformats.org/drawingml/2006/main" id="11" idx="3"/>
          </p:cNvCxnSpPr>
          <p:nvPr/>
        </p:nvCxnSpPr>
        <p:spPr>
          <a:xfrm xmlns:a="http://schemas.openxmlformats.org/drawingml/2006/main" flipH="1">
            <a:off x="8667750" y="47625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12" name="">
            <a:extLst xmlns:a="http://schemas.openxmlformats.org/drawingml/2006/main">
              <a:ext uri="{FF2B5EF4-FFF2-40B4-BE49-F238E27FC236}">
                <a16:creationId xmlns:a16="http://schemas.microsoft.com/office/drawing/2014/main" id="{941F29AB-424D-41CC-8DAE-B676CBE83531}"/>
              </a:ext>
            </a:extLst>
          </p:cNvPr>
          <p:cNvCxnSpPr>
            <a:stCxn xmlns:a="http://schemas.openxmlformats.org/drawingml/2006/main" id="6" idx="2"/>
            <a:endCxn xmlns:a="http://schemas.openxmlformats.org/drawingml/2006/main" id="10" idx="0"/>
          </p:cNvCxnSpPr>
          <p:nvPr/>
        </p:nvCxnSpPr>
        <p:spPr>
          <a:xfrm xmlns:a="http://schemas.openxmlformats.org/drawingml/2006/main">
            <a:off x="10487025" y="3248025"/>
            <a:ext cx="0" cy="100965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9" name="">
            <a:extLst xmlns:a="http://schemas.openxmlformats.org/drawingml/2006/main">
              <a:ext uri="{FF2B5EF4-FFF2-40B4-BE49-F238E27FC236}">
                <a16:creationId xmlns:a16="http://schemas.microsoft.com/office/drawing/2014/main" id="{D7950946-3FF9-47F8-8210-ED7F1EB9B78E}"/>
              </a:ext>
            </a:extLst>
          </p:cNvPr>
          <p:cNvCxnSpPr>
            <a:stCxn xmlns:a="http://schemas.openxmlformats.org/drawingml/2006/main" id="5" idx="3"/>
            <a:endCxn xmlns:a="http://schemas.openxmlformats.org/drawingml/2006/main" id="6" idx="1"/>
          </p:cNvCxnSpPr>
          <p:nvPr/>
        </p:nvCxnSpPr>
        <p:spPr>
          <a:xfrm xmlns:a="http://schemas.openxmlformats.org/drawingml/2006/main">
            <a:off x="8667750"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8" name="">
            <a:extLst xmlns:a="http://schemas.openxmlformats.org/drawingml/2006/main">
              <a:ext uri="{FF2B5EF4-FFF2-40B4-BE49-F238E27FC236}">
                <a16:creationId xmlns:a16="http://schemas.microsoft.com/office/drawing/2014/main" id="{744D2917-7E02-46DE-BA18-A0E9BBD47952}"/>
              </a:ext>
            </a:extLst>
          </p:cNvPr>
          <p:cNvCxnSpPr>
            <a:stCxn xmlns:a="http://schemas.openxmlformats.org/drawingml/2006/main" id="4" idx="3"/>
            <a:endCxn xmlns:a="http://schemas.openxmlformats.org/drawingml/2006/main" id="5" idx="1"/>
          </p:cNvCxnSpPr>
          <p:nvPr/>
        </p:nvCxnSpPr>
        <p:spPr>
          <a:xfrm xmlns:a="http://schemas.openxmlformats.org/drawingml/2006/main">
            <a:off x="5743575"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7" name="">
            <a:extLst xmlns:a="http://schemas.openxmlformats.org/drawingml/2006/main">
              <a:ext uri="{FF2B5EF4-FFF2-40B4-BE49-F238E27FC236}">
                <a16:creationId xmlns:a16="http://schemas.microsoft.com/office/drawing/2014/main" id="{FD862241-F6FE-4324-AEE8-9774BE5177AF}"/>
              </a:ext>
            </a:extLst>
          </p:cNvPr>
          <p:cNvCxnSpPr>
            <a:stCxn xmlns:a="http://schemas.openxmlformats.org/drawingml/2006/main" id="3" idx="3"/>
            <a:endCxn xmlns:a="http://schemas.openxmlformats.org/drawingml/2006/main" id="4" idx="1"/>
          </p:cNvCxnSpPr>
          <p:nvPr/>
        </p:nvCxnSpPr>
        <p:spPr>
          <a:xfrm xmlns:a="http://schemas.openxmlformats.org/drawingml/2006/main">
            <a:off x="2819400"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sp>
        <p:nvSpPr>
          <p:cNvPr id="20" name="Device-local architecture">
            <a:extLst xmlns:a="http://schemas.openxmlformats.org/drawingml/2006/main">
              <a:ext uri="{FF2B5EF4-FFF2-40B4-BE49-F238E27FC236}">
                <a16:creationId xmlns:a16="http://schemas.microsoft.com/office/drawing/2014/main" id="{38073F06-E2FC-4B3B-ACF4-70A436B67547}"/>
              </a:ext>
            </a:extLst>
          </p:cNvPr>
          <p:cNvSpPr>
            <a:spLocks xmlns:a="http://schemas.openxmlformats.org/drawingml/2006/main" noGrp="1"/>
          </p:cNvSpPr>
          <p:nvPr/>
        </p:nvSpPr>
        <p:spPr>
          <a:xfrm xmlns:a="http://schemas.openxmlformats.org/drawingml/2006/main">
            <a:off x="609600" y="5429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venir Next"/>
                <a:ea typeface="Avenir Next"/>
                <a:cs typeface="Avenir Next"/>
              </a:defRPr>
            </a:defPPr>
            <a:lvl1pPr algn="l">
              <a:defRPr sz="3600" b="1">
                <a:solidFill>
                  <a:srgbClr val="FFFFFF"/>
                </a:solidFill>
                <a:latin typeface="Avenir Next"/>
                <a:ea typeface="Avenir Next"/>
                <a:cs typeface="Avenir Next"/>
              </a:defRPr>
            </a:lvl1pPr>
            <a:lvl2pPr algn="l">
              <a:defRPr sz="3600" b="1">
                <a:solidFill>
                  <a:srgbClr val="FFFFFF"/>
                </a:solidFill>
                <a:latin typeface="Avenir Next"/>
                <a:ea typeface="Avenir Next"/>
                <a:cs typeface="Avenir Next"/>
              </a:defRPr>
            </a:lvl2pPr>
            <a:lvl3pPr algn="l">
              <a:defRPr sz="3600" b="1">
                <a:solidFill>
                  <a:srgbClr val="FFFFFF"/>
                </a:solidFill>
                <a:latin typeface="Avenir Next"/>
                <a:ea typeface="Avenir Next"/>
                <a:cs typeface="Avenir Next"/>
              </a:defRPr>
            </a:lvl3pPr>
            <a:lvl4pPr algn="l">
              <a:defRPr sz="3600" b="1">
                <a:solidFill>
                  <a:srgbClr val="FFFFFF"/>
                </a:solidFill>
                <a:latin typeface="Avenir Next"/>
                <a:ea typeface="Avenir Next"/>
                <a:cs typeface="Avenir Next"/>
              </a:defRPr>
            </a:lvl4pPr>
            <a:lvl5pPr algn="l">
              <a:defRPr sz="3600" b="1">
                <a:solidFill>
                  <a:srgbClr val="FFFFFF"/>
                </a:solidFill>
                <a:latin typeface="Avenir Next"/>
                <a:ea typeface="Avenir Next"/>
                <a:cs typeface="Avenir Next"/>
              </a:defRPr>
            </a:lvl5pPr>
            <a:lvl6pPr algn="l">
              <a:defRPr sz="3600" b="1">
                <a:solidFill>
                  <a:srgbClr val="FFFFFF"/>
                </a:solidFill>
                <a:latin typeface="Avenir Next"/>
                <a:ea typeface="Avenir Next"/>
                <a:cs typeface="Avenir Next"/>
              </a:defRPr>
            </a:lvl6pPr>
            <a:lvl7pPr algn="l">
              <a:defRPr sz="3600" b="1">
                <a:solidFill>
                  <a:srgbClr val="FFFFFF"/>
                </a:solidFill>
                <a:latin typeface="Avenir Next"/>
                <a:ea typeface="Avenir Next"/>
                <a:cs typeface="Avenir Next"/>
              </a:defRPr>
            </a:lvl7pPr>
            <a:lvl8pPr algn="l">
              <a:defRPr sz="3600" b="1">
                <a:solidFill>
                  <a:srgbClr val="FFFFFF"/>
                </a:solidFill>
                <a:latin typeface="Avenir Next"/>
                <a:ea typeface="Avenir Next"/>
                <a:cs typeface="Avenir Next"/>
              </a:defRPr>
            </a:lvl8pPr>
            <a:lvl9pPr algn="l">
              <a:defRPr sz="3600" b="1">
                <a:solidFill>
                  <a:srgbClr val="FFFFFF"/>
                </a:solidFill>
                <a:latin typeface="Avenir Next"/>
                <a:ea typeface="Avenir Next"/>
                <a:cs typeface="Avenir Next"/>
              </a:defRPr>
            </a:lvl9pPr>
          </a:lstStyle>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Device-local architecture</a:t>
            </a:r>
          </a:p>
        </p:txBody>
      </p:sp>
      <p:sp>
        <p:nvSpPr>
          <p:cNvPr id="2" name="The scan stays on the phone">
            <a:extLst xmlns:a="http://schemas.openxmlformats.org/drawingml/2006/main">
              <a:ext uri="{FF2B5EF4-FFF2-40B4-BE49-F238E27FC236}">
                <a16:creationId xmlns:a16="http://schemas.microsoft.com/office/drawing/2014/main" id="{37E5A909-4327-47E8-BD2D-A5146467FF72}"/>
              </a:ext>
            </a:extLst>
          </p:cNvPr>
          <p:cNvSpPr>
            <a:spLocks xmlns:a="http://schemas.openxmlformats.org/drawingml/2006/main" noGrp="1"/>
          </p:cNvSpPr>
          <p:nvPr/>
        </p:nvSpPr>
        <p:spPr>
          <a:xfrm xmlns:a="http://schemas.openxmlformats.org/drawingml/2006/main">
            <a:off x="619125" y="132397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DCEDD"/>
                </a:solidFill>
                <a:latin typeface="Avenir Next"/>
                <a:ea typeface="Avenir Next"/>
                <a:cs typeface="Avenir Next"/>
              </a:defRPr>
            </a:defPPr>
            <a:lvl1pPr algn="l">
              <a:defRPr sz="2025" b="0">
                <a:solidFill>
                  <a:srgbClr val="BDCEDD"/>
                </a:solidFill>
                <a:latin typeface="Avenir Next"/>
                <a:ea typeface="Avenir Next"/>
                <a:cs typeface="Avenir Next"/>
              </a:defRPr>
            </a:lvl1pPr>
            <a:lvl2pPr algn="l">
              <a:defRPr sz="2025" b="0">
                <a:solidFill>
                  <a:srgbClr val="BDCEDD"/>
                </a:solidFill>
                <a:latin typeface="Avenir Next"/>
                <a:ea typeface="Avenir Next"/>
                <a:cs typeface="Avenir Next"/>
              </a:defRPr>
            </a:lvl2pPr>
            <a:lvl3pPr algn="l">
              <a:defRPr sz="2025" b="0">
                <a:solidFill>
                  <a:srgbClr val="BDCEDD"/>
                </a:solidFill>
                <a:latin typeface="Avenir Next"/>
                <a:ea typeface="Avenir Next"/>
                <a:cs typeface="Avenir Next"/>
              </a:defRPr>
            </a:lvl3pPr>
            <a:lvl4pPr algn="l">
              <a:defRPr sz="2025" b="0">
                <a:solidFill>
                  <a:srgbClr val="BDCEDD"/>
                </a:solidFill>
                <a:latin typeface="Avenir Next"/>
                <a:ea typeface="Avenir Next"/>
                <a:cs typeface="Avenir Next"/>
              </a:defRPr>
            </a:lvl4pPr>
            <a:lvl5pPr algn="l">
              <a:defRPr sz="2025" b="0">
                <a:solidFill>
                  <a:srgbClr val="BDCEDD"/>
                </a:solidFill>
                <a:latin typeface="Avenir Next"/>
                <a:ea typeface="Avenir Next"/>
                <a:cs typeface="Avenir Next"/>
              </a:defRPr>
            </a:lvl5pPr>
            <a:lvl6pPr algn="l">
              <a:defRPr sz="2025" b="0">
                <a:solidFill>
                  <a:srgbClr val="BDCEDD"/>
                </a:solidFill>
                <a:latin typeface="Avenir Next"/>
                <a:ea typeface="Avenir Next"/>
                <a:cs typeface="Avenir Next"/>
              </a:defRPr>
            </a:lvl6pPr>
            <a:lvl7pPr algn="l">
              <a:defRPr sz="2025" b="0">
                <a:solidFill>
                  <a:srgbClr val="BDCEDD"/>
                </a:solidFill>
                <a:latin typeface="Avenir Next"/>
                <a:ea typeface="Avenir Next"/>
                <a:cs typeface="Avenir Next"/>
              </a:defRPr>
            </a:lvl7pPr>
            <a:lvl8pPr algn="l">
              <a:defRPr sz="2025" b="0">
                <a:solidFill>
                  <a:srgbClr val="BDCEDD"/>
                </a:solidFill>
                <a:latin typeface="Avenir Next"/>
                <a:ea typeface="Avenir Next"/>
                <a:cs typeface="Avenir Next"/>
              </a:defRPr>
            </a:lvl8pPr>
            <a:lvl9pPr algn="l">
              <a:defRPr sz="2025" b="0">
                <a:solidFill>
                  <a:srgbClr val="BDCEDD"/>
                </a:solidFill>
                <a:latin typeface="Avenir Next"/>
                <a:ea typeface="Avenir Next"/>
                <a:cs typeface="Avenir Next"/>
              </a:defRPr>
            </a:lvl9pPr>
          </a:lstStyle>
          <a:p xmlns:a="http://schemas.openxmlformats.org/drawingml/2006/main">
            <a:pPr algn="l">
              <a:defRPr sz="2025" b="0">
                <a:solidFill>
                  <a:srgbClr val="BDCEDD"/>
                </a:solidFill>
                <a:latin typeface="Avenir Next"/>
                <a:ea typeface="Avenir Next"/>
                <a:cs typeface="Avenir Next"/>
              </a:defRPr>
            </a:pPr>
            <a:r>
              <a:rPr sz="2025" b="0">
                <a:solidFill>
                  <a:srgbClr val="BDCEDD"/>
                </a:solidFill>
                <a:latin typeface="Avenir Next"/>
                <a:ea typeface="Avenir Next"/>
                <a:cs typeface="Avenir Next"/>
              </a:rPr>
              <a:t>The scan stays on the phone</a:t>
            </a:r>
          </a:p>
        </p:txBody>
      </p:sp>
      <p:sp>
        <p:nvSpPr>
          <p:cNvPr id="3" name="Passive&#10;indicator card">
            <a:extLst xmlns:a="http://schemas.openxmlformats.org/drawingml/2006/main">
              <a:ext uri="{FF2B5EF4-FFF2-40B4-BE49-F238E27FC236}">
                <a16:creationId xmlns:a16="http://schemas.microsoft.com/office/drawing/2014/main" id="{8E4B8EEE-F1B1-45B5-B86B-D0EC34425B71}"/>
              </a:ext>
            </a:extLst>
          </p:cNvPr>
          <p:cNvSpPr>
            <a:spLocks xmlns:a="http://schemas.openxmlformats.org/drawingml/2006/main" noGrp="1"/>
          </p:cNvSpPr>
          <p:nvPr/>
        </p:nvSpPr>
        <p:spPr>
          <a:xfrm xmlns:a="http://schemas.openxmlformats.org/drawingml/2006/main">
            <a:off x="609600"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Passive</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indicator card</a:t>
            </a:r>
          </a:p>
        </p:txBody>
      </p:sp>
      <p:sp>
        <p:nvSpPr>
          <p:cNvPr id="4" name="Expo Camera&#10;3-frame capture">
            <a:extLst xmlns:a="http://schemas.openxmlformats.org/drawingml/2006/main">
              <a:ext uri="{FF2B5EF4-FFF2-40B4-BE49-F238E27FC236}">
                <a16:creationId xmlns:a16="http://schemas.microsoft.com/office/drawing/2014/main" id="{36C9655E-6D00-4038-9489-A27869A7C6EC}"/>
              </a:ext>
            </a:extLst>
          </p:cNvPr>
          <p:cNvSpPr>
            <a:spLocks xmlns:a="http://schemas.openxmlformats.org/drawingml/2006/main" noGrp="1"/>
          </p:cNvSpPr>
          <p:nvPr/>
        </p:nvSpPr>
        <p:spPr>
          <a:xfrm xmlns:a="http://schemas.openxmlformats.org/drawingml/2006/main">
            <a:off x="3533775"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Expo Camera</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3-frame capture</a:t>
            </a:r>
          </a:p>
        </p:txBody>
      </p:sp>
      <p:sp>
        <p:nvSpPr>
          <p:cNvPr id="5" name="On-device OpenCV&#10;CIELAB + ΔE00">
            <a:extLst xmlns:a="http://schemas.openxmlformats.org/drawingml/2006/main">
              <a:ext uri="{FF2B5EF4-FFF2-40B4-BE49-F238E27FC236}">
                <a16:creationId xmlns:a16="http://schemas.microsoft.com/office/drawing/2014/main" id="{EEF497EE-C19C-4B18-8DCA-41DAFF547939}"/>
              </a:ext>
            </a:extLst>
          </p:cNvPr>
          <p:cNvSpPr>
            <a:spLocks xmlns:a="http://schemas.openxmlformats.org/drawingml/2006/main" noGrp="1"/>
          </p:cNvSpPr>
          <p:nvPr/>
        </p:nvSpPr>
        <p:spPr>
          <a:xfrm xmlns:a="http://schemas.openxmlformats.org/drawingml/2006/main">
            <a:off x="6457950"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On-device OpenCV</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CIELAB + ΔE00</a:t>
            </a:r>
          </a:p>
        </p:txBody>
      </p:sp>
      <p:sp>
        <p:nvSpPr>
          <p:cNvPr id="6" name="Validity +&#10;colour rules">
            <a:extLst xmlns:a="http://schemas.openxmlformats.org/drawingml/2006/main">
              <a:ext uri="{FF2B5EF4-FFF2-40B4-BE49-F238E27FC236}">
                <a16:creationId xmlns:a16="http://schemas.microsoft.com/office/drawing/2014/main" id="{69F37E08-9128-4A35-B576-8ABD6B19DF98}"/>
              </a:ext>
            </a:extLst>
          </p:cNvPr>
          <p:cNvSpPr>
            <a:spLocks xmlns:a="http://schemas.openxmlformats.org/drawingml/2006/main" noGrp="1"/>
          </p:cNvSpPr>
          <p:nvPr/>
        </p:nvSpPr>
        <p:spPr>
          <a:xfrm xmlns:a="http://schemas.openxmlformats.org/drawingml/2006/main">
            <a:off x="9382125" y="2238375"/>
            <a:ext cx="2209800" cy="1009650"/>
          </a:xfrm>
          <a:prstGeom xmlns:a="http://schemas.openxmlformats.org/drawingml/2006/main" prst="roundRect">
            <a:avLst>
              <a:gd name="adj" fmla="val 7547"/>
            </a:avLst>
          </a:prstGeom>
          <a:solidFill xmlns:a="http://schemas.openxmlformats.org/drawingml/2006/main">
            <a:srgbClr val="2363DA"/>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Validity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colour rules</a:t>
            </a:r>
          </a:p>
        </p:txBody>
      </p:sp>
      <p:sp>
        <p:nvSpPr>
          <p:cNvPr id="10" name="Result +&#10;safety text">
            <a:extLst xmlns:a="http://schemas.openxmlformats.org/drawingml/2006/main">
              <a:ext uri="{FF2B5EF4-FFF2-40B4-BE49-F238E27FC236}">
                <a16:creationId xmlns:a16="http://schemas.microsoft.com/office/drawing/2014/main" id="{7E044241-8478-4EE2-BCB7-8687EEB2F12A}"/>
              </a:ext>
            </a:extLst>
          </p:cNvPr>
          <p:cNvSpPr>
            <a:spLocks xmlns:a="http://schemas.openxmlformats.org/drawingml/2006/main" noGrp="1"/>
          </p:cNvSpPr>
          <p:nvPr/>
        </p:nvSpPr>
        <p:spPr>
          <a:xfrm xmlns:a="http://schemas.openxmlformats.org/drawingml/2006/main">
            <a:off x="9382125" y="42576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Result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safety text</a:t>
            </a:r>
          </a:p>
        </p:txBody>
      </p:sp>
      <p:sp>
        <p:nvSpPr>
          <p:cNvPr id="11" name="SQLite&#10;Local scan history">
            <a:extLst xmlns:a="http://schemas.openxmlformats.org/drawingml/2006/main">
              <a:ext uri="{FF2B5EF4-FFF2-40B4-BE49-F238E27FC236}">
                <a16:creationId xmlns:a16="http://schemas.microsoft.com/office/drawing/2014/main" id="{4473AF37-B296-4692-8E93-43A2E96D4F4B}"/>
              </a:ext>
            </a:extLst>
          </p:cNvPr>
          <p:cNvSpPr>
            <a:spLocks xmlns:a="http://schemas.openxmlformats.org/drawingml/2006/main" noGrp="1"/>
          </p:cNvSpPr>
          <p:nvPr/>
        </p:nvSpPr>
        <p:spPr>
          <a:xfrm xmlns:a="http://schemas.openxmlformats.org/drawingml/2006/main">
            <a:off x="6457950" y="42576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SQLite</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Local scan history</a:t>
            </a:r>
          </a:p>
        </p:txBody>
      </p:sp>
      <p:sp>
        <p:nvSpPr>
          <p:cNvPr id="14" name="Works without a network">
            <a:extLst xmlns:a="http://schemas.openxmlformats.org/drawingml/2006/main">
              <a:ext uri="{FF2B5EF4-FFF2-40B4-BE49-F238E27FC236}">
                <a16:creationId xmlns:a16="http://schemas.microsoft.com/office/drawing/2014/main" id="{3B9BB1BB-25EC-4456-95CC-D223368A4392}"/>
              </a:ext>
            </a:extLst>
          </p:cNvPr>
          <p:cNvSpPr>
            <a:spLocks xmlns:a="http://schemas.openxmlformats.org/drawingml/2006/main" noGrp="1"/>
          </p:cNvSpPr>
          <p:nvPr/>
        </p:nvSpPr>
        <p:spPr>
          <a:xfrm xmlns:a="http://schemas.openxmlformats.org/drawingml/2006/main">
            <a:off x="609600" y="41814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venir Next"/>
                <a:ea typeface="Avenir Next"/>
                <a:cs typeface="Avenir Next"/>
              </a:defRPr>
            </a:defPPr>
            <a:lvl1pPr algn="l">
              <a:defRPr sz="2175" b="1">
                <a:solidFill>
                  <a:srgbClr val="FFFFFF"/>
                </a:solidFill>
                <a:latin typeface="Avenir Next"/>
                <a:ea typeface="Avenir Next"/>
                <a:cs typeface="Avenir Next"/>
              </a:defRPr>
            </a:lvl1pPr>
            <a:lvl2pPr algn="l">
              <a:defRPr sz="2175" b="1">
                <a:solidFill>
                  <a:srgbClr val="FFFFFF"/>
                </a:solidFill>
                <a:latin typeface="Avenir Next"/>
                <a:ea typeface="Avenir Next"/>
                <a:cs typeface="Avenir Next"/>
              </a:defRPr>
            </a:lvl2pPr>
            <a:lvl3pPr algn="l">
              <a:defRPr sz="2175" b="1">
                <a:solidFill>
                  <a:srgbClr val="FFFFFF"/>
                </a:solidFill>
                <a:latin typeface="Avenir Next"/>
                <a:ea typeface="Avenir Next"/>
                <a:cs typeface="Avenir Next"/>
              </a:defRPr>
            </a:lvl3pPr>
            <a:lvl4pPr algn="l">
              <a:defRPr sz="2175" b="1">
                <a:solidFill>
                  <a:srgbClr val="FFFFFF"/>
                </a:solidFill>
                <a:latin typeface="Avenir Next"/>
                <a:ea typeface="Avenir Next"/>
                <a:cs typeface="Avenir Next"/>
              </a:defRPr>
            </a:lvl4pPr>
            <a:lvl5pPr algn="l">
              <a:defRPr sz="2175" b="1">
                <a:solidFill>
                  <a:srgbClr val="FFFFFF"/>
                </a:solidFill>
                <a:latin typeface="Avenir Next"/>
                <a:ea typeface="Avenir Next"/>
                <a:cs typeface="Avenir Next"/>
              </a:defRPr>
            </a:lvl5pPr>
            <a:lvl6pPr algn="l">
              <a:defRPr sz="2175" b="1">
                <a:solidFill>
                  <a:srgbClr val="FFFFFF"/>
                </a:solidFill>
                <a:latin typeface="Avenir Next"/>
                <a:ea typeface="Avenir Next"/>
                <a:cs typeface="Avenir Next"/>
              </a:defRPr>
            </a:lvl6pPr>
            <a:lvl7pPr algn="l">
              <a:defRPr sz="2175" b="1">
                <a:solidFill>
                  <a:srgbClr val="FFFFFF"/>
                </a:solidFill>
                <a:latin typeface="Avenir Next"/>
                <a:ea typeface="Avenir Next"/>
                <a:cs typeface="Avenir Next"/>
              </a:defRPr>
            </a:lvl7pPr>
            <a:lvl8pPr algn="l">
              <a:defRPr sz="2175" b="1">
                <a:solidFill>
                  <a:srgbClr val="FFFFFF"/>
                </a:solidFill>
                <a:latin typeface="Avenir Next"/>
                <a:ea typeface="Avenir Next"/>
                <a:cs typeface="Avenir Next"/>
              </a:defRPr>
            </a:lvl8pPr>
            <a:lvl9pPr algn="l">
              <a:defRPr sz="2175" b="1">
                <a:solidFill>
                  <a:srgbClr val="FFFFFF"/>
                </a:solidFill>
                <a:latin typeface="Avenir Next"/>
                <a:ea typeface="Avenir Next"/>
                <a:cs typeface="Avenir Next"/>
              </a:defRPr>
            </a:lvl9pPr>
          </a:lstStyle>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Works without a network</a:t>
            </a:r>
          </a:p>
        </p:txBody>
      </p:sp>
      <p:sp>
        <p:nvSpPr>
          <p:cNvPr id="15" name="Core guidance is bundled in five languages. No trained ML model is req">
            <a:extLst xmlns:a="http://schemas.openxmlformats.org/drawingml/2006/main">
              <a:ext uri="{FF2B5EF4-FFF2-40B4-BE49-F238E27FC236}">
                <a16:creationId xmlns:a16="http://schemas.microsoft.com/office/drawing/2014/main" id="{6CD03C4D-ADDF-4E63-8E69-E3401ECA99E1}"/>
              </a:ext>
            </a:extLst>
          </p:cNvPr>
          <p:cNvSpPr>
            <a:spLocks xmlns:a="http://schemas.openxmlformats.org/drawingml/2006/main" noGrp="1"/>
          </p:cNvSpPr>
          <p:nvPr/>
        </p:nvSpPr>
        <p:spPr>
          <a:xfrm xmlns:a="http://schemas.openxmlformats.org/drawingml/2006/main">
            <a:off x="609600" y="4724400"/>
            <a:ext cx="52673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EDD"/>
                </a:solidFill>
                <a:latin typeface="Avenir Next"/>
                <a:ea typeface="Avenir Next"/>
                <a:cs typeface="Avenir Next"/>
              </a:defRPr>
            </a:defPPr>
            <a:lvl1pPr algn="l">
              <a:defRPr sz="1800" b="0">
                <a:solidFill>
                  <a:srgbClr val="BDCEDD"/>
                </a:solidFill>
                <a:latin typeface="Avenir Next"/>
                <a:ea typeface="Avenir Next"/>
                <a:cs typeface="Avenir Next"/>
              </a:defRPr>
            </a:lvl1pPr>
            <a:lvl2pPr algn="l">
              <a:defRPr sz="1800" b="0">
                <a:solidFill>
                  <a:srgbClr val="BDCEDD"/>
                </a:solidFill>
                <a:latin typeface="Avenir Next"/>
                <a:ea typeface="Avenir Next"/>
                <a:cs typeface="Avenir Next"/>
              </a:defRPr>
            </a:lvl2pPr>
            <a:lvl3pPr algn="l">
              <a:defRPr sz="1800" b="0">
                <a:solidFill>
                  <a:srgbClr val="BDCEDD"/>
                </a:solidFill>
                <a:latin typeface="Avenir Next"/>
                <a:ea typeface="Avenir Next"/>
                <a:cs typeface="Avenir Next"/>
              </a:defRPr>
            </a:lvl3pPr>
            <a:lvl4pPr algn="l">
              <a:defRPr sz="1800" b="0">
                <a:solidFill>
                  <a:srgbClr val="BDCEDD"/>
                </a:solidFill>
                <a:latin typeface="Avenir Next"/>
                <a:ea typeface="Avenir Next"/>
                <a:cs typeface="Avenir Next"/>
              </a:defRPr>
            </a:lvl4pPr>
            <a:lvl5pPr algn="l">
              <a:defRPr sz="1800" b="0">
                <a:solidFill>
                  <a:srgbClr val="BDCEDD"/>
                </a:solidFill>
                <a:latin typeface="Avenir Next"/>
                <a:ea typeface="Avenir Next"/>
                <a:cs typeface="Avenir Next"/>
              </a:defRPr>
            </a:lvl5pPr>
            <a:lvl6pPr algn="l">
              <a:defRPr sz="1800" b="0">
                <a:solidFill>
                  <a:srgbClr val="BDCEDD"/>
                </a:solidFill>
                <a:latin typeface="Avenir Next"/>
                <a:ea typeface="Avenir Next"/>
                <a:cs typeface="Avenir Next"/>
              </a:defRPr>
            </a:lvl6pPr>
            <a:lvl7pPr algn="l">
              <a:defRPr sz="1800" b="0">
                <a:solidFill>
                  <a:srgbClr val="BDCEDD"/>
                </a:solidFill>
                <a:latin typeface="Avenir Next"/>
                <a:ea typeface="Avenir Next"/>
                <a:cs typeface="Avenir Next"/>
              </a:defRPr>
            </a:lvl7pPr>
            <a:lvl8pPr algn="l">
              <a:defRPr sz="1800" b="0">
                <a:solidFill>
                  <a:srgbClr val="BDCEDD"/>
                </a:solidFill>
                <a:latin typeface="Avenir Next"/>
                <a:ea typeface="Avenir Next"/>
                <a:cs typeface="Avenir Next"/>
              </a:defRPr>
            </a:lvl8pPr>
            <a:lvl9pPr algn="l">
              <a:defRPr sz="1800" b="0">
                <a:solidFill>
                  <a:srgbClr val="BDCEDD"/>
                </a:solidFill>
                <a:latin typeface="Avenir Next"/>
                <a:ea typeface="Avenir Next"/>
                <a:cs typeface="Avenir Next"/>
              </a:defRPr>
            </a:lvl9pPr>
          </a:lstStyle>
          <a:p xmlns:a="http://schemas.openxmlformats.org/drawingml/2006/main">
            <a:pPr algn="l">
              <a:defRPr sz="1800" b="0">
                <a:solidFill>
                  <a:srgbClr val="BDCEDD"/>
                </a:solidFill>
                <a:latin typeface="Avenir Next"/>
                <a:ea typeface="Avenir Next"/>
                <a:cs typeface="Avenir Next"/>
              </a:defRPr>
            </a:pPr>
            <a:r>
              <a:rPr sz="1800" b="0">
                <a:solidFill>
                  <a:srgbClr val="BDCEDD"/>
                </a:solidFill>
                <a:latin typeface="Avenir Next"/>
                <a:ea typeface="Avenir Next"/>
                <a:cs typeface="Avenir Next"/>
              </a:rPr>
              <a:t>Core guidance is bundled in five languages.</a:t>
            </a:r>
          </a:p>
          <a:p xmlns:a="http://schemas.openxmlformats.org/drawingml/2006/main">
            <a:pPr algn="l">
              <a:defRPr sz="1800" b="0">
                <a:solidFill>
                  <a:srgbClr val="BDCEDD"/>
                </a:solidFill>
                <a:latin typeface="Avenir Next"/>
                <a:ea typeface="Avenir Next"/>
                <a:cs typeface="Avenir Next"/>
              </a:defRPr>
            </a:pPr>
            <a:r>
              <a:rPr sz="1800" b="0">
                <a:solidFill>
                  <a:srgbClr val="BDCEDD"/>
                </a:solidFill>
                <a:latin typeface="Avenir Next"/>
                <a:ea typeface="Avenir Next"/>
                <a:cs typeface="Avenir Next"/>
              </a:rPr>
              <a:t>No trained ML model is required for scanning.</a:t>
            </a:r>
          </a:p>
        </p:txBody>
      </p:sp>
      <p:sp>
        <p:nvSpPr>
          <p:cNvPr id="16" name="Current mobile stack">
            <a:extLst xmlns:a="http://schemas.openxmlformats.org/drawingml/2006/main">
              <a:ext uri="{FF2B5EF4-FFF2-40B4-BE49-F238E27FC236}">
                <a16:creationId xmlns:a16="http://schemas.microsoft.com/office/drawing/2014/main" id="{66D7074A-A0C8-4378-AC70-5C3E4EE64050}"/>
              </a:ext>
            </a:extLst>
          </p:cNvPr>
          <p:cNvSpPr>
            <a:spLocks xmlns:a="http://schemas.openxmlformats.org/drawingml/2006/main" noGrp="1"/>
          </p:cNvSpPr>
          <p:nvPr/>
        </p:nvSpPr>
        <p:spPr>
          <a:xfrm xmlns:a="http://schemas.openxmlformats.org/drawingml/2006/main">
            <a:off x="609600" y="5772150"/>
            <a:ext cx="2809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E8B563"/>
                </a:solidFill>
                <a:latin typeface="Avenir Next"/>
                <a:ea typeface="Avenir Next"/>
                <a:cs typeface="Avenir Next"/>
              </a:defRPr>
            </a:defPPr>
            <a:lvl1pPr algn="l">
              <a:defRPr sz="1425" b="1">
                <a:solidFill>
                  <a:srgbClr val="E8B563"/>
                </a:solidFill>
                <a:latin typeface="Avenir Next"/>
                <a:ea typeface="Avenir Next"/>
                <a:cs typeface="Avenir Next"/>
              </a:defRPr>
            </a:lvl1pPr>
            <a:lvl2pPr algn="l">
              <a:defRPr sz="1425" b="1">
                <a:solidFill>
                  <a:srgbClr val="E8B563"/>
                </a:solidFill>
                <a:latin typeface="Avenir Next"/>
                <a:ea typeface="Avenir Next"/>
                <a:cs typeface="Avenir Next"/>
              </a:defRPr>
            </a:lvl2pPr>
            <a:lvl3pPr algn="l">
              <a:defRPr sz="1425" b="1">
                <a:solidFill>
                  <a:srgbClr val="E8B563"/>
                </a:solidFill>
                <a:latin typeface="Avenir Next"/>
                <a:ea typeface="Avenir Next"/>
                <a:cs typeface="Avenir Next"/>
              </a:defRPr>
            </a:lvl3pPr>
            <a:lvl4pPr algn="l">
              <a:defRPr sz="1425" b="1">
                <a:solidFill>
                  <a:srgbClr val="E8B563"/>
                </a:solidFill>
                <a:latin typeface="Avenir Next"/>
                <a:ea typeface="Avenir Next"/>
                <a:cs typeface="Avenir Next"/>
              </a:defRPr>
            </a:lvl4pPr>
            <a:lvl5pPr algn="l">
              <a:defRPr sz="1425" b="1">
                <a:solidFill>
                  <a:srgbClr val="E8B563"/>
                </a:solidFill>
                <a:latin typeface="Avenir Next"/>
                <a:ea typeface="Avenir Next"/>
                <a:cs typeface="Avenir Next"/>
              </a:defRPr>
            </a:lvl5pPr>
            <a:lvl6pPr algn="l">
              <a:defRPr sz="1425" b="1">
                <a:solidFill>
                  <a:srgbClr val="E8B563"/>
                </a:solidFill>
                <a:latin typeface="Avenir Next"/>
                <a:ea typeface="Avenir Next"/>
                <a:cs typeface="Avenir Next"/>
              </a:defRPr>
            </a:lvl6pPr>
            <a:lvl7pPr algn="l">
              <a:defRPr sz="1425" b="1">
                <a:solidFill>
                  <a:srgbClr val="E8B563"/>
                </a:solidFill>
                <a:latin typeface="Avenir Next"/>
                <a:ea typeface="Avenir Next"/>
                <a:cs typeface="Avenir Next"/>
              </a:defRPr>
            </a:lvl7pPr>
            <a:lvl8pPr algn="l">
              <a:defRPr sz="1425" b="1">
                <a:solidFill>
                  <a:srgbClr val="E8B563"/>
                </a:solidFill>
                <a:latin typeface="Avenir Next"/>
                <a:ea typeface="Avenir Next"/>
                <a:cs typeface="Avenir Next"/>
              </a:defRPr>
            </a:lvl8pPr>
            <a:lvl9pPr algn="l">
              <a:defRPr sz="1425" b="1">
                <a:solidFill>
                  <a:srgbClr val="E8B563"/>
                </a:solidFill>
                <a:latin typeface="Avenir Next"/>
                <a:ea typeface="Avenir Next"/>
                <a:cs typeface="Avenir Next"/>
              </a:defRPr>
            </a:lvl9pPr>
          </a:lstStyle>
          <a:p xmlns:a="http://schemas.openxmlformats.org/drawingml/2006/main">
            <a:pPr algn="l">
              <a:defRPr sz="1425" b="1">
                <a:solidFill>
                  <a:srgbClr val="E8B563"/>
                </a:solidFill>
                <a:latin typeface="Avenir Next"/>
                <a:ea typeface="Avenir Next"/>
                <a:cs typeface="Avenir Next"/>
              </a:defRPr>
            </a:pPr>
            <a:r>
              <a:rPr sz="1425" b="1">
                <a:solidFill>
                  <a:srgbClr val="E8B563"/>
                </a:solidFill>
                <a:latin typeface="Avenir Next"/>
                <a:ea typeface="Avenir Next"/>
                <a:cs typeface="Avenir Next"/>
              </a:rPr>
              <a:t>Current mobile stack</a:t>
            </a:r>
          </a:p>
        </p:txBody>
      </p:sp>
      <p:sp>
        <p:nvSpPr>
          <p:cNvPr id="17" name="React Native / Expo SDK 57 / OpenCV / SQLite">
            <a:extLst xmlns:a="http://schemas.openxmlformats.org/drawingml/2006/main">
              <a:ext uri="{FF2B5EF4-FFF2-40B4-BE49-F238E27FC236}">
                <a16:creationId xmlns:a16="http://schemas.microsoft.com/office/drawing/2014/main" id="{718A86A6-46F3-47F8-9F69-3C0B35FDD536}"/>
              </a:ext>
            </a:extLst>
          </p:cNvPr>
          <p:cNvSpPr>
            <a:spLocks xmlns:a="http://schemas.openxmlformats.org/drawingml/2006/main" noGrp="1"/>
          </p:cNvSpPr>
          <p:nvPr/>
        </p:nvSpPr>
        <p:spPr>
          <a:xfrm xmlns:a="http://schemas.openxmlformats.org/drawingml/2006/main">
            <a:off x="3429000" y="57721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FFFFF"/>
                </a:solidFill>
                <a:latin typeface="Avenir Next"/>
                <a:ea typeface="Avenir Next"/>
                <a:cs typeface="Avenir Next"/>
              </a:defRPr>
            </a:defPPr>
            <a:lvl1pPr algn="l">
              <a:defRPr sz="1650" b="0">
                <a:solidFill>
                  <a:srgbClr val="FFFFFF"/>
                </a:solidFill>
                <a:latin typeface="Avenir Next"/>
                <a:ea typeface="Avenir Next"/>
                <a:cs typeface="Avenir Next"/>
              </a:defRPr>
            </a:lvl1pPr>
            <a:lvl2pPr algn="l">
              <a:defRPr sz="1650" b="0">
                <a:solidFill>
                  <a:srgbClr val="FFFFFF"/>
                </a:solidFill>
                <a:latin typeface="Avenir Next"/>
                <a:ea typeface="Avenir Next"/>
                <a:cs typeface="Avenir Next"/>
              </a:defRPr>
            </a:lvl2pPr>
            <a:lvl3pPr algn="l">
              <a:defRPr sz="1650" b="0">
                <a:solidFill>
                  <a:srgbClr val="FFFFFF"/>
                </a:solidFill>
                <a:latin typeface="Avenir Next"/>
                <a:ea typeface="Avenir Next"/>
                <a:cs typeface="Avenir Next"/>
              </a:defRPr>
            </a:lvl3pPr>
            <a:lvl4pPr algn="l">
              <a:defRPr sz="1650" b="0">
                <a:solidFill>
                  <a:srgbClr val="FFFFFF"/>
                </a:solidFill>
                <a:latin typeface="Avenir Next"/>
                <a:ea typeface="Avenir Next"/>
                <a:cs typeface="Avenir Next"/>
              </a:defRPr>
            </a:lvl4pPr>
            <a:lvl5pPr algn="l">
              <a:defRPr sz="1650" b="0">
                <a:solidFill>
                  <a:srgbClr val="FFFFFF"/>
                </a:solidFill>
                <a:latin typeface="Avenir Next"/>
                <a:ea typeface="Avenir Next"/>
                <a:cs typeface="Avenir Next"/>
              </a:defRPr>
            </a:lvl5pPr>
            <a:lvl6pPr algn="l">
              <a:defRPr sz="1650" b="0">
                <a:solidFill>
                  <a:srgbClr val="FFFFFF"/>
                </a:solidFill>
                <a:latin typeface="Avenir Next"/>
                <a:ea typeface="Avenir Next"/>
                <a:cs typeface="Avenir Next"/>
              </a:defRPr>
            </a:lvl6pPr>
            <a:lvl7pPr algn="l">
              <a:defRPr sz="1650" b="0">
                <a:solidFill>
                  <a:srgbClr val="FFFFFF"/>
                </a:solidFill>
                <a:latin typeface="Avenir Next"/>
                <a:ea typeface="Avenir Next"/>
                <a:cs typeface="Avenir Next"/>
              </a:defRPr>
            </a:lvl7pPr>
            <a:lvl8pPr algn="l">
              <a:defRPr sz="1650" b="0">
                <a:solidFill>
                  <a:srgbClr val="FFFFFF"/>
                </a:solidFill>
                <a:latin typeface="Avenir Next"/>
                <a:ea typeface="Avenir Next"/>
                <a:cs typeface="Avenir Next"/>
              </a:defRPr>
            </a:lvl8pPr>
            <a:lvl9pPr algn="l">
              <a:defRPr sz="1650" b="0">
                <a:solidFill>
                  <a:srgbClr val="FFFFFF"/>
                </a:solidFill>
                <a:latin typeface="Avenir Next"/>
                <a:ea typeface="Avenir Next"/>
                <a:cs typeface="Avenir Next"/>
              </a:defRPr>
            </a:lvl9pPr>
          </a:lstStyle>
          <a:p xmlns:a="http://schemas.openxmlformats.org/drawingml/2006/main">
            <a:pPr algn="l">
              <a:defRPr sz="1650" b="0">
                <a:solidFill>
                  <a:srgbClr val="FFFFFF"/>
                </a:solidFill>
                <a:latin typeface="Avenir Next"/>
                <a:ea typeface="Avenir Next"/>
                <a:cs typeface="Avenir Next"/>
              </a:defRPr>
            </a:pPr>
            <a:r>
              <a:rPr sz="1650" b="0">
                <a:solidFill>
                  <a:srgbClr val="FFFFFF"/>
                </a:solidFill>
                <a:latin typeface="Avenir Next"/>
                <a:ea typeface="Avenir Next"/>
                <a:cs typeface="Avenir Next"/>
              </a:rPr>
              <a:t>React Native / Expo SDK 57 / OpenCV / SQLite</a:t>
            </a:r>
          </a:p>
        </p:txBody>
      </p:sp>
      <p:sp>
        <p:nvSpPr>
          <p:cNvPr id="18" name="[3] Repository architecture and implemented scan flow. [4] Expo SDK 57">
            <a:extLst xmlns:a="http://schemas.openxmlformats.org/drawingml/2006/main">
              <a:ext uri="{FF2B5EF4-FFF2-40B4-BE49-F238E27FC236}">
                <a16:creationId xmlns:a16="http://schemas.microsoft.com/office/drawing/2014/main" id="{5F55E4A5-230A-4D39-BE25-EAFC853BD8C1}"/>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[3] Repository architecture and implemented scan flow. [4] Expo SDK 57 reference.</a:t>
            </a:r>
          </a:p>
        </p:txBody>
      </p:sp>
      <p:sp>
        <p:nvSpPr>
          <p:cNvPr id="19" name="04">
            <a:extLst xmlns:a="http://schemas.openxmlformats.org/drawingml/2006/main">
              <a:ext uri="{FF2B5EF4-FFF2-40B4-BE49-F238E27FC236}">
                <a16:creationId xmlns:a16="http://schemas.microsoft.com/office/drawing/2014/main" id="{81E78297-664A-43F7-9B67-443BFB83FF16}"/>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04</a:t>
            </a:r>
          </a:p>
        </p:txBody>
      </p:sp>
    </p:spTree>
    <p:extLst>
      <p:ext uri="{BB962C8B-B14F-4D97-AF65-F5344CB8AC3E}">
        <p14:creationId xmlns:p14="http://schemas.microsoft.com/office/powerpoint/2010/main" val="1787328426"/>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ADE7D29-8EF5-49E4-B768-AAAC4FCD153F}"/>
              </a:ext>
            </a:extLst>
          </p:cNvPr>
          <p:cNvCxnSpPr>
            <a:stCxn xmlns:a="http://schemas.openxmlformats.org/drawingml/2006/main" id="5" idx="2"/>
            <a:endCxn xmlns:a="http://schemas.openxmlformats.org/drawingml/2006/main" id="9" idx="0"/>
          </p:cNvCxnSpPr>
          <p:nvPr/>
        </p:nvCxnSpPr>
        <p:spPr>
          <a:xfrm xmlns:a="http://schemas.openxmlformats.org/drawingml/2006/main">
            <a:off x="7138988" y="2505075"/>
            <a:ext cx="0" cy="314325"/>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3" name="">
            <a:extLst xmlns:a="http://schemas.openxmlformats.org/drawingml/2006/main">
              <a:ext uri="{FF2B5EF4-FFF2-40B4-BE49-F238E27FC236}">
                <a16:creationId xmlns:a16="http://schemas.microsoft.com/office/drawing/2014/main" id="{908AEFE3-2D38-4125-9DAD-AE5C6E50C9A8}"/>
              </a:ext>
            </a:extLst>
          </p:cNvPr>
          <p:cNvCxnSpPr>
            <a:stCxn xmlns:a="http://schemas.openxmlformats.org/drawingml/2006/main" id="3" idx="2"/>
            <a:endCxn xmlns:a="http://schemas.openxmlformats.org/drawingml/2006/main" id="8" idx="0"/>
          </p:cNvCxnSpPr>
          <p:nvPr/>
        </p:nvCxnSpPr>
        <p:spPr>
          <a:xfrm xmlns:a="http://schemas.openxmlformats.org/drawingml/2006/main">
            <a:off x="4014788" y="2505075"/>
            <a:ext cx="0" cy="314325"/>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2" name="">
            <a:extLst xmlns:a="http://schemas.openxmlformats.org/drawingml/2006/main">
              <a:ext uri="{FF2B5EF4-FFF2-40B4-BE49-F238E27FC236}">
                <a16:creationId xmlns:a16="http://schemas.microsoft.com/office/drawing/2014/main" id="{9A30EE7D-8967-4119-A512-B6A5B0CD28E7}"/>
              </a:ext>
            </a:extLst>
          </p:cNvPr>
          <p:cNvCxnSpPr>
            <a:stCxn xmlns:a="http://schemas.openxmlformats.org/drawingml/2006/main" id="5" idx="3"/>
            <a:endCxn xmlns:a="http://schemas.openxmlformats.org/drawingml/2006/main" id="7" idx="1"/>
          </p:cNvCxnSpPr>
          <p:nvPr/>
        </p:nvCxnSpPr>
        <p:spPr>
          <a:xfrm xmlns:a="http://schemas.openxmlformats.org/drawingml/2006/main">
            <a:off x="7981950" y="1943100"/>
            <a:ext cx="1276350" cy="0"/>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1" name="">
            <a:extLst xmlns:a="http://schemas.openxmlformats.org/drawingml/2006/main">
              <a:ext uri="{FF2B5EF4-FFF2-40B4-BE49-F238E27FC236}">
                <a16:creationId xmlns:a16="http://schemas.microsoft.com/office/drawing/2014/main" id="{B521763D-9811-468C-8B3B-3A5616245C5C}"/>
              </a:ext>
            </a:extLst>
          </p:cNvPr>
          <p:cNvCxnSpPr>
            <a:stCxn xmlns:a="http://schemas.openxmlformats.org/drawingml/2006/main" id="3" idx="3"/>
            <a:endCxn xmlns:a="http://schemas.openxmlformats.org/drawingml/2006/main" id="5" idx="1"/>
          </p:cNvCxnSpPr>
          <p:nvPr/>
        </p:nvCxnSpPr>
        <p:spPr>
          <a:xfrm xmlns:a="http://schemas.openxmlformats.org/drawingml/2006/main">
            <a:off x="4857750" y="1943100"/>
            <a:ext cx="1438275" cy="0"/>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0" name="">
            <a:extLst xmlns:a="http://schemas.openxmlformats.org/drawingml/2006/main">
              <a:ext uri="{FF2B5EF4-FFF2-40B4-BE49-F238E27FC236}">
                <a16:creationId xmlns:a16="http://schemas.microsoft.com/office/drawing/2014/main" id="{315745F6-6670-4450-8360-DFCEFEBBBD3B}"/>
              </a:ext>
            </a:extLst>
          </p:cNvPr>
          <p:cNvCxnSpPr>
            <a:stCxn xmlns:a="http://schemas.openxmlformats.org/drawingml/2006/main" id="2" idx="3"/>
            <a:endCxn xmlns:a="http://schemas.openxmlformats.org/drawingml/2006/main" id="3" idx="1"/>
          </p:cNvCxnSpPr>
          <p:nvPr/>
        </p:nvCxnSpPr>
        <p:spPr>
          <a:xfrm xmlns:a="http://schemas.openxmlformats.org/drawingml/2006/main">
            <a:off x="2514600" y="1943100"/>
            <a:ext cx="657225" cy="0"/>
          </a:xfrm>
          <a:prstGeom xmlns:a="http://schemas.openxmlformats.org/drawingml/2006/main" prst="straightConnector1">
            <a:avLst/>
          </a:prstGeom>
          <a:ln xmlns:a="http://schemas.openxmlformats.org/drawingml/2006/main" w="19050">
            <a:solidFill>
              <a:srgbClr val="526574"/>
            </a:solidFill>
            <a:tailEnd type="triangle" w="sm" len="sm"/>
          </a:ln>
        </p:spPr>
      </p:cxnSp>
      <p:sp>
        <p:nvSpPr>
          <p:cNvPr id="28" name="Scan decisions and evidence limits">
            <a:extLst xmlns:a="http://schemas.openxmlformats.org/drawingml/2006/main">
              <a:ext uri="{FF2B5EF4-FFF2-40B4-BE49-F238E27FC236}">
                <a16:creationId xmlns:a16="http://schemas.microsoft.com/office/drawing/2014/main" id="{BF20E29F-902D-4646-BD1B-C120AA5EB14E}"/>
              </a:ext>
            </a:extLst>
          </p:cNvPr>
          <p:cNvSpPr>
            <a:spLocks xmlns:a="http://schemas.openxmlformats.org/drawingml/2006/main" noGrp="1"/>
          </p:cNvSpPr>
          <p:nvPr/>
        </p:nvSpPr>
        <p:spPr>
          <a:xfrm xmlns:a="http://schemas.openxmlformats.org/drawingml/2006/main">
            <a:off x="609600" y="5238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43"/>
                </a:solidFill>
                <a:latin typeface="Avenir Next"/>
                <a:ea typeface="Avenir Next"/>
                <a:cs typeface="Avenir Next"/>
              </a:defRPr>
            </a:defPPr>
            <a:lvl1pPr algn="l">
              <a:defRPr sz="3450" b="1">
                <a:solidFill>
                  <a:srgbClr val="142B43"/>
                </a:solidFill>
                <a:latin typeface="Avenir Next"/>
                <a:ea typeface="Avenir Next"/>
                <a:cs typeface="Avenir Next"/>
              </a:defRPr>
            </a:lvl1pPr>
            <a:lvl2pPr algn="l">
              <a:defRPr sz="3450" b="1">
                <a:solidFill>
                  <a:srgbClr val="142B43"/>
                </a:solidFill>
                <a:latin typeface="Avenir Next"/>
                <a:ea typeface="Avenir Next"/>
                <a:cs typeface="Avenir Next"/>
              </a:defRPr>
            </a:lvl2pPr>
            <a:lvl3pPr algn="l">
              <a:defRPr sz="3450" b="1">
                <a:solidFill>
                  <a:srgbClr val="142B43"/>
                </a:solidFill>
                <a:latin typeface="Avenir Next"/>
                <a:ea typeface="Avenir Next"/>
                <a:cs typeface="Avenir Next"/>
              </a:defRPr>
            </a:lvl3pPr>
            <a:lvl4pPr algn="l">
              <a:defRPr sz="3450" b="1">
                <a:solidFill>
                  <a:srgbClr val="142B43"/>
                </a:solidFill>
                <a:latin typeface="Avenir Next"/>
                <a:ea typeface="Avenir Next"/>
                <a:cs typeface="Avenir Next"/>
              </a:defRPr>
            </a:lvl4pPr>
            <a:lvl5pPr algn="l">
              <a:defRPr sz="3450" b="1">
                <a:solidFill>
                  <a:srgbClr val="142B43"/>
                </a:solidFill>
                <a:latin typeface="Avenir Next"/>
                <a:ea typeface="Avenir Next"/>
                <a:cs typeface="Avenir Next"/>
              </a:defRPr>
            </a:lvl5pPr>
            <a:lvl6pPr algn="l">
              <a:defRPr sz="3450" b="1">
                <a:solidFill>
                  <a:srgbClr val="142B43"/>
                </a:solidFill>
                <a:latin typeface="Avenir Next"/>
                <a:ea typeface="Avenir Next"/>
                <a:cs typeface="Avenir Next"/>
              </a:defRPr>
            </a:lvl6pPr>
            <a:lvl7pPr algn="l">
              <a:defRPr sz="3450" b="1">
                <a:solidFill>
                  <a:srgbClr val="142B43"/>
                </a:solidFill>
                <a:latin typeface="Avenir Next"/>
                <a:ea typeface="Avenir Next"/>
                <a:cs typeface="Avenir Next"/>
              </a:defRPr>
            </a:lvl7pPr>
            <a:lvl8pPr algn="l">
              <a:defRPr sz="3450" b="1">
                <a:solidFill>
                  <a:srgbClr val="142B43"/>
                </a:solidFill>
                <a:latin typeface="Avenir Next"/>
                <a:ea typeface="Avenir Next"/>
                <a:cs typeface="Avenir Next"/>
              </a:defRPr>
            </a:lvl8pPr>
            <a:lvl9pPr algn="l">
              <a:defRPr sz="3450" b="1">
                <a:solidFill>
                  <a:srgbClr val="142B43"/>
                </a:solidFill>
                <a:latin typeface="Avenir Next"/>
                <a:ea typeface="Avenir Next"/>
                <a:cs typeface="Avenir Next"/>
              </a:defRPr>
            </a:lvl9pPr>
          </a:lstStyle>
          <a:p xmlns:a="http://schemas.openxmlformats.org/drawingml/2006/main">
            <a:pPr algn="l">
              <a:defRPr sz="3450" b="1">
                <a:solidFill>
                  <a:srgbClr val="142B43"/>
                </a:solidFill>
                <a:latin typeface="Avenir Next"/>
                <a:ea typeface="Avenir Next"/>
                <a:cs typeface="Avenir Next"/>
              </a:defRPr>
            </a:pPr>
            <a:r>
              <a:rPr sz="3450" b="1">
                <a:solidFill>
                  <a:srgbClr val="142B43"/>
                </a:solidFill>
                <a:latin typeface="Avenir Next"/>
                <a:ea typeface="Avenir Next"/>
                <a:cs typeface="Avenir Next"/>
              </a:rPr>
              <a:t>Scan decisions and evidence limits</a:t>
            </a:r>
          </a:p>
        </p:txBody>
      </p:sp>
      <p:sp>
        <p:nvSpPr>
          <p:cNvPr id="2" name="Three-frame&#10;capture">
            <a:extLst xmlns:a="http://schemas.openxmlformats.org/drawingml/2006/main">
              <a:ext uri="{FF2B5EF4-FFF2-40B4-BE49-F238E27FC236}">
                <a16:creationId xmlns:a16="http://schemas.microsoft.com/office/drawing/2014/main" id="{AF7B71AD-3D65-4918-9E01-BD394F9EAE40}"/>
              </a:ext>
            </a:extLst>
          </p:cNvPr>
          <p:cNvSpPr>
            <a:spLocks xmlns:a="http://schemas.openxmlformats.org/drawingml/2006/main" noGrp="1"/>
          </p:cNvSpPr>
          <p:nvPr/>
        </p:nvSpPr>
        <p:spPr>
          <a:xfrm xmlns:a="http://schemas.openxmlformats.org/drawingml/2006/main">
            <a:off x="609600" y="1562100"/>
            <a:ext cx="1905000" cy="762000"/>
          </a:xfrm>
          <a:prstGeom xmlns:a="http://schemas.openxmlformats.org/drawingml/2006/main" prst="roundRect">
            <a:avLst>
              <a:gd name="adj" fmla="val 10000"/>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Three-frame</a:t>
            </a:r>
          </a:p>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capture</a:t>
            </a:r>
          </a:p>
        </p:txBody>
      </p:sp>
      <p:sp>
        <p:nvSpPr>
          <p:cNvPr id="3" name="Quality&#10;OK?">
            <a:extLst xmlns:a="http://schemas.openxmlformats.org/drawingml/2006/main">
              <a:ext uri="{FF2B5EF4-FFF2-40B4-BE49-F238E27FC236}">
                <a16:creationId xmlns:a16="http://schemas.microsoft.com/office/drawing/2014/main" id="{0E21C345-03B2-464F-A564-CFC156BC1A1C}"/>
              </a:ext>
            </a:extLst>
          </p:cNvPr>
          <p:cNvSpPr>
            <a:spLocks xmlns:a="http://schemas.openxmlformats.org/drawingml/2006/main" noGrp="1"/>
          </p:cNvSpPr>
          <p:nvPr/>
        </p:nvSpPr>
        <p:spPr>
          <a:xfrm xmlns:a="http://schemas.openxmlformats.org/drawingml/2006/main">
            <a:off x="3171825" y="1381125"/>
            <a:ext cx="1685925" cy="1123950"/>
          </a:xfrm>
          <a:prstGeom xmlns:a="http://schemas.openxmlformats.org/drawingml/2006/main" prst="diamond">
            <a:avLst/>
          </a:prstGeom>
          <a:solidFill xmlns:a="http://schemas.openxmlformats.org/drawingml/2006/main">
            <a:srgbClr val="E7ECED"/>
          </a:solidFill>
          <a:ln xmlns:a="http://schemas.openxmlformats.org/drawingml/2006/main" w="11430">
            <a:solidFill>
              <a:srgbClr val="A7B8C4"/>
            </a:solidFill>
          </a:ln>
        </p:spPr>
      </p:sp>
      <p:sp>
        <p:nvSpPr>
          <p:cNvPr id="4" name="Quality OK?">
            <a:extLst xmlns:a="http://schemas.openxmlformats.org/drawingml/2006/main">
              <a:ext uri="{FF2B5EF4-FFF2-40B4-BE49-F238E27FC236}">
                <a16:creationId xmlns:a16="http://schemas.microsoft.com/office/drawing/2014/main" id="{C0421B80-9796-467D-9BCD-FE11DAA48457}"/>
              </a:ext>
            </a:extLst>
          </p:cNvPr>
          <p:cNvSpPr>
            <a:spLocks xmlns:a="http://schemas.openxmlformats.org/drawingml/2006/main" noGrp="1"/>
          </p:cNvSpPr>
          <p:nvPr/>
        </p:nvSpPr>
        <p:spPr>
          <a:xfrm xmlns:a="http://schemas.openxmlformats.org/drawingml/2006/main">
            <a:off x="3248025" y="1657350"/>
            <a:ext cx="1533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Quality</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OK?</a:t>
            </a:r>
          </a:p>
        </p:txBody>
      </p:sp>
      <p:sp>
        <p:nvSpPr>
          <p:cNvPr id="5" name="Dot&#10;valid?">
            <a:extLst xmlns:a="http://schemas.openxmlformats.org/drawingml/2006/main">
              <a:ext uri="{FF2B5EF4-FFF2-40B4-BE49-F238E27FC236}">
                <a16:creationId xmlns:a16="http://schemas.microsoft.com/office/drawing/2014/main" id="{178E618A-B16D-4396-BDAD-C673A1FD22C9}"/>
              </a:ext>
            </a:extLst>
          </p:cNvPr>
          <p:cNvSpPr>
            <a:spLocks xmlns:a="http://schemas.openxmlformats.org/drawingml/2006/main" noGrp="1"/>
          </p:cNvSpPr>
          <p:nvPr/>
        </p:nvSpPr>
        <p:spPr>
          <a:xfrm xmlns:a="http://schemas.openxmlformats.org/drawingml/2006/main">
            <a:off x="6296025" y="1381125"/>
            <a:ext cx="1685925" cy="1123950"/>
          </a:xfrm>
          <a:prstGeom xmlns:a="http://schemas.openxmlformats.org/drawingml/2006/main" prst="diamond">
            <a:avLst/>
          </a:prstGeom>
          <a:solidFill xmlns:a="http://schemas.openxmlformats.org/drawingml/2006/main">
            <a:srgbClr val="E7ECED"/>
          </a:solidFill>
          <a:ln xmlns:a="http://schemas.openxmlformats.org/drawingml/2006/main" w="11430">
            <a:solidFill>
              <a:srgbClr val="A7B8C4"/>
            </a:solidFill>
          </a:ln>
        </p:spPr>
      </p:sp>
      <p:sp>
        <p:nvSpPr>
          <p:cNvPr id="6" name="Dot valid?">
            <a:extLst xmlns:a="http://schemas.openxmlformats.org/drawingml/2006/main">
              <a:ext uri="{FF2B5EF4-FFF2-40B4-BE49-F238E27FC236}">
                <a16:creationId xmlns:a16="http://schemas.microsoft.com/office/drawing/2014/main" id="{F5F181F7-83D1-409C-A21C-FB9C9E49A3E0}"/>
              </a:ext>
            </a:extLst>
          </p:cNvPr>
          <p:cNvSpPr>
            <a:spLocks xmlns:a="http://schemas.openxmlformats.org/drawingml/2006/main" noGrp="1"/>
          </p:cNvSpPr>
          <p:nvPr/>
        </p:nvSpPr>
        <p:spPr>
          <a:xfrm xmlns:a="http://schemas.openxmlformats.org/drawingml/2006/main">
            <a:off x="6372225" y="1657350"/>
            <a:ext cx="1533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Dot</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valid?</a:t>
            </a:r>
          </a:p>
        </p:txBody>
      </p:sp>
      <p:sp>
        <p:nvSpPr>
          <p:cNvPr id="7" name="Colour category&#10;+ local record">
            <a:extLst xmlns:a="http://schemas.openxmlformats.org/drawingml/2006/main">
              <a:ext uri="{FF2B5EF4-FFF2-40B4-BE49-F238E27FC236}">
                <a16:creationId xmlns:a16="http://schemas.microsoft.com/office/drawing/2014/main" id="{F5227106-36D0-4A6E-A03D-2819E9469B0E}"/>
              </a:ext>
            </a:extLst>
          </p:cNvPr>
          <p:cNvSpPr>
            <a:spLocks xmlns:a="http://schemas.openxmlformats.org/drawingml/2006/main" noGrp="1"/>
          </p:cNvSpPr>
          <p:nvPr/>
        </p:nvSpPr>
        <p:spPr>
          <a:xfrm xmlns:a="http://schemas.openxmlformats.org/drawingml/2006/main">
            <a:off x="9258300" y="1562100"/>
            <a:ext cx="2324100" cy="762000"/>
          </a:xfrm>
          <a:prstGeom xmlns:a="http://schemas.openxmlformats.org/drawingml/2006/main" prst="roundRect">
            <a:avLst>
              <a:gd name="adj" fmla="val 10000"/>
            </a:avLst>
          </a:prstGeom>
          <a:solidFill xmlns:a="http://schemas.openxmlformats.org/drawingml/2006/main">
            <a:srgbClr val="2363DA"/>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Colour category</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 local record</a:t>
            </a:r>
          </a:p>
        </p:txBody>
      </p:sp>
      <p:sp>
        <p:nvSpPr>
          <p:cNvPr id="8" name="Retry capture">
            <a:extLst xmlns:a="http://schemas.openxmlformats.org/drawingml/2006/main">
              <a:ext uri="{FF2B5EF4-FFF2-40B4-BE49-F238E27FC236}">
                <a16:creationId xmlns:a16="http://schemas.microsoft.com/office/drawing/2014/main" id="{29501007-9715-46A8-9616-3D84861E9F7E}"/>
              </a:ext>
            </a:extLst>
          </p:cNvPr>
          <p:cNvSpPr>
            <a:spLocks xmlns:a="http://schemas.openxmlformats.org/drawingml/2006/main" noGrp="1"/>
          </p:cNvSpPr>
          <p:nvPr/>
        </p:nvSpPr>
        <p:spPr>
          <a:xfrm xmlns:a="http://schemas.openxmlformats.org/drawingml/2006/main">
            <a:off x="3171825" y="2819400"/>
            <a:ext cx="1685925" cy="495300"/>
          </a:xfrm>
          <a:prstGeom xmlns:a="http://schemas.openxmlformats.org/drawingml/2006/main" prst="roundRect">
            <a:avLst>
              <a:gd name="adj" fmla="val 15385"/>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Retry capture</a:t>
            </a:r>
          </a:p>
        </p:txBody>
      </p:sp>
      <p:sp>
        <p:nvSpPr>
          <p:cNvPr id="9" name="New band">
            <a:extLst xmlns:a="http://schemas.openxmlformats.org/drawingml/2006/main">
              <a:ext uri="{FF2B5EF4-FFF2-40B4-BE49-F238E27FC236}">
                <a16:creationId xmlns:a16="http://schemas.microsoft.com/office/drawing/2014/main" id="{C3480CB1-5A95-472B-A9AC-9AC4C66E2E62}"/>
              </a:ext>
            </a:extLst>
          </p:cNvPr>
          <p:cNvSpPr>
            <a:spLocks xmlns:a="http://schemas.openxmlformats.org/drawingml/2006/main" noGrp="1"/>
          </p:cNvSpPr>
          <p:nvPr/>
        </p:nvSpPr>
        <p:spPr>
          <a:xfrm xmlns:a="http://schemas.openxmlformats.org/drawingml/2006/main">
            <a:off x="6296025" y="2819400"/>
            <a:ext cx="1685925" cy="495300"/>
          </a:xfrm>
          <a:prstGeom xmlns:a="http://schemas.openxmlformats.org/drawingml/2006/main" prst="roundRect">
            <a:avLst>
              <a:gd name="adj" fmla="val 15385"/>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New band</a:t>
            </a:r>
          </a:p>
        </p:txBody>
      </p:sp>
      <p:sp>
        <p:nvSpPr>
          <p:cNvPr id="15" name="Yes">
            <a:extLst xmlns:a="http://schemas.openxmlformats.org/drawingml/2006/main">
              <a:ext uri="{FF2B5EF4-FFF2-40B4-BE49-F238E27FC236}">
                <a16:creationId xmlns:a16="http://schemas.microsoft.com/office/drawing/2014/main" id="{137865F7-AB4D-4751-9BD5-2D316D7C7B4D}"/>
              </a:ext>
            </a:extLst>
          </p:cNvPr>
          <p:cNvSpPr>
            <a:spLocks xmlns:a="http://schemas.openxmlformats.org/drawingml/2006/main" noGrp="1"/>
          </p:cNvSpPr>
          <p:nvPr/>
        </p:nvSpPr>
        <p:spPr>
          <a:xfrm xmlns:a="http://schemas.openxmlformats.org/drawingml/2006/main">
            <a:off x="5314950" y="1714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526574"/>
                </a:solidFill>
                <a:latin typeface="Avenir Next"/>
                <a:ea typeface="Avenir Next"/>
                <a:cs typeface="Avenir Next"/>
              </a:defRPr>
            </a:defPPr>
            <a:lvl1pPr algn="ctr">
              <a:defRPr sz="1275" b="0">
                <a:solidFill>
                  <a:srgbClr val="526574"/>
                </a:solidFill>
                <a:latin typeface="Avenir Next"/>
                <a:ea typeface="Avenir Next"/>
                <a:cs typeface="Avenir Next"/>
              </a:defRPr>
            </a:lvl1pPr>
            <a:lvl2pPr algn="ctr">
              <a:defRPr sz="1275" b="0">
                <a:solidFill>
                  <a:srgbClr val="526574"/>
                </a:solidFill>
                <a:latin typeface="Avenir Next"/>
                <a:ea typeface="Avenir Next"/>
                <a:cs typeface="Avenir Next"/>
              </a:defRPr>
            </a:lvl2pPr>
            <a:lvl3pPr algn="ctr">
              <a:defRPr sz="1275" b="0">
                <a:solidFill>
                  <a:srgbClr val="526574"/>
                </a:solidFill>
                <a:latin typeface="Avenir Next"/>
                <a:ea typeface="Avenir Next"/>
                <a:cs typeface="Avenir Next"/>
              </a:defRPr>
            </a:lvl3pPr>
            <a:lvl4pPr algn="ctr">
              <a:defRPr sz="1275" b="0">
                <a:solidFill>
                  <a:srgbClr val="526574"/>
                </a:solidFill>
                <a:latin typeface="Avenir Next"/>
                <a:ea typeface="Avenir Next"/>
                <a:cs typeface="Avenir Next"/>
              </a:defRPr>
            </a:lvl4pPr>
            <a:lvl5pPr algn="ctr">
              <a:defRPr sz="1275" b="0">
                <a:solidFill>
                  <a:srgbClr val="526574"/>
                </a:solidFill>
                <a:latin typeface="Avenir Next"/>
                <a:ea typeface="Avenir Next"/>
                <a:cs typeface="Avenir Next"/>
              </a:defRPr>
            </a:lvl5pPr>
            <a:lvl6pPr algn="ctr">
              <a:defRPr sz="1275" b="0">
                <a:solidFill>
                  <a:srgbClr val="526574"/>
                </a:solidFill>
                <a:latin typeface="Avenir Next"/>
                <a:ea typeface="Avenir Next"/>
                <a:cs typeface="Avenir Next"/>
              </a:defRPr>
            </a:lvl6pPr>
            <a:lvl7pPr algn="ctr">
              <a:defRPr sz="1275" b="0">
                <a:solidFill>
                  <a:srgbClr val="526574"/>
                </a:solidFill>
                <a:latin typeface="Avenir Next"/>
                <a:ea typeface="Avenir Next"/>
                <a:cs typeface="Avenir Next"/>
              </a:defRPr>
            </a:lvl7pPr>
            <a:lvl8pPr algn="ctr">
              <a:defRPr sz="1275" b="0">
                <a:solidFill>
                  <a:srgbClr val="526574"/>
                </a:solidFill>
                <a:latin typeface="Avenir Next"/>
                <a:ea typeface="Avenir Next"/>
                <a:cs typeface="Avenir Next"/>
              </a:defRPr>
            </a:lvl8pPr>
            <a:lvl9pPr algn="ctr">
              <a:defRPr sz="1275" b="0">
                <a:solidFill>
                  <a:srgbClr val="526574"/>
                </a:solidFill>
                <a:latin typeface="Avenir Next"/>
                <a:ea typeface="Avenir Next"/>
                <a:cs typeface="Avenir Next"/>
              </a:defRPr>
            </a:lvl9pPr>
          </a:lstStyle>
          <a:p xmlns:a="http://schemas.openxmlformats.org/drawingml/2006/main">
            <a:pPr algn="ctr">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Yes</a:t>
            </a:r>
          </a:p>
        </p:txBody>
      </p:sp>
      <p:sp>
        <p:nvSpPr>
          <p:cNvPr id="16" name="Yes">
            <a:extLst xmlns:a="http://schemas.openxmlformats.org/drawingml/2006/main">
              <a:ext uri="{FF2B5EF4-FFF2-40B4-BE49-F238E27FC236}">
                <a16:creationId xmlns:a16="http://schemas.microsoft.com/office/drawing/2014/main" id="{BDB1233A-7642-4B07-A1A5-0896820CE273}"/>
              </a:ext>
            </a:extLst>
          </p:cNvPr>
          <p:cNvSpPr>
            <a:spLocks xmlns:a="http://schemas.openxmlformats.org/drawingml/2006/main" noGrp="1"/>
          </p:cNvSpPr>
          <p:nvPr/>
        </p:nvSpPr>
        <p:spPr>
          <a:xfrm xmlns:a="http://schemas.openxmlformats.org/drawingml/2006/main">
            <a:off x="8362950" y="1714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526574"/>
                </a:solidFill>
                <a:latin typeface="Avenir Next"/>
                <a:ea typeface="Avenir Next"/>
                <a:cs typeface="Avenir Next"/>
              </a:defRPr>
            </a:defPPr>
            <a:lvl1pPr algn="ctr">
              <a:defRPr sz="1275" b="0">
                <a:solidFill>
                  <a:srgbClr val="526574"/>
                </a:solidFill>
                <a:latin typeface="Avenir Next"/>
                <a:ea typeface="Avenir Next"/>
                <a:cs typeface="Avenir Next"/>
              </a:defRPr>
            </a:lvl1pPr>
            <a:lvl2pPr algn="ctr">
              <a:defRPr sz="1275" b="0">
                <a:solidFill>
                  <a:srgbClr val="526574"/>
                </a:solidFill>
                <a:latin typeface="Avenir Next"/>
                <a:ea typeface="Avenir Next"/>
                <a:cs typeface="Avenir Next"/>
              </a:defRPr>
            </a:lvl2pPr>
            <a:lvl3pPr algn="ctr">
              <a:defRPr sz="1275" b="0">
                <a:solidFill>
                  <a:srgbClr val="526574"/>
                </a:solidFill>
                <a:latin typeface="Avenir Next"/>
                <a:ea typeface="Avenir Next"/>
                <a:cs typeface="Avenir Next"/>
              </a:defRPr>
            </a:lvl3pPr>
            <a:lvl4pPr algn="ctr">
              <a:defRPr sz="1275" b="0">
                <a:solidFill>
                  <a:srgbClr val="526574"/>
                </a:solidFill>
                <a:latin typeface="Avenir Next"/>
                <a:ea typeface="Avenir Next"/>
                <a:cs typeface="Avenir Next"/>
              </a:defRPr>
            </a:lvl4pPr>
            <a:lvl5pPr algn="ctr">
              <a:defRPr sz="1275" b="0">
                <a:solidFill>
                  <a:srgbClr val="526574"/>
                </a:solidFill>
                <a:latin typeface="Avenir Next"/>
                <a:ea typeface="Avenir Next"/>
                <a:cs typeface="Avenir Next"/>
              </a:defRPr>
            </a:lvl5pPr>
            <a:lvl6pPr algn="ctr">
              <a:defRPr sz="1275" b="0">
                <a:solidFill>
                  <a:srgbClr val="526574"/>
                </a:solidFill>
                <a:latin typeface="Avenir Next"/>
                <a:ea typeface="Avenir Next"/>
                <a:cs typeface="Avenir Next"/>
              </a:defRPr>
            </a:lvl6pPr>
            <a:lvl7pPr algn="ctr">
              <a:defRPr sz="1275" b="0">
                <a:solidFill>
                  <a:srgbClr val="526574"/>
                </a:solidFill>
                <a:latin typeface="Avenir Next"/>
                <a:ea typeface="Avenir Next"/>
                <a:cs typeface="Avenir Next"/>
              </a:defRPr>
            </a:lvl7pPr>
            <a:lvl8pPr algn="ctr">
              <a:defRPr sz="1275" b="0">
                <a:solidFill>
                  <a:srgbClr val="526574"/>
                </a:solidFill>
                <a:latin typeface="Avenir Next"/>
                <a:ea typeface="Avenir Next"/>
                <a:cs typeface="Avenir Next"/>
              </a:defRPr>
            </a:lvl8pPr>
            <a:lvl9pPr algn="ctr">
              <a:defRPr sz="1275" b="0">
                <a:solidFill>
                  <a:srgbClr val="526574"/>
                </a:solidFill>
                <a:latin typeface="Avenir Next"/>
                <a:ea typeface="Avenir Next"/>
                <a:cs typeface="Avenir Next"/>
              </a:defRPr>
            </a:lvl9pPr>
          </a:lstStyle>
          <a:p xmlns:a="http://schemas.openxmlformats.org/drawingml/2006/main">
            <a:pPr algn="ctr">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Yes</a:t>
            </a:r>
          </a:p>
        </p:txBody>
      </p:sp>
      <p:sp>
        <p:nvSpPr>
          <p:cNvPr id="17" name="No">
            <a:extLst xmlns:a="http://schemas.openxmlformats.org/drawingml/2006/main">
              <a:ext uri="{FF2B5EF4-FFF2-40B4-BE49-F238E27FC236}">
                <a16:creationId xmlns:a16="http://schemas.microsoft.com/office/drawing/2014/main" id="{BE512C55-640C-43A9-8C42-7E31F8BE83F5}"/>
              </a:ext>
            </a:extLst>
          </p:cNvPr>
          <p:cNvSpPr>
            <a:spLocks xmlns:a="http://schemas.openxmlformats.org/drawingml/2006/main" noGrp="1"/>
          </p:cNvSpPr>
          <p:nvPr/>
        </p:nvSpPr>
        <p:spPr>
          <a:xfrm xmlns:a="http://schemas.openxmlformats.org/drawingml/2006/main">
            <a:off x="4095750" y="254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574"/>
                </a:solidFill>
                <a:latin typeface="Avenir Next"/>
                <a:ea typeface="Avenir Next"/>
                <a:cs typeface="Avenir Next"/>
              </a:defRPr>
            </a:defPPr>
            <a:lvl1pPr algn="l">
              <a:defRPr sz="1200" b="0">
                <a:solidFill>
                  <a:srgbClr val="526574"/>
                </a:solidFill>
                <a:latin typeface="Avenir Next"/>
                <a:ea typeface="Avenir Next"/>
                <a:cs typeface="Avenir Next"/>
              </a:defRPr>
            </a:lvl1pPr>
            <a:lvl2pPr algn="l">
              <a:defRPr sz="1200" b="0">
                <a:solidFill>
                  <a:srgbClr val="526574"/>
                </a:solidFill>
                <a:latin typeface="Avenir Next"/>
                <a:ea typeface="Avenir Next"/>
                <a:cs typeface="Avenir Next"/>
              </a:defRPr>
            </a:lvl2pPr>
            <a:lvl3pPr algn="l">
              <a:defRPr sz="1200" b="0">
                <a:solidFill>
                  <a:srgbClr val="526574"/>
                </a:solidFill>
                <a:latin typeface="Avenir Next"/>
                <a:ea typeface="Avenir Next"/>
                <a:cs typeface="Avenir Next"/>
              </a:defRPr>
            </a:lvl3pPr>
            <a:lvl4pPr algn="l">
              <a:defRPr sz="1200" b="0">
                <a:solidFill>
                  <a:srgbClr val="526574"/>
                </a:solidFill>
                <a:latin typeface="Avenir Next"/>
                <a:ea typeface="Avenir Next"/>
                <a:cs typeface="Avenir Next"/>
              </a:defRPr>
            </a:lvl4pPr>
            <a:lvl5pPr algn="l">
              <a:defRPr sz="1200" b="0">
                <a:solidFill>
                  <a:srgbClr val="526574"/>
                </a:solidFill>
                <a:latin typeface="Avenir Next"/>
                <a:ea typeface="Avenir Next"/>
                <a:cs typeface="Avenir Next"/>
              </a:defRPr>
            </a:lvl5pPr>
            <a:lvl6pPr algn="l">
              <a:defRPr sz="1200" b="0">
                <a:solidFill>
                  <a:srgbClr val="526574"/>
                </a:solidFill>
                <a:latin typeface="Avenir Next"/>
                <a:ea typeface="Avenir Next"/>
                <a:cs typeface="Avenir Next"/>
              </a:defRPr>
            </a:lvl6pPr>
            <a:lvl7pPr algn="l">
              <a:defRPr sz="1200" b="0">
                <a:solidFill>
                  <a:srgbClr val="526574"/>
                </a:solidFill>
                <a:latin typeface="Avenir Next"/>
                <a:ea typeface="Avenir Next"/>
                <a:cs typeface="Avenir Next"/>
              </a:defRPr>
            </a:lvl7pPr>
            <a:lvl8pPr algn="l">
              <a:defRPr sz="1200" b="0">
                <a:solidFill>
                  <a:srgbClr val="526574"/>
                </a:solidFill>
                <a:latin typeface="Avenir Next"/>
                <a:ea typeface="Avenir Next"/>
                <a:cs typeface="Avenir Next"/>
              </a:defRPr>
            </a:lvl8pPr>
            <a:lvl9pPr algn="l">
              <a:defRPr sz="1200" b="0">
                <a:solidFill>
                  <a:srgbClr val="526574"/>
                </a:solidFill>
                <a:latin typeface="Avenir Next"/>
                <a:ea typeface="Avenir Next"/>
                <a:cs typeface="Avenir Next"/>
              </a:defRPr>
            </a:lvl9pPr>
          </a:lstStyle>
          <a:p xmlns:a="http://schemas.openxmlformats.org/drawingml/2006/main">
            <a:pPr algn="l">
              <a:defRPr sz="1200" b="0">
                <a:solidFill>
                  <a:srgbClr val="526574"/>
                </a:solidFill>
                <a:latin typeface="Avenir Next"/>
                <a:ea typeface="Avenir Next"/>
                <a:cs typeface="Avenir Next"/>
              </a:defRPr>
            </a:pPr>
            <a:r>
              <a:rPr sz="1200" b="0">
                <a:solidFill>
                  <a:srgbClr val="526574"/>
                </a:solidFill>
                <a:latin typeface="Avenir Next"/>
                <a:ea typeface="Avenir Next"/>
                <a:cs typeface="Avenir Next"/>
              </a:rPr>
              <a:t>No</a:t>
            </a:r>
          </a:p>
        </p:txBody>
      </p:sp>
      <p:sp>
        <p:nvSpPr>
          <p:cNvPr id="18" name="No">
            <a:extLst xmlns:a="http://schemas.openxmlformats.org/drawingml/2006/main">
              <a:ext uri="{FF2B5EF4-FFF2-40B4-BE49-F238E27FC236}">
                <a16:creationId xmlns:a16="http://schemas.microsoft.com/office/drawing/2014/main" id="{1C3A9B5F-AB3C-4722-AB90-CE899B865000}"/>
              </a:ext>
            </a:extLst>
          </p:cNvPr>
          <p:cNvSpPr>
            <a:spLocks xmlns:a="http://schemas.openxmlformats.org/drawingml/2006/main" noGrp="1"/>
          </p:cNvSpPr>
          <p:nvPr/>
        </p:nvSpPr>
        <p:spPr>
          <a:xfrm xmlns:a="http://schemas.openxmlformats.org/drawingml/2006/main">
            <a:off x="7219950" y="254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574"/>
                </a:solidFill>
                <a:latin typeface="Avenir Next"/>
                <a:ea typeface="Avenir Next"/>
                <a:cs typeface="Avenir Next"/>
              </a:defRPr>
            </a:defPPr>
            <a:lvl1pPr algn="l">
              <a:defRPr sz="1200" b="0">
                <a:solidFill>
                  <a:srgbClr val="526574"/>
                </a:solidFill>
                <a:latin typeface="Avenir Next"/>
                <a:ea typeface="Avenir Next"/>
                <a:cs typeface="Avenir Next"/>
              </a:defRPr>
            </a:lvl1pPr>
            <a:lvl2pPr algn="l">
              <a:defRPr sz="1200" b="0">
                <a:solidFill>
                  <a:srgbClr val="526574"/>
                </a:solidFill>
                <a:latin typeface="Avenir Next"/>
                <a:ea typeface="Avenir Next"/>
                <a:cs typeface="Avenir Next"/>
              </a:defRPr>
            </a:lvl2pPr>
            <a:lvl3pPr algn="l">
              <a:defRPr sz="1200" b="0">
                <a:solidFill>
                  <a:srgbClr val="526574"/>
                </a:solidFill>
                <a:latin typeface="Avenir Next"/>
                <a:ea typeface="Avenir Next"/>
                <a:cs typeface="Avenir Next"/>
              </a:defRPr>
            </a:lvl3pPr>
            <a:lvl4pPr algn="l">
              <a:defRPr sz="1200" b="0">
                <a:solidFill>
                  <a:srgbClr val="526574"/>
                </a:solidFill>
                <a:latin typeface="Avenir Next"/>
                <a:ea typeface="Avenir Next"/>
                <a:cs typeface="Avenir Next"/>
              </a:defRPr>
            </a:lvl4pPr>
            <a:lvl5pPr algn="l">
              <a:defRPr sz="1200" b="0">
                <a:solidFill>
                  <a:srgbClr val="526574"/>
                </a:solidFill>
                <a:latin typeface="Avenir Next"/>
                <a:ea typeface="Avenir Next"/>
                <a:cs typeface="Avenir Next"/>
              </a:defRPr>
            </a:lvl5pPr>
            <a:lvl6pPr algn="l">
              <a:defRPr sz="1200" b="0">
                <a:solidFill>
                  <a:srgbClr val="526574"/>
                </a:solidFill>
                <a:latin typeface="Avenir Next"/>
                <a:ea typeface="Avenir Next"/>
                <a:cs typeface="Avenir Next"/>
              </a:defRPr>
            </a:lvl6pPr>
            <a:lvl7pPr algn="l">
              <a:defRPr sz="1200" b="0">
                <a:solidFill>
                  <a:srgbClr val="526574"/>
                </a:solidFill>
                <a:latin typeface="Avenir Next"/>
                <a:ea typeface="Avenir Next"/>
                <a:cs typeface="Avenir Next"/>
              </a:defRPr>
            </a:lvl7pPr>
            <a:lvl8pPr algn="l">
              <a:defRPr sz="1200" b="0">
                <a:solidFill>
                  <a:srgbClr val="526574"/>
                </a:solidFill>
                <a:latin typeface="Avenir Next"/>
                <a:ea typeface="Avenir Next"/>
                <a:cs typeface="Avenir Next"/>
              </a:defRPr>
            </a:lvl8pPr>
            <a:lvl9pPr algn="l">
              <a:defRPr sz="1200" b="0">
                <a:solidFill>
                  <a:srgbClr val="526574"/>
                </a:solidFill>
                <a:latin typeface="Avenir Next"/>
                <a:ea typeface="Avenir Next"/>
                <a:cs typeface="Avenir Next"/>
              </a:defRPr>
            </a:lvl9pPr>
          </a:lstStyle>
          <a:p xmlns:a="http://schemas.openxmlformats.org/drawingml/2006/main">
            <a:pPr algn="l">
              <a:defRPr sz="1200" b="0">
                <a:solidFill>
                  <a:srgbClr val="526574"/>
                </a:solidFill>
                <a:latin typeface="Avenir Next"/>
                <a:ea typeface="Avenir Next"/>
                <a:cs typeface="Avenir Next"/>
              </a:defRPr>
            </a:pPr>
            <a:r>
              <a:rPr sz="1200" b="0">
                <a:solidFill>
                  <a:srgbClr val="526574"/>
                </a:solidFill>
                <a:latin typeface="Avenir Next"/>
                <a:ea typeface="Avenir Next"/>
                <a:cs typeface="Avenir Next"/>
              </a:rPr>
              <a:t>No</a:t>
            </a:r>
          </a:p>
        </p:txBody>
      </p:sp>
      <p:sp>
        <p:nvSpPr>
          <p:cNvPr id="19" name="">
            <a:extLst xmlns:a="http://schemas.openxmlformats.org/drawingml/2006/main">
              <a:ext uri="{FF2B5EF4-FFF2-40B4-BE49-F238E27FC236}">
                <a16:creationId xmlns:a16="http://schemas.microsoft.com/office/drawing/2014/main" id="{20D436BC-B83E-49A6-9E0F-537DCE18DACA}"/>
              </a:ext>
            </a:extLst>
          </p:cNvPr>
          <p:cNvSpPr>
            <a:spLocks xmlns:a="http://schemas.openxmlformats.org/drawingml/2006/main" noGrp="1"/>
          </p:cNvSpPr>
          <p:nvPr/>
        </p:nvSpPr>
        <p:spPr>
          <a:xfrm xmlns:a="http://schemas.openxmlformats.org/drawingml/2006/main">
            <a:off x="609600" y="3648075"/>
            <a:ext cx="10972800" cy="0"/>
          </a:xfrm>
          <a:prstGeom xmlns:a="http://schemas.openxmlformats.org/drawingml/2006/main" prst="line">
            <a:avLst/>
          </a:prstGeom>
          <a:ln xmlns:a="http://schemas.openxmlformats.org/drawingml/2006/main" w="9525">
            <a:solidFill>
              <a:srgbClr val="D3D9D9"/>
            </a:solidFill>
          </a:ln>
        </p:spPr>
      </p:sp>
      <p:sp>
        <p:nvSpPr>
          <p:cNvPr id="20" name="Supplied test doses">
            <a:extLst xmlns:a="http://schemas.openxmlformats.org/drawingml/2006/main">
              <a:ext uri="{FF2B5EF4-FFF2-40B4-BE49-F238E27FC236}">
                <a16:creationId xmlns:a16="http://schemas.microsoft.com/office/drawing/2014/main" id="{D4A21591-A474-46C3-A0AA-2EDE658E093D}"/>
              </a:ext>
            </a:extLst>
          </p:cNvPr>
          <p:cNvSpPr>
            <a:spLocks xmlns:a="http://schemas.openxmlformats.org/drawingml/2006/main" noGrp="1"/>
          </p:cNvSpPr>
          <p:nvPr/>
        </p:nvSpPr>
        <p:spPr>
          <a:xfrm xmlns:a="http://schemas.openxmlformats.org/drawingml/2006/main">
            <a:off x="609600" y="3895725"/>
            <a:ext cx="5857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B43"/>
                </a:solidFill>
                <a:latin typeface="Avenir Next"/>
                <a:ea typeface="Avenir Next"/>
                <a:cs typeface="Avenir Next"/>
              </a:defRPr>
            </a:defPPr>
            <a:lvl1pPr algn="l">
              <a:defRPr sz="1875" b="1">
                <a:solidFill>
                  <a:srgbClr val="142B43"/>
                </a:solidFill>
                <a:latin typeface="Avenir Next"/>
                <a:ea typeface="Avenir Next"/>
                <a:cs typeface="Avenir Next"/>
              </a:defRPr>
            </a:lvl1pPr>
            <a:lvl2pPr algn="l">
              <a:defRPr sz="1875" b="1">
                <a:solidFill>
                  <a:srgbClr val="142B43"/>
                </a:solidFill>
                <a:latin typeface="Avenir Next"/>
                <a:ea typeface="Avenir Next"/>
                <a:cs typeface="Avenir Next"/>
              </a:defRPr>
            </a:lvl2pPr>
            <a:lvl3pPr algn="l">
              <a:defRPr sz="1875" b="1">
                <a:solidFill>
                  <a:srgbClr val="142B43"/>
                </a:solidFill>
                <a:latin typeface="Avenir Next"/>
                <a:ea typeface="Avenir Next"/>
                <a:cs typeface="Avenir Next"/>
              </a:defRPr>
            </a:lvl3pPr>
            <a:lvl4pPr algn="l">
              <a:defRPr sz="1875" b="1">
                <a:solidFill>
                  <a:srgbClr val="142B43"/>
                </a:solidFill>
                <a:latin typeface="Avenir Next"/>
                <a:ea typeface="Avenir Next"/>
                <a:cs typeface="Avenir Next"/>
              </a:defRPr>
            </a:lvl4pPr>
            <a:lvl5pPr algn="l">
              <a:defRPr sz="1875" b="1">
                <a:solidFill>
                  <a:srgbClr val="142B43"/>
                </a:solidFill>
                <a:latin typeface="Avenir Next"/>
                <a:ea typeface="Avenir Next"/>
                <a:cs typeface="Avenir Next"/>
              </a:defRPr>
            </a:lvl5pPr>
            <a:lvl6pPr algn="l">
              <a:defRPr sz="1875" b="1">
                <a:solidFill>
                  <a:srgbClr val="142B43"/>
                </a:solidFill>
                <a:latin typeface="Avenir Next"/>
                <a:ea typeface="Avenir Next"/>
                <a:cs typeface="Avenir Next"/>
              </a:defRPr>
            </a:lvl6pPr>
            <a:lvl7pPr algn="l">
              <a:defRPr sz="1875" b="1">
                <a:solidFill>
                  <a:srgbClr val="142B43"/>
                </a:solidFill>
                <a:latin typeface="Avenir Next"/>
                <a:ea typeface="Avenir Next"/>
                <a:cs typeface="Avenir Next"/>
              </a:defRPr>
            </a:lvl7pPr>
            <a:lvl8pPr algn="l">
              <a:defRPr sz="1875" b="1">
                <a:solidFill>
                  <a:srgbClr val="142B43"/>
                </a:solidFill>
                <a:latin typeface="Avenir Next"/>
                <a:ea typeface="Avenir Next"/>
                <a:cs typeface="Avenir Next"/>
              </a:defRPr>
            </a:lvl8pPr>
            <a:lvl9pPr algn="l">
              <a:defRPr sz="1875" b="1">
                <a:solidFill>
                  <a:srgbClr val="142B43"/>
                </a:solidFill>
                <a:latin typeface="Avenir Next"/>
                <a:ea typeface="Avenir Next"/>
                <a:cs typeface="Avenir Next"/>
              </a:defRPr>
            </a:lvl9pPr>
          </a:lstStyle>
          <a:p xmlns:a="http://schemas.openxmlformats.org/drawingml/2006/main">
            <a:pPr algn="l">
              <a:defRPr sz="1875" b="1">
                <a:solidFill>
                  <a:srgbClr val="142B43"/>
                </a:solidFill>
                <a:latin typeface="Avenir Next"/>
                <a:ea typeface="Avenir Next"/>
                <a:cs typeface="Avenir Next"/>
              </a:defRPr>
            </a:pPr>
            <a:r>
              <a:rPr sz="1875" b="1">
                <a:solidFill>
                  <a:srgbClr val="142B43"/>
                </a:solidFill>
                <a:latin typeface="Avenir Next"/>
                <a:ea typeface="Avenir Next"/>
                <a:cs typeface="Avenir Next"/>
              </a:rPr>
              <a:t>Supplied test doses</a:t>
            </a:r>
          </a:p>
        </p:txBody>
      </p:sp>
      <p:sp>
        <p:nvSpPr>
          <p:cNvPr id="21" name="30 ppm × exposure duration, expressed as ppm·h [3]">
            <a:extLst xmlns:a="http://schemas.openxmlformats.org/drawingml/2006/main">
              <a:ext uri="{FF2B5EF4-FFF2-40B4-BE49-F238E27FC236}">
                <a16:creationId xmlns:a16="http://schemas.microsoft.com/office/drawing/2014/main" id="{282D5E4E-D199-4FAD-8665-221EDB838D96}"/>
              </a:ext>
            </a:extLst>
          </p:cNvPr>
          <p:cNvSpPr>
            <a:spLocks xmlns:a="http://schemas.openxmlformats.org/drawingml/2006/main" noGrp="1"/>
          </p:cNvSpPr>
          <p:nvPr/>
        </p:nvSpPr>
        <p:spPr>
          <a:xfrm xmlns:a="http://schemas.openxmlformats.org/drawingml/2006/main">
            <a:off x="609600" y="42672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574"/>
                </a:solidFill>
                <a:latin typeface="Avenir Next"/>
                <a:ea typeface="Avenir Next"/>
                <a:cs typeface="Avenir Next"/>
              </a:defRPr>
            </a:defPPr>
            <a:lvl1pPr algn="l">
              <a:defRPr sz="1275" b="0">
                <a:solidFill>
                  <a:srgbClr val="526574"/>
                </a:solidFill>
                <a:latin typeface="Avenir Next"/>
                <a:ea typeface="Avenir Next"/>
                <a:cs typeface="Avenir Next"/>
              </a:defRPr>
            </a:lvl1pPr>
            <a:lvl2pPr algn="l">
              <a:defRPr sz="1275" b="0">
                <a:solidFill>
                  <a:srgbClr val="526574"/>
                </a:solidFill>
                <a:latin typeface="Avenir Next"/>
                <a:ea typeface="Avenir Next"/>
                <a:cs typeface="Avenir Next"/>
              </a:defRPr>
            </a:lvl2pPr>
            <a:lvl3pPr algn="l">
              <a:defRPr sz="1275" b="0">
                <a:solidFill>
                  <a:srgbClr val="526574"/>
                </a:solidFill>
                <a:latin typeface="Avenir Next"/>
                <a:ea typeface="Avenir Next"/>
                <a:cs typeface="Avenir Next"/>
              </a:defRPr>
            </a:lvl3pPr>
            <a:lvl4pPr algn="l">
              <a:defRPr sz="1275" b="0">
                <a:solidFill>
                  <a:srgbClr val="526574"/>
                </a:solidFill>
                <a:latin typeface="Avenir Next"/>
                <a:ea typeface="Avenir Next"/>
                <a:cs typeface="Avenir Next"/>
              </a:defRPr>
            </a:lvl4pPr>
            <a:lvl5pPr algn="l">
              <a:defRPr sz="1275" b="0">
                <a:solidFill>
                  <a:srgbClr val="526574"/>
                </a:solidFill>
                <a:latin typeface="Avenir Next"/>
                <a:ea typeface="Avenir Next"/>
                <a:cs typeface="Avenir Next"/>
              </a:defRPr>
            </a:lvl5pPr>
            <a:lvl6pPr algn="l">
              <a:defRPr sz="1275" b="0">
                <a:solidFill>
                  <a:srgbClr val="526574"/>
                </a:solidFill>
                <a:latin typeface="Avenir Next"/>
                <a:ea typeface="Avenir Next"/>
                <a:cs typeface="Avenir Next"/>
              </a:defRPr>
            </a:lvl6pPr>
            <a:lvl7pPr algn="l">
              <a:defRPr sz="1275" b="0">
                <a:solidFill>
                  <a:srgbClr val="526574"/>
                </a:solidFill>
                <a:latin typeface="Avenir Next"/>
                <a:ea typeface="Avenir Next"/>
                <a:cs typeface="Avenir Next"/>
              </a:defRPr>
            </a:lvl7pPr>
            <a:lvl8pPr algn="l">
              <a:defRPr sz="1275" b="0">
                <a:solidFill>
                  <a:srgbClr val="526574"/>
                </a:solidFill>
                <a:latin typeface="Avenir Next"/>
                <a:ea typeface="Avenir Next"/>
                <a:cs typeface="Avenir Next"/>
              </a:defRPr>
            </a:lvl8pPr>
            <a:lvl9pPr algn="l">
              <a:defRPr sz="1275" b="0">
                <a:solidFill>
                  <a:srgbClr val="526574"/>
                </a:solidFill>
                <a:latin typeface="Avenir Next"/>
                <a:ea typeface="Avenir Next"/>
                <a:cs typeface="Avenir Next"/>
              </a:defRPr>
            </a:lvl9pPr>
          </a:lstStyle>
          <a:p xmlns:a="http://schemas.openxmlformats.org/drawingml/2006/main">
            <a:pPr algn="l">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30 ppm × exposure duration, expressed as ppm·h [3]</a:t>
            </a:r>
          </a:p>
        </p:txBody>
      </p:sp>
      <p:graphicFrame>
        <p:nvGraphicFramePr>
          <p:cNvPr id="22" name="Chart">
            <a:extLst xmlns:a="http://schemas.openxmlformats.org/drawingml/2006/main">
              <a:ext uri="{FF2B5EF4-FFF2-40B4-BE49-F238E27FC236}">
                <a16:creationId xmlns:a16="http://schemas.microsoft.com/office/drawing/2014/main" id="{71360C99-47F6-4317-8168-9F3C27502EB7}"/>
              </a:ext>
            </a:extLst>
          </p:cNvPr>
          <p:cNvGraphicFramePr/>
          <p:nvPr/>
        </p:nvGraphicFramePr>
        <p:xfrm>
          <a:off xmlns:a="http://schemas.openxmlformats.org/drawingml/2006/main" x="495300" y="4572000"/>
          <a:ext xmlns:a="http://schemas.openxmlformats.org/drawingml/2006/main" cx="5962650" cy="1543050"/>
        </p:xfrm>
        <a:graphic xmlns:a="http://schemas.openxmlformats.org/drawingml/2006/main">
          <a:graphicData uri="http://schemas.openxmlformats.org/drawingml/2006/chart">
            <c:chart xmlns:r="http://schemas.openxmlformats.org/officeDocument/2006/relationships" xmlns:c="http://schemas.openxmlformats.org/drawingml/2006/chart" r:id="Re5bf56f208fa41a6"/>
          </a:graphicData>
        </a:graphic>
      </p:graphicFrame>
      <p:sp>
        <p:nvSpPr>
          <p:cNvPr id="23" name="0–15 ppm·h">
            <a:extLst xmlns:a="http://schemas.openxmlformats.org/drawingml/2006/main">
              <a:ext uri="{FF2B5EF4-FFF2-40B4-BE49-F238E27FC236}">
                <a16:creationId xmlns:a16="http://schemas.microsoft.com/office/drawing/2014/main" id="{7B4EE67F-2686-4139-B407-262871CD2707}"/>
              </a:ext>
            </a:extLst>
          </p:cNvPr>
          <p:cNvSpPr>
            <a:spLocks xmlns:a="http://schemas.openxmlformats.org/drawingml/2006/main" noGrp="1"/>
          </p:cNvSpPr>
          <p:nvPr/>
        </p:nvSpPr>
        <p:spPr>
          <a:xfrm xmlns:a="http://schemas.openxmlformats.org/drawingml/2006/main">
            <a:off x="7181850" y="3857625"/>
            <a:ext cx="440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363DA"/>
                </a:solidFill>
                <a:latin typeface="Avenir Next"/>
                <a:ea typeface="Avenir Next"/>
                <a:cs typeface="Avenir Next"/>
              </a:defRPr>
            </a:defPPr>
            <a:lvl1pPr algn="l">
              <a:defRPr sz="3450" b="1">
                <a:solidFill>
                  <a:srgbClr val="2363DA"/>
                </a:solidFill>
                <a:latin typeface="Avenir Next"/>
                <a:ea typeface="Avenir Next"/>
                <a:cs typeface="Avenir Next"/>
              </a:defRPr>
            </a:lvl1pPr>
            <a:lvl2pPr algn="l">
              <a:defRPr sz="3450" b="1">
                <a:solidFill>
                  <a:srgbClr val="2363DA"/>
                </a:solidFill>
                <a:latin typeface="Avenir Next"/>
                <a:ea typeface="Avenir Next"/>
                <a:cs typeface="Avenir Next"/>
              </a:defRPr>
            </a:lvl2pPr>
            <a:lvl3pPr algn="l">
              <a:defRPr sz="3450" b="1">
                <a:solidFill>
                  <a:srgbClr val="2363DA"/>
                </a:solidFill>
                <a:latin typeface="Avenir Next"/>
                <a:ea typeface="Avenir Next"/>
                <a:cs typeface="Avenir Next"/>
              </a:defRPr>
            </a:lvl3pPr>
            <a:lvl4pPr algn="l">
              <a:defRPr sz="3450" b="1">
                <a:solidFill>
                  <a:srgbClr val="2363DA"/>
                </a:solidFill>
                <a:latin typeface="Avenir Next"/>
                <a:ea typeface="Avenir Next"/>
                <a:cs typeface="Avenir Next"/>
              </a:defRPr>
            </a:lvl4pPr>
            <a:lvl5pPr algn="l">
              <a:defRPr sz="3450" b="1">
                <a:solidFill>
                  <a:srgbClr val="2363DA"/>
                </a:solidFill>
                <a:latin typeface="Avenir Next"/>
                <a:ea typeface="Avenir Next"/>
                <a:cs typeface="Avenir Next"/>
              </a:defRPr>
            </a:lvl5pPr>
            <a:lvl6pPr algn="l">
              <a:defRPr sz="3450" b="1">
                <a:solidFill>
                  <a:srgbClr val="2363DA"/>
                </a:solidFill>
                <a:latin typeface="Avenir Next"/>
                <a:ea typeface="Avenir Next"/>
                <a:cs typeface="Avenir Next"/>
              </a:defRPr>
            </a:lvl6pPr>
            <a:lvl7pPr algn="l">
              <a:defRPr sz="3450" b="1">
                <a:solidFill>
                  <a:srgbClr val="2363DA"/>
                </a:solidFill>
                <a:latin typeface="Avenir Next"/>
                <a:ea typeface="Avenir Next"/>
                <a:cs typeface="Avenir Next"/>
              </a:defRPr>
            </a:lvl7pPr>
            <a:lvl8pPr algn="l">
              <a:defRPr sz="3450" b="1">
                <a:solidFill>
                  <a:srgbClr val="2363DA"/>
                </a:solidFill>
                <a:latin typeface="Avenir Next"/>
                <a:ea typeface="Avenir Next"/>
                <a:cs typeface="Avenir Next"/>
              </a:defRPr>
            </a:lvl8pPr>
            <a:lvl9pPr algn="l">
              <a:defRPr sz="3450" b="1">
                <a:solidFill>
                  <a:srgbClr val="2363DA"/>
                </a:solidFill>
                <a:latin typeface="Avenir Next"/>
                <a:ea typeface="Avenir Next"/>
                <a:cs typeface="Avenir Next"/>
              </a:defRPr>
            </a:lvl9pPr>
          </a:lstStyle>
          <a:p xmlns:a="http://schemas.openxmlformats.org/drawingml/2006/main">
            <a:pPr algn="l">
              <a:defRPr sz="3450" b="1">
                <a:solidFill>
                  <a:srgbClr val="2363DA"/>
                </a:solidFill>
                <a:latin typeface="Avenir Next"/>
                <a:ea typeface="Avenir Next"/>
                <a:cs typeface="Avenir Next"/>
              </a:defRPr>
            </a:pPr>
            <a:r>
              <a:rPr sz="3450" b="1">
                <a:solidFill>
                  <a:srgbClr val="2363DA"/>
                </a:solidFill>
                <a:latin typeface="Avenir Next"/>
                <a:ea typeface="Avenir Next"/>
                <a:cs typeface="Avenir Next"/>
              </a:rPr>
              <a:t>0–15 ppm·h</a:t>
            </a:r>
          </a:p>
        </p:txBody>
      </p:sp>
      <p:sp>
        <p:nvSpPr>
          <p:cNvPr id="24" name="Current calibration range">
            <a:extLst xmlns:a="http://schemas.openxmlformats.org/drawingml/2006/main">
              <a:ext uri="{FF2B5EF4-FFF2-40B4-BE49-F238E27FC236}">
                <a16:creationId xmlns:a16="http://schemas.microsoft.com/office/drawing/2014/main" id="{D776BCD9-26E5-489F-80FF-3ABD0C5F8F53}"/>
              </a:ext>
            </a:extLst>
          </p:cNvPr>
          <p:cNvSpPr>
            <a:spLocks xmlns:a="http://schemas.openxmlformats.org/drawingml/2006/main" noGrp="1"/>
          </p:cNvSpPr>
          <p:nvPr/>
        </p:nvSpPr>
        <p:spPr>
          <a:xfrm xmlns:a="http://schemas.openxmlformats.org/drawingml/2006/main">
            <a:off x="7210425" y="4533900"/>
            <a:ext cx="438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B43"/>
                </a:solidFill>
                <a:latin typeface="Avenir Next"/>
                <a:ea typeface="Avenir Next"/>
                <a:cs typeface="Avenir Next"/>
              </a:defRPr>
            </a:defPPr>
            <a:lvl1pPr algn="l">
              <a:defRPr sz="1800" b="1">
                <a:solidFill>
                  <a:srgbClr val="142B43"/>
                </a:solidFill>
                <a:latin typeface="Avenir Next"/>
                <a:ea typeface="Avenir Next"/>
                <a:cs typeface="Avenir Next"/>
              </a:defRPr>
            </a:lvl1pPr>
            <a:lvl2pPr algn="l">
              <a:defRPr sz="1800" b="1">
                <a:solidFill>
                  <a:srgbClr val="142B43"/>
                </a:solidFill>
                <a:latin typeface="Avenir Next"/>
                <a:ea typeface="Avenir Next"/>
                <a:cs typeface="Avenir Next"/>
              </a:defRPr>
            </a:lvl2pPr>
            <a:lvl3pPr algn="l">
              <a:defRPr sz="1800" b="1">
                <a:solidFill>
                  <a:srgbClr val="142B43"/>
                </a:solidFill>
                <a:latin typeface="Avenir Next"/>
                <a:ea typeface="Avenir Next"/>
                <a:cs typeface="Avenir Next"/>
              </a:defRPr>
            </a:lvl3pPr>
            <a:lvl4pPr algn="l">
              <a:defRPr sz="1800" b="1">
                <a:solidFill>
                  <a:srgbClr val="142B43"/>
                </a:solidFill>
                <a:latin typeface="Avenir Next"/>
                <a:ea typeface="Avenir Next"/>
                <a:cs typeface="Avenir Next"/>
              </a:defRPr>
            </a:lvl4pPr>
            <a:lvl5pPr algn="l">
              <a:defRPr sz="1800" b="1">
                <a:solidFill>
                  <a:srgbClr val="142B43"/>
                </a:solidFill>
                <a:latin typeface="Avenir Next"/>
                <a:ea typeface="Avenir Next"/>
                <a:cs typeface="Avenir Next"/>
              </a:defRPr>
            </a:lvl5pPr>
            <a:lvl6pPr algn="l">
              <a:defRPr sz="1800" b="1">
                <a:solidFill>
                  <a:srgbClr val="142B43"/>
                </a:solidFill>
                <a:latin typeface="Avenir Next"/>
                <a:ea typeface="Avenir Next"/>
                <a:cs typeface="Avenir Next"/>
              </a:defRPr>
            </a:lvl6pPr>
            <a:lvl7pPr algn="l">
              <a:defRPr sz="1800" b="1">
                <a:solidFill>
                  <a:srgbClr val="142B43"/>
                </a:solidFill>
                <a:latin typeface="Avenir Next"/>
                <a:ea typeface="Avenir Next"/>
                <a:cs typeface="Avenir Next"/>
              </a:defRPr>
            </a:lvl7pPr>
            <a:lvl8pPr algn="l">
              <a:defRPr sz="1800" b="1">
                <a:solidFill>
                  <a:srgbClr val="142B43"/>
                </a:solidFill>
                <a:latin typeface="Avenir Next"/>
                <a:ea typeface="Avenir Next"/>
                <a:cs typeface="Avenir Next"/>
              </a:defRPr>
            </a:lvl8pPr>
            <a:lvl9pPr algn="l">
              <a:defRPr sz="1800" b="1">
                <a:solidFill>
                  <a:srgbClr val="142B43"/>
                </a:solidFill>
                <a:latin typeface="Avenir Next"/>
                <a:ea typeface="Avenir Next"/>
                <a:cs typeface="Avenir Next"/>
              </a:defRPr>
            </a:lvl9pPr>
          </a:lstStyle>
          <a:p xmlns:a="http://schemas.openxmlformats.org/drawingml/2006/main">
            <a:pPr algn="l">
              <a:defRPr sz="1800" b="1">
                <a:solidFill>
                  <a:srgbClr val="142B43"/>
                </a:solidFill>
                <a:latin typeface="Avenir Next"/>
                <a:ea typeface="Avenir Next"/>
                <a:cs typeface="Avenir Next"/>
              </a:defRPr>
            </a:pPr>
            <a:r>
              <a:rPr sz="1800" b="1">
                <a:solidFill>
                  <a:srgbClr val="142B43"/>
                </a:solidFill>
                <a:latin typeface="Avenir Next"/>
                <a:ea typeface="Avenir Next"/>
                <a:cs typeface="Avenir Next"/>
              </a:rPr>
              <a:t>Current calibration range</a:t>
            </a:r>
          </a:p>
        </p:txBody>
      </p:sp>
      <p:sp>
        <p:nvSpPr>
          <p:cNvPr id="25" name="One series, without replicates. Intermediate colours overlap. Interfer">
            <a:extLst xmlns:a="http://schemas.openxmlformats.org/drawingml/2006/main">
              <a:ext uri="{FF2B5EF4-FFF2-40B4-BE49-F238E27FC236}">
                <a16:creationId xmlns:a16="http://schemas.microsoft.com/office/drawing/2014/main" id="{6C678426-75D9-4246-AAD9-785ACD3A55EF}"/>
              </a:ext>
            </a:extLst>
          </p:cNvPr>
          <p:cNvSpPr>
            <a:spLocks xmlns:a="http://schemas.openxmlformats.org/drawingml/2006/main" noGrp="1"/>
          </p:cNvSpPr>
          <p:nvPr/>
        </p:nvSpPr>
        <p:spPr>
          <a:xfrm xmlns:a="http://schemas.openxmlformats.org/drawingml/2006/main">
            <a:off x="7210425" y="5000625"/>
            <a:ext cx="4381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4"/>
                </a:solidFill>
                <a:latin typeface="Avenir Next"/>
                <a:ea typeface="Avenir Next"/>
                <a:cs typeface="Avenir Next"/>
              </a:defRPr>
            </a:defPPr>
            <a:lvl1pPr algn="l">
              <a:defRPr sz="1575" b="0">
                <a:solidFill>
                  <a:srgbClr val="526574"/>
                </a:solidFill>
                <a:latin typeface="Avenir Next"/>
                <a:ea typeface="Avenir Next"/>
                <a:cs typeface="Avenir Next"/>
              </a:defRPr>
            </a:lvl1pPr>
            <a:lvl2pPr algn="l">
              <a:defRPr sz="1575" b="0">
                <a:solidFill>
                  <a:srgbClr val="526574"/>
                </a:solidFill>
                <a:latin typeface="Avenir Next"/>
                <a:ea typeface="Avenir Next"/>
                <a:cs typeface="Avenir Next"/>
              </a:defRPr>
            </a:lvl2pPr>
            <a:lvl3pPr algn="l">
              <a:defRPr sz="1575" b="0">
                <a:solidFill>
                  <a:srgbClr val="526574"/>
                </a:solidFill>
                <a:latin typeface="Avenir Next"/>
                <a:ea typeface="Avenir Next"/>
                <a:cs typeface="Avenir Next"/>
              </a:defRPr>
            </a:lvl3pPr>
            <a:lvl4pPr algn="l">
              <a:defRPr sz="1575" b="0">
                <a:solidFill>
                  <a:srgbClr val="526574"/>
                </a:solidFill>
                <a:latin typeface="Avenir Next"/>
                <a:ea typeface="Avenir Next"/>
                <a:cs typeface="Avenir Next"/>
              </a:defRPr>
            </a:lvl4pPr>
            <a:lvl5pPr algn="l">
              <a:defRPr sz="1575" b="0">
                <a:solidFill>
                  <a:srgbClr val="526574"/>
                </a:solidFill>
                <a:latin typeface="Avenir Next"/>
                <a:ea typeface="Avenir Next"/>
                <a:cs typeface="Avenir Next"/>
              </a:defRPr>
            </a:lvl5pPr>
            <a:lvl6pPr algn="l">
              <a:defRPr sz="1575" b="0">
                <a:solidFill>
                  <a:srgbClr val="526574"/>
                </a:solidFill>
                <a:latin typeface="Avenir Next"/>
                <a:ea typeface="Avenir Next"/>
                <a:cs typeface="Avenir Next"/>
              </a:defRPr>
            </a:lvl6pPr>
            <a:lvl7pPr algn="l">
              <a:defRPr sz="1575" b="0">
                <a:solidFill>
                  <a:srgbClr val="526574"/>
                </a:solidFill>
                <a:latin typeface="Avenir Next"/>
                <a:ea typeface="Avenir Next"/>
                <a:cs typeface="Avenir Next"/>
              </a:defRPr>
            </a:lvl7pPr>
            <a:lvl8pPr algn="l">
              <a:defRPr sz="1575" b="0">
                <a:solidFill>
                  <a:srgbClr val="526574"/>
                </a:solidFill>
                <a:latin typeface="Avenir Next"/>
                <a:ea typeface="Avenir Next"/>
                <a:cs typeface="Avenir Next"/>
              </a:defRPr>
            </a:lvl8pPr>
            <a:lvl9pPr algn="l">
              <a:defRPr sz="1575" b="0">
                <a:solidFill>
                  <a:srgbClr val="526574"/>
                </a:solidFill>
                <a:latin typeface="Avenir Next"/>
                <a:ea typeface="Avenir Next"/>
                <a:cs typeface="Avenir Next"/>
              </a:defRPr>
            </a:lvl9pPr>
          </a:lstStyle>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One series, without replicates.</a:t>
            </a:r>
          </a:p>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Intermediate colours overlap.</a:t>
            </a:r>
          </a:p>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Interference and expiry need validation.</a:t>
            </a:r>
          </a:p>
        </p:txBody>
      </p:sp>
      <p:sp>
        <p:nvSpPr>
          <p:cNvPr id="26" name="[3] Supplied 30 ppm series. Dose = concentration × time. Quantitative ">
            <a:extLst xmlns:a="http://schemas.openxmlformats.org/drawingml/2006/main">
              <a:ext uri="{FF2B5EF4-FFF2-40B4-BE49-F238E27FC236}">
                <a16:creationId xmlns:a16="http://schemas.microsoft.com/office/drawing/2014/main" id="{19313770-61E8-4AFE-A60A-EF636545B281}"/>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[3] Supplied 30 ppm series. Dose = concentration × time. Quantitative exposure and TWA remain provisional.</a:t>
            </a:r>
          </a:p>
        </p:txBody>
      </p:sp>
      <p:sp>
        <p:nvSpPr>
          <p:cNvPr id="27" name="05">
            <a:extLst xmlns:a="http://schemas.openxmlformats.org/drawingml/2006/main">
              <a:ext uri="{FF2B5EF4-FFF2-40B4-BE49-F238E27FC236}">
                <a16:creationId xmlns:a16="http://schemas.microsoft.com/office/drawing/2014/main" id="{08FFD4ED-4944-4215-8DEB-39E2EAFA6FDE}"/>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05</a:t>
            </a:r>
          </a:p>
        </p:txBody>
      </p:sp>
    </p:spTree>
    <p:extLst>
      <p:ext uri="{BB962C8B-B14F-4D97-AF65-F5344CB8AC3E}">
        <p14:creationId xmlns:p14="http://schemas.microsoft.com/office/powerpoint/2010/main" val="1290545406"/>
      </p:ext>
    </p:extLst>
  </p:cSld>
</p:sld>
</file>

<file path=ppt/slides/slide6.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sp>
        <p:nvSpPr>
          <p:cNvPr id="27" name="A gated path to a worker pilot">
            <a:extLst xmlns:a="http://schemas.openxmlformats.org/drawingml/2006/main">
              <a:ext uri="{FF2B5EF4-FFF2-40B4-BE49-F238E27FC236}">
                <a16:creationId xmlns:a16="http://schemas.microsoft.com/office/drawing/2014/main" id="{CB054446-7760-4DE0-8DA6-A71D0CF6ACF3}"/>
              </a:ext>
            </a:extLst>
          </p:cNvPr>
          <p:cNvSpPr>
            <a:spLocks xmlns:a="http://schemas.openxmlformats.org/drawingml/2006/main" noGrp="1"/>
          </p:cNvSpPr>
          <p:nvPr/>
        </p:nvSpPr>
        <p:spPr>
          <a:xfrm xmlns:a="http://schemas.openxmlformats.org/drawingml/2006/main">
            <a:off x="609600" y="523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venir Next"/>
                <a:ea typeface="Avenir Next"/>
                <a:cs typeface="Avenir Next"/>
              </a:defRPr>
            </a:defPPr>
            <a:lvl1pPr algn="l">
              <a:defRPr sz="3450" b="1">
                <a:solidFill>
                  <a:srgbClr val="FFFFFF"/>
                </a:solidFill>
                <a:latin typeface="Avenir Next"/>
                <a:ea typeface="Avenir Next"/>
                <a:cs typeface="Avenir Next"/>
              </a:defRPr>
            </a:lvl1pPr>
            <a:lvl2pPr algn="l">
              <a:defRPr sz="3450" b="1">
                <a:solidFill>
                  <a:srgbClr val="FFFFFF"/>
                </a:solidFill>
                <a:latin typeface="Avenir Next"/>
                <a:ea typeface="Avenir Next"/>
                <a:cs typeface="Avenir Next"/>
              </a:defRPr>
            </a:lvl2pPr>
            <a:lvl3pPr algn="l">
              <a:defRPr sz="3450" b="1">
                <a:solidFill>
                  <a:srgbClr val="FFFFFF"/>
                </a:solidFill>
                <a:latin typeface="Avenir Next"/>
                <a:ea typeface="Avenir Next"/>
                <a:cs typeface="Avenir Next"/>
              </a:defRPr>
            </a:lvl3pPr>
            <a:lvl4pPr algn="l">
              <a:defRPr sz="3450" b="1">
                <a:solidFill>
                  <a:srgbClr val="FFFFFF"/>
                </a:solidFill>
                <a:latin typeface="Avenir Next"/>
                <a:ea typeface="Avenir Next"/>
                <a:cs typeface="Avenir Next"/>
              </a:defRPr>
            </a:lvl4pPr>
            <a:lvl5pPr algn="l">
              <a:defRPr sz="3450" b="1">
                <a:solidFill>
                  <a:srgbClr val="FFFFFF"/>
                </a:solidFill>
                <a:latin typeface="Avenir Next"/>
                <a:ea typeface="Avenir Next"/>
                <a:cs typeface="Avenir Next"/>
              </a:defRPr>
            </a:lvl5pPr>
            <a:lvl6pPr algn="l">
              <a:defRPr sz="3450" b="1">
                <a:solidFill>
                  <a:srgbClr val="FFFFFF"/>
                </a:solidFill>
                <a:latin typeface="Avenir Next"/>
                <a:ea typeface="Avenir Next"/>
                <a:cs typeface="Avenir Next"/>
              </a:defRPr>
            </a:lvl6pPr>
            <a:lvl7pPr algn="l">
              <a:defRPr sz="3450" b="1">
                <a:solidFill>
                  <a:srgbClr val="FFFFFF"/>
                </a:solidFill>
                <a:latin typeface="Avenir Next"/>
                <a:ea typeface="Avenir Next"/>
                <a:cs typeface="Avenir Next"/>
              </a:defRPr>
            </a:lvl7pPr>
            <a:lvl8pPr algn="l">
              <a:defRPr sz="3450" b="1">
                <a:solidFill>
                  <a:srgbClr val="FFFFFF"/>
                </a:solidFill>
                <a:latin typeface="Avenir Next"/>
                <a:ea typeface="Avenir Next"/>
                <a:cs typeface="Avenir Next"/>
              </a:defRPr>
            </a:lvl8pPr>
            <a:lvl9pPr algn="l">
              <a:defRPr sz="3450" b="1">
                <a:solidFill>
                  <a:srgbClr val="FFFFFF"/>
                </a:solidFill>
                <a:latin typeface="Avenir Next"/>
                <a:ea typeface="Avenir Next"/>
                <a:cs typeface="Avenir Next"/>
              </a:defRPr>
            </a:lvl9pPr>
          </a:lstStyle>
          <a:p xmlns:a="http://schemas.openxmlformats.org/drawingml/2006/main">
            <a:pPr algn="l">
              <a:defRPr sz="3450" b="1">
                <a:solidFill>
                  <a:srgbClr val="FFFFFF"/>
                </a:solidFill>
                <a:latin typeface="Avenir Next"/>
                <a:ea typeface="Avenir Next"/>
                <a:cs typeface="Avenir Next"/>
              </a:defRPr>
            </a:pPr>
            <a:r>
              <a:rPr sz="3450" b="1">
                <a:solidFill>
                  <a:srgbClr val="FFFFFF"/>
                </a:solidFill>
                <a:latin typeface="Avenir Next"/>
                <a:ea typeface="Avenir Next"/>
                <a:cs typeface="Avenir Next"/>
              </a:rPr>
              <a:t>A gated path to a worker pilot</a:t>
            </a:r>
          </a:p>
        </p:txBody>
      </p:sp>
      <p:sp>
        <p:nvSpPr>
          <p:cNvPr id="2" name="Required before operational use">
            <a:extLst xmlns:a="http://schemas.openxmlformats.org/drawingml/2006/main">
              <a:ext uri="{FF2B5EF4-FFF2-40B4-BE49-F238E27FC236}">
                <a16:creationId xmlns:a16="http://schemas.microsoft.com/office/drawing/2014/main" id="{DD371600-65A0-4BF1-9E0B-6108B5A729EC}"/>
              </a:ext>
            </a:extLst>
          </p:cNvPr>
          <p:cNvSpPr>
            <a:spLocks xmlns:a="http://schemas.openxmlformats.org/drawingml/2006/main" noGrp="1"/>
          </p:cNvSpPr>
          <p:nvPr/>
        </p:nvSpPr>
        <p:spPr>
          <a:xfrm xmlns:a="http://schemas.openxmlformats.org/drawingml/2006/main">
            <a:off x="619125" y="12858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8B563"/>
                </a:solidFill>
                <a:latin typeface="Avenir Next"/>
                <a:ea typeface="Avenir Next"/>
                <a:cs typeface="Avenir Next"/>
              </a:defRPr>
            </a:defPPr>
            <a:lvl1pPr algn="l">
              <a:defRPr sz="1800" b="0">
                <a:solidFill>
                  <a:srgbClr val="E8B563"/>
                </a:solidFill>
                <a:latin typeface="Avenir Next"/>
                <a:ea typeface="Avenir Next"/>
                <a:cs typeface="Avenir Next"/>
              </a:defRPr>
            </a:lvl1pPr>
            <a:lvl2pPr algn="l">
              <a:defRPr sz="1800" b="0">
                <a:solidFill>
                  <a:srgbClr val="E8B563"/>
                </a:solidFill>
                <a:latin typeface="Avenir Next"/>
                <a:ea typeface="Avenir Next"/>
                <a:cs typeface="Avenir Next"/>
              </a:defRPr>
            </a:lvl2pPr>
            <a:lvl3pPr algn="l">
              <a:defRPr sz="1800" b="0">
                <a:solidFill>
                  <a:srgbClr val="E8B563"/>
                </a:solidFill>
                <a:latin typeface="Avenir Next"/>
                <a:ea typeface="Avenir Next"/>
                <a:cs typeface="Avenir Next"/>
              </a:defRPr>
            </a:lvl3pPr>
            <a:lvl4pPr algn="l">
              <a:defRPr sz="1800" b="0">
                <a:solidFill>
                  <a:srgbClr val="E8B563"/>
                </a:solidFill>
                <a:latin typeface="Avenir Next"/>
                <a:ea typeface="Avenir Next"/>
                <a:cs typeface="Avenir Next"/>
              </a:defRPr>
            </a:lvl4pPr>
            <a:lvl5pPr algn="l">
              <a:defRPr sz="1800" b="0">
                <a:solidFill>
                  <a:srgbClr val="E8B563"/>
                </a:solidFill>
                <a:latin typeface="Avenir Next"/>
                <a:ea typeface="Avenir Next"/>
                <a:cs typeface="Avenir Next"/>
              </a:defRPr>
            </a:lvl5pPr>
            <a:lvl6pPr algn="l">
              <a:defRPr sz="1800" b="0">
                <a:solidFill>
                  <a:srgbClr val="E8B563"/>
                </a:solidFill>
                <a:latin typeface="Avenir Next"/>
                <a:ea typeface="Avenir Next"/>
                <a:cs typeface="Avenir Next"/>
              </a:defRPr>
            </a:lvl6pPr>
            <a:lvl7pPr algn="l">
              <a:defRPr sz="1800" b="0">
                <a:solidFill>
                  <a:srgbClr val="E8B563"/>
                </a:solidFill>
                <a:latin typeface="Avenir Next"/>
                <a:ea typeface="Avenir Next"/>
                <a:cs typeface="Avenir Next"/>
              </a:defRPr>
            </a:lvl7pPr>
            <a:lvl8pPr algn="l">
              <a:defRPr sz="1800" b="0">
                <a:solidFill>
                  <a:srgbClr val="E8B563"/>
                </a:solidFill>
                <a:latin typeface="Avenir Next"/>
                <a:ea typeface="Avenir Next"/>
                <a:cs typeface="Avenir Next"/>
              </a:defRPr>
            </a:lvl8pPr>
            <a:lvl9pPr algn="l">
              <a:defRPr sz="1800" b="0">
                <a:solidFill>
                  <a:srgbClr val="E8B563"/>
                </a:solidFill>
                <a:latin typeface="Avenir Next"/>
                <a:ea typeface="Avenir Next"/>
                <a:cs typeface="Avenir Next"/>
              </a:defRPr>
            </a:lvl9pPr>
          </a:lstStyle>
          <a:p xmlns:a="http://schemas.openxmlformats.org/drawingml/2006/main">
            <a:pPr algn="l">
              <a:defRPr sz="1800" b="0">
                <a:solidFill>
                  <a:srgbClr val="E8B563"/>
                </a:solidFill>
                <a:latin typeface="Avenir Next"/>
                <a:ea typeface="Avenir Next"/>
                <a:cs typeface="Avenir Next"/>
              </a:defRPr>
            </a:pPr>
            <a:r>
              <a:rPr sz="1800" b="0">
                <a:solidFill>
                  <a:srgbClr val="E8B563"/>
                </a:solidFill>
                <a:latin typeface="Avenir Next"/>
                <a:ea typeface="Avenir Next"/>
                <a:cs typeface="Avenir Next"/>
              </a:rPr>
              <a:t>Required before operational use</a:t>
            </a:r>
          </a:p>
        </p:txBody>
      </p:sp>
      <p:sp>
        <p:nvSpPr>
          <p:cNvPr id="3" name="01">
            <a:extLst xmlns:a="http://schemas.openxmlformats.org/drawingml/2006/main">
              <a:ext uri="{FF2B5EF4-FFF2-40B4-BE49-F238E27FC236}">
                <a16:creationId xmlns:a16="http://schemas.microsoft.com/office/drawing/2014/main" id="{906511BC-4154-402A-AE17-D172E0EE3522}"/>
              </a:ext>
            </a:extLst>
          </p:cNvPr>
          <p:cNvSpPr>
            <a:spLocks xmlns:a="http://schemas.openxmlformats.org/drawingml/2006/main" noGrp="1"/>
          </p:cNvSpPr>
          <p:nvPr/>
        </p:nvSpPr>
        <p:spPr>
          <a:xfrm xmlns:a="http://schemas.openxmlformats.org/drawingml/2006/main">
            <a:off x="609600"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01</a:t>
            </a:r>
          </a:p>
        </p:txBody>
      </p:sp>
      <p:sp>
        <p:nvSpPr>
          <p:cNvPr id="4" name="Lab evidence">
            <a:extLst xmlns:a="http://schemas.openxmlformats.org/drawingml/2006/main">
              <a:ext uri="{FF2B5EF4-FFF2-40B4-BE49-F238E27FC236}">
                <a16:creationId xmlns:a16="http://schemas.microsoft.com/office/drawing/2014/main" id="{5B6E3A64-8AE3-4029-82AD-D172E3BAB7D7}"/>
              </a:ext>
            </a:extLst>
          </p:cNvPr>
          <p:cNvSpPr>
            <a:spLocks xmlns:a="http://schemas.openxmlformats.org/drawingml/2006/main" noGrp="1"/>
          </p:cNvSpPr>
          <p:nvPr/>
        </p:nvSpPr>
        <p:spPr>
          <a:xfrm xmlns:a="http://schemas.openxmlformats.org/drawingml/2006/main">
            <a:off x="609600"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Lab evidence</a:t>
            </a:r>
          </a:p>
        </p:txBody>
      </p:sp>
      <p:sp>
        <p:nvSpPr>
          <p:cNvPr id="5" name="Batch calibration, aged controls and interference testing.">
            <a:extLst xmlns:a="http://schemas.openxmlformats.org/drawingml/2006/main">
              <a:ext uri="{FF2B5EF4-FFF2-40B4-BE49-F238E27FC236}">
                <a16:creationId xmlns:a16="http://schemas.microsoft.com/office/drawing/2014/main" id="{86B13E6C-F57B-4F3E-A200-CEC758A7023F}"/>
              </a:ext>
            </a:extLst>
          </p:cNvPr>
          <p:cNvSpPr>
            <a:spLocks xmlns:a="http://schemas.openxmlformats.org/drawingml/2006/main" noGrp="1"/>
          </p:cNvSpPr>
          <p:nvPr/>
        </p:nvSpPr>
        <p:spPr>
          <a:xfrm xmlns:a="http://schemas.openxmlformats.org/drawingml/2006/main">
            <a:off x="609600"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Batch calibration, aged controls</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interference testing.</a:t>
            </a:r>
          </a:p>
        </p:txBody>
      </p:sp>
      <p:sp>
        <p:nvSpPr>
          <p:cNvPr id="6" name="02">
            <a:extLst xmlns:a="http://schemas.openxmlformats.org/drawingml/2006/main">
              <a:ext uri="{FF2B5EF4-FFF2-40B4-BE49-F238E27FC236}">
                <a16:creationId xmlns:a16="http://schemas.microsoft.com/office/drawing/2014/main" id="{9F1749CF-4E2C-4E6A-A690-5B702D2AEC06}"/>
              </a:ext>
            </a:extLst>
          </p:cNvPr>
          <p:cNvSpPr>
            <a:spLocks xmlns:a="http://schemas.openxmlformats.org/drawingml/2006/main" noGrp="1"/>
          </p:cNvSpPr>
          <p:nvPr/>
        </p:nvSpPr>
        <p:spPr>
          <a:xfrm xmlns:a="http://schemas.openxmlformats.org/drawingml/2006/main">
            <a:off x="3419475"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02</a:t>
            </a:r>
          </a:p>
        </p:txBody>
      </p:sp>
      <p:sp>
        <p:nvSpPr>
          <p:cNvPr id="7" name="Reader robustness">
            <a:extLst xmlns:a="http://schemas.openxmlformats.org/drawingml/2006/main">
              <a:ext uri="{FF2B5EF4-FFF2-40B4-BE49-F238E27FC236}">
                <a16:creationId xmlns:a16="http://schemas.microsoft.com/office/drawing/2014/main" id="{05F0D9F2-0375-48E4-A39B-3547DBC9AA25}"/>
              </a:ext>
            </a:extLst>
          </p:cNvPr>
          <p:cNvSpPr>
            <a:spLocks xmlns:a="http://schemas.openxmlformats.org/drawingml/2006/main" noGrp="1"/>
          </p:cNvSpPr>
          <p:nvPr/>
        </p:nvSpPr>
        <p:spPr>
          <a:xfrm xmlns:a="http://schemas.openxmlformats.org/drawingml/2006/main">
            <a:off x="3419475"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Reader robustness</a:t>
            </a:r>
          </a:p>
        </p:txBody>
      </p:sp>
      <p:sp>
        <p:nvSpPr>
          <p:cNvPr id="8" name="Independent phones, lighting and held-out card batches.">
            <a:extLst xmlns:a="http://schemas.openxmlformats.org/drawingml/2006/main">
              <a:ext uri="{FF2B5EF4-FFF2-40B4-BE49-F238E27FC236}">
                <a16:creationId xmlns:a16="http://schemas.microsoft.com/office/drawing/2014/main" id="{D1CDF079-8DBA-4755-AE3F-03DA74753F1E}"/>
              </a:ext>
            </a:extLst>
          </p:cNvPr>
          <p:cNvSpPr>
            <a:spLocks xmlns:a="http://schemas.openxmlformats.org/drawingml/2006/main" noGrp="1"/>
          </p:cNvSpPr>
          <p:nvPr/>
        </p:nvSpPr>
        <p:spPr>
          <a:xfrm xmlns:a="http://schemas.openxmlformats.org/drawingml/2006/main">
            <a:off x="3419475"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Independent phones, lighting</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held-out card batches.</a:t>
            </a:r>
          </a:p>
        </p:txBody>
      </p:sp>
      <p:sp>
        <p:nvSpPr>
          <p:cNvPr id="9" name="03">
            <a:extLst xmlns:a="http://schemas.openxmlformats.org/drawingml/2006/main">
              <a:ext uri="{FF2B5EF4-FFF2-40B4-BE49-F238E27FC236}">
                <a16:creationId xmlns:a16="http://schemas.microsoft.com/office/drawing/2014/main" id="{D653A952-AED8-4BF3-9EA8-4BA4D10F1910}"/>
              </a:ext>
            </a:extLst>
          </p:cNvPr>
          <p:cNvSpPr>
            <a:spLocks xmlns:a="http://schemas.openxmlformats.org/drawingml/2006/main" noGrp="1"/>
          </p:cNvSpPr>
          <p:nvPr/>
        </p:nvSpPr>
        <p:spPr>
          <a:xfrm xmlns:a="http://schemas.openxmlformats.org/drawingml/2006/main">
            <a:off x="6229350"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03</a:t>
            </a:r>
          </a:p>
        </p:txBody>
      </p:sp>
      <p:sp>
        <p:nvSpPr>
          <p:cNvPr id="10" name="Worker usability">
            <a:extLst xmlns:a="http://schemas.openxmlformats.org/drawingml/2006/main">
              <a:ext uri="{FF2B5EF4-FFF2-40B4-BE49-F238E27FC236}">
                <a16:creationId xmlns:a16="http://schemas.microsoft.com/office/drawing/2014/main" id="{BC833F55-8572-4B94-9F74-8E1331936064}"/>
              </a:ext>
            </a:extLst>
          </p:cNvPr>
          <p:cNvSpPr>
            <a:spLocks xmlns:a="http://schemas.openxmlformats.org/drawingml/2006/main" noGrp="1"/>
          </p:cNvSpPr>
          <p:nvPr/>
        </p:nvSpPr>
        <p:spPr>
          <a:xfrm xmlns:a="http://schemas.openxmlformats.org/drawingml/2006/main">
            <a:off x="6229350"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Worker usability</a:t>
            </a:r>
          </a:p>
        </p:txBody>
      </p:sp>
      <p:sp>
        <p:nvSpPr>
          <p:cNvPr id="11" name="Language review, scan retries and result comprehension.">
            <a:extLst xmlns:a="http://schemas.openxmlformats.org/drawingml/2006/main">
              <a:ext uri="{FF2B5EF4-FFF2-40B4-BE49-F238E27FC236}">
                <a16:creationId xmlns:a16="http://schemas.microsoft.com/office/drawing/2014/main" id="{5ED8004B-345B-4785-A681-0E29CBEF14FA}"/>
              </a:ext>
            </a:extLst>
          </p:cNvPr>
          <p:cNvSpPr>
            <a:spLocks xmlns:a="http://schemas.openxmlformats.org/drawingml/2006/main" noGrp="1"/>
          </p:cNvSpPr>
          <p:nvPr/>
        </p:nvSpPr>
        <p:spPr>
          <a:xfrm xmlns:a="http://schemas.openxmlformats.org/drawingml/2006/main">
            <a:off x="6229350"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Language review, scan retries</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result comprehension.</a:t>
            </a:r>
          </a:p>
        </p:txBody>
      </p:sp>
      <p:sp>
        <p:nvSpPr>
          <p:cNvPr id="12" name="04">
            <a:extLst xmlns:a="http://schemas.openxmlformats.org/drawingml/2006/main">
              <a:ext uri="{FF2B5EF4-FFF2-40B4-BE49-F238E27FC236}">
                <a16:creationId xmlns:a16="http://schemas.microsoft.com/office/drawing/2014/main" id="{E2C1BE68-68AF-4C6B-BC76-5385C15B3F00}"/>
              </a:ext>
            </a:extLst>
          </p:cNvPr>
          <p:cNvSpPr>
            <a:spLocks xmlns:a="http://schemas.openxmlformats.org/drawingml/2006/main" noGrp="1"/>
          </p:cNvSpPr>
          <p:nvPr/>
        </p:nvSpPr>
        <p:spPr>
          <a:xfrm xmlns:a="http://schemas.openxmlformats.org/drawingml/2006/main">
            <a:off x="9039225"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04</a:t>
            </a:r>
          </a:p>
        </p:txBody>
      </p:sp>
      <p:sp>
        <p:nvSpPr>
          <p:cNvPr id="13" name="Controlled pilot">
            <a:extLst xmlns:a="http://schemas.openxmlformats.org/drawingml/2006/main">
              <a:ext uri="{FF2B5EF4-FFF2-40B4-BE49-F238E27FC236}">
                <a16:creationId xmlns:a16="http://schemas.microsoft.com/office/drawing/2014/main" id="{6F996930-4EF6-46AB-9D04-22A3AEE8E269}"/>
              </a:ext>
            </a:extLst>
          </p:cNvPr>
          <p:cNvSpPr>
            <a:spLocks xmlns:a="http://schemas.openxmlformats.org/drawingml/2006/main" noGrp="1"/>
          </p:cNvSpPr>
          <p:nvPr/>
        </p:nvSpPr>
        <p:spPr>
          <a:xfrm xmlns:a="http://schemas.openxmlformats.org/drawingml/2006/main">
            <a:off x="9039225"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Controlled pilot</a:t>
            </a:r>
          </a:p>
        </p:txBody>
      </p:sp>
      <p:sp>
        <p:nvSpPr>
          <p:cNvPr id="14" name="EHS approval and agreed success criteria at one site.">
            <a:extLst xmlns:a="http://schemas.openxmlformats.org/drawingml/2006/main">
              <a:ext uri="{FF2B5EF4-FFF2-40B4-BE49-F238E27FC236}">
                <a16:creationId xmlns:a16="http://schemas.microsoft.com/office/drawing/2014/main" id="{45EA024D-328D-44F6-B8EF-253C0AE12FBD}"/>
              </a:ext>
            </a:extLst>
          </p:cNvPr>
          <p:cNvSpPr>
            <a:spLocks xmlns:a="http://schemas.openxmlformats.org/drawingml/2006/main" noGrp="1"/>
          </p:cNvSpPr>
          <p:nvPr/>
        </p:nvSpPr>
        <p:spPr>
          <a:xfrm xmlns:a="http://schemas.openxmlformats.org/drawingml/2006/main">
            <a:off x="9039225"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EHS approval and agreed</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success criteria at one site.</a:t>
            </a:r>
          </a:p>
        </p:txBody>
      </p:sp>
      <p:sp>
        <p:nvSpPr>
          <p:cNvPr id="15" name="">
            <a:extLst xmlns:a="http://schemas.openxmlformats.org/drawingml/2006/main">
              <a:ext uri="{FF2B5EF4-FFF2-40B4-BE49-F238E27FC236}">
                <a16:creationId xmlns:a16="http://schemas.microsoft.com/office/drawing/2014/main" id="{254BD6FC-095D-44F5-9CD5-3A29C1BC2239}"/>
              </a:ext>
            </a:extLst>
          </p:cNvPr>
          <p:cNvSpPr>
            <a:spLocks xmlns:a="http://schemas.openxmlformats.org/drawingml/2006/main" noGrp="1"/>
          </p:cNvSpPr>
          <p:nvPr/>
        </p:nvSpPr>
        <p:spPr>
          <a:xfrm xmlns:a="http://schemas.openxmlformats.org/drawingml/2006/main">
            <a:off x="609600" y="3829050"/>
            <a:ext cx="10972800" cy="0"/>
          </a:xfrm>
          <a:prstGeom xmlns:a="http://schemas.openxmlformats.org/drawingml/2006/main" prst="line">
            <a:avLst/>
          </a:prstGeom>
          <a:ln xmlns:a="http://schemas.openxmlformats.org/drawingml/2006/main" w="9525">
            <a:solidFill>
              <a:srgbClr val="385269"/>
            </a:solidFill>
          </a:ln>
        </p:spPr>
      </p:sp>
      <p:sp>
        <p:nvSpPr>
          <p:cNvPr id="16" name="References">
            <a:extLst xmlns:a="http://schemas.openxmlformats.org/drawingml/2006/main">
              <a:ext uri="{FF2B5EF4-FFF2-40B4-BE49-F238E27FC236}">
                <a16:creationId xmlns:a16="http://schemas.microsoft.com/office/drawing/2014/main" id="{14D48716-2E3C-4E95-A6B2-555DD12D708A}"/>
              </a:ext>
            </a:extLst>
          </p:cNvPr>
          <p:cNvSpPr>
            <a:spLocks xmlns:a="http://schemas.openxmlformats.org/drawingml/2006/main" noGrp="1"/>
          </p:cNvSpPr>
          <p:nvPr/>
        </p:nvSpPr>
        <p:spPr>
          <a:xfrm xmlns:a="http://schemas.openxmlformats.org/drawingml/2006/main">
            <a:off x="609600" y="4124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venir Next"/>
                <a:ea typeface="Avenir Next"/>
                <a:cs typeface="Avenir Next"/>
              </a:defRPr>
            </a:defPPr>
            <a:lvl1pPr algn="l">
              <a:defRPr sz="2175" b="1">
                <a:solidFill>
                  <a:srgbClr val="FFFFFF"/>
                </a:solidFill>
                <a:latin typeface="Avenir Next"/>
                <a:ea typeface="Avenir Next"/>
                <a:cs typeface="Avenir Next"/>
              </a:defRPr>
            </a:lvl1pPr>
            <a:lvl2pPr algn="l">
              <a:defRPr sz="2175" b="1">
                <a:solidFill>
                  <a:srgbClr val="FFFFFF"/>
                </a:solidFill>
                <a:latin typeface="Avenir Next"/>
                <a:ea typeface="Avenir Next"/>
                <a:cs typeface="Avenir Next"/>
              </a:defRPr>
            </a:lvl2pPr>
            <a:lvl3pPr algn="l">
              <a:defRPr sz="2175" b="1">
                <a:solidFill>
                  <a:srgbClr val="FFFFFF"/>
                </a:solidFill>
                <a:latin typeface="Avenir Next"/>
                <a:ea typeface="Avenir Next"/>
                <a:cs typeface="Avenir Next"/>
              </a:defRPr>
            </a:lvl3pPr>
            <a:lvl4pPr algn="l">
              <a:defRPr sz="2175" b="1">
                <a:solidFill>
                  <a:srgbClr val="FFFFFF"/>
                </a:solidFill>
                <a:latin typeface="Avenir Next"/>
                <a:ea typeface="Avenir Next"/>
                <a:cs typeface="Avenir Next"/>
              </a:defRPr>
            </a:lvl4pPr>
            <a:lvl5pPr algn="l">
              <a:defRPr sz="2175" b="1">
                <a:solidFill>
                  <a:srgbClr val="FFFFFF"/>
                </a:solidFill>
                <a:latin typeface="Avenir Next"/>
                <a:ea typeface="Avenir Next"/>
                <a:cs typeface="Avenir Next"/>
              </a:defRPr>
            </a:lvl5pPr>
            <a:lvl6pPr algn="l">
              <a:defRPr sz="2175" b="1">
                <a:solidFill>
                  <a:srgbClr val="FFFFFF"/>
                </a:solidFill>
                <a:latin typeface="Avenir Next"/>
                <a:ea typeface="Avenir Next"/>
                <a:cs typeface="Avenir Next"/>
              </a:defRPr>
            </a:lvl6pPr>
            <a:lvl7pPr algn="l">
              <a:defRPr sz="2175" b="1">
                <a:solidFill>
                  <a:srgbClr val="FFFFFF"/>
                </a:solidFill>
                <a:latin typeface="Avenir Next"/>
                <a:ea typeface="Avenir Next"/>
                <a:cs typeface="Avenir Next"/>
              </a:defRPr>
            </a:lvl7pPr>
            <a:lvl8pPr algn="l">
              <a:defRPr sz="2175" b="1">
                <a:solidFill>
                  <a:srgbClr val="FFFFFF"/>
                </a:solidFill>
                <a:latin typeface="Avenir Next"/>
                <a:ea typeface="Avenir Next"/>
                <a:cs typeface="Avenir Next"/>
              </a:defRPr>
            </a:lvl8pPr>
            <a:lvl9pPr algn="l">
              <a:defRPr sz="2175" b="1">
                <a:solidFill>
                  <a:srgbClr val="FFFFFF"/>
                </a:solidFill>
                <a:latin typeface="Avenir Next"/>
                <a:ea typeface="Avenir Next"/>
                <a:cs typeface="Avenir Next"/>
              </a:defRPr>
            </a:lvl9pPr>
          </a:lstStyle>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References</a:t>
            </a:r>
          </a:p>
        </p:txBody>
      </p:sp>
      <p:sp>
        <p:nvSpPr>
          <p:cNvPr id="17" name="[1] ILO, global workplace burden (2023)">
            <a:extLst xmlns:a="http://schemas.openxmlformats.org/drawingml/2006/main">
              <a:ext uri="{FF2B5EF4-FFF2-40B4-BE49-F238E27FC236}">
                <a16:creationId xmlns:a16="http://schemas.microsoft.com/office/drawing/2014/main" id="{6396807A-FC54-477A-870B-720C4DE7FB08}"/>
              </a:ext>
            </a:extLst>
          </p:cNvPr>
          <p:cNvSpPr>
            <a:spLocks xmlns:a="http://schemas.openxmlformats.org/drawingml/2006/main" noGrp="1"/>
          </p:cNvSpPr>
          <p:nvPr/>
        </p:nvSpPr>
        <p:spPr>
          <a:xfrm xmlns:a="http://schemas.openxmlformats.org/drawingml/2006/main">
            <a:off x="609600" y="4676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1dc14e600b9a4b58"/>
              </a:rPr>
              <a:t>[1] ILO, global workplace burden (2023)</a:t>
            </a:r>
          </a:p>
        </p:txBody>
      </p:sp>
      <p:sp>
        <p:nvSpPr>
          <p:cNvPr id="18" name="2.93 million deaths annually across all work-related causes.">
            <a:extLst xmlns:a="http://schemas.openxmlformats.org/drawingml/2006/main">
              <a:ext uri="{FF2B5EF4-FFF2-40B4-BE49-F238E27FC236}">
                <a16:creationId xmlns:a16="http://schemas.microsoft.com/office/drawing/2014/main" id="{10B978B8-0B20-4336-B605-44FFF878252F}"/>
              </a:ext>
            </a:extLst>
          </p:cNvPr>
          <p:cNvSpPr>
            <a:spLocks xmlns:a="http://schemas.openxmlformats.org/drawingml/2006/main" noGrp="1"/>
          </p:cNvSpPr>
          <p:nvPr/>
        </p:nvSpPr>
        <p:spPr>
          <a:xfrm xmlns:a="http://schemas.openxmlformats.org/drawingml/2006/main">
            <a:off x="609600" y="5000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2.93 million deaths annually across all work-related causes.</a:t>
            </a:r>
          </a:p>
        </p:txBody>
      </p:sp>
      <p:sp>
        <p:nvSpPr>
          <p:cNvPr id="19" name="[2] CDC / NIOSH, Hydrogen sulfide">
            <a:extLst xmlns:a="http://schemas.openxmlformats.org/drawingml/2006/main">
              <a:ext uri="{FF2B5EF4-FFF2-40B4-BE49-F238E27FC236}">
                <a16:creationId xmlns:a16="http://schemas.microsoft.com/office/drawing/2014/main" id="{1858AF60-3450-4F1E-B638-68B4BDA9CC89}"/>
              </a:ext>
            </a:extLst>
          </p:cNvPr>
          <p:cNvSpPr>
            <a:spLocks xmlns:a="http://schemas.openxmlformats.org/drawingml/2006/main" noGrp="1"/>
          </p:cNvSpPr>
          <p:nvPr/>
        </p:nvSpPr>
        <p:spPr>
          <a:xfrm xmlns:a="http://schemas.openxmlformats.org/drawingml/2006/main">
            <a:off x="6419850" y="4676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76050aa2bbb54eb7"/>
              </a:rPr>
              <a:t>[2] CDC / NIOSH, Hydrogen sulfide</a:t>
            </a:r>
          </a:p>
        </p:txBody>
      </p:sp>
      <p:sp>
        <p:nvSpPr>
          <p:cNvPr id="20" name="100 ppm IDLH and 10 ppm / 10-minute ceiling.">
            <a:extLst xmlns:a="http://schemas.openxmlformats.org/drawingml/2006/main">
              <a:ext uri="{FF2B5EF4-FFF2-40B4-BE49-F238E27FC236}">
                <a16:creationId xmlns:a16="http://schemas.microsoft.com/office/drawing/2014/main" id="{DBED1726-FA12-4CD5-92DB-434CA8F06B48}"/>
              </a:ext>
            </a:extLst>
          </p:cNvPr>
          <p:cNvSpPr>
            <a:spLocks xmlns:a="http://schemas.openxmlformats.org/drawingml/2006/main" noGrp="1"/>
          </p:cNvSpPr>
          <p:nvPr/>
        </p:nvSpPr>
        <p:spPr>
          <a:xfrm xmlns:a="http://schemas.openxmlformats.org/drawingml/2006/main">
            <a:off x="6419850" y="5000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100 ppm IDLH and 10 ppm / 10-minute ceiling.</a:t>
            </a:r>
          </a:p>
        </p:txBody>
      </p:sp>
      <p:sp>
        <p:nvSpPr>
          <p:cNvPr id="21" name="[3] VajraSetu, project evidence">
            <a:extLst xmlns:a="http://schemas.openxmlformats.org/drawingml/2006/main">
              <a:ext uri="{FF2B5EF4-FFF2-40B4-BE49-F238E27FC236}">
                <a16:creationId xmlns:a16="http://schemas.microsoft.com/office/drawing/2014/main" id="{12C54EBF-A3BE-4642-BA53-6DE3E64BB57E}"/>
              </a:ext>
            </a:extLst>
          </p:cNvPr>
          <p:cNvSpPr>
            <a:spLocks xmlns:a="http://schemas.openxmlformats.org/drawingml/2006/main" noGrp="1"/>
          </p:cNvSpPr>
          <p:nvPr/>
        </p:nvSpPr>
        <p:spPr>
          <a:xfrm xmlns:a="http://schemas.openxmlformats.org/drawingml/2006/main">
            <a:off x="609600" y="5438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0db4962432894d74"/>
              </a:rPr>
              <a:t>[3] VajraSetu, project evidence</a:t>
            </a:r>
          </a:p>
        </p:txBody>
      </p:sp>
      <p:sp>
        <p:nvSpPr>
          <p:cNvPr id="22" name="Architecture, scanner and calibration docs. Snapshot: 57d48d1.">
            <a:extLst xmlns:a="http://schemas.openxmlformats.org/drawingml/2006/main">
              <a:ext uri="{FF2B5EF4-FFF2-40B4-BE49-F238E27FC236}">
                <a16:creationId xmlns:a16="http://schemas.microsoft.com/office/drawing/2014/main" id="{1D266159-2133-4AB1-A945-94F2C9526B82}"/>
              </a:ext>
            </a:extLst>
          </p:cNvPr>
          <p:cNvSpPr>
            <a:spLocks xmlns:a="http://schemas.openxmlformats.org/drawingml/2006/main" noGrp="1"/>
          </p:cNvSpPr>
          <p:nvPr/>
        </p:nvSpPr>
        <p:spPr>
          <a:xfrm xmlns:a="http://schemas.openxmlformats.org/drawingml/2006/main">
            <a:off x="609600" y="5762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Architecture, scanner and calibration docs. Snapshot: 57d48d1.</a:t>
            </a:r>
          </a:p>
        </p:txBody>
      </p:sp>
      <p:sp>
        <p:nvSpPr>
          <p:cNvPr id="23" name="[4] Expo SDK 57 documentation">
            <a:extLst xmlns:a="http://schemas.openxmlformats.org/drawingml/2006/main">
              <a:ext uri="{FF2B5EF4-FFF2-40B4-BE49-F238E27FC236}">
                <a16:creationId xmlns:a16="http://schemas.microsoft.com/office/drawing/2014/main" id="{1847000A-805C-492E-AC9F-6D3C8F3A4644}"/>
              </a:ext>
            </a:extLst>
          </p:cNvPr>
          <p:cNvSpPr>
            <a:spLocks xmlns:a="http://schemas.openxmlformats.org/drawingml/2006/main" noGrp="1"/>
          </p:cNvSpPr>
          <p:nvPr/>
        </p:nvSpPr>
        <p:spPr>
          <a:xfrm xmlns:a="http://schemas.openxmlformats.org/drawingml/2006/main">
            <a:off x="6419850" y="5438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4c788a42ec7344c4"/>
              </a:rPr>
              <a:t>[4] Expo SDK 57 documentation</a:t>
            </a:r>
          </a:p>
        </p:txBody>
      </p:sp>
      <p:sp>
        <p:nvSpPr>
          <p:cNvPr id="24" name="Version-specific mobile platform reference.">
            <a:extLst xmlns:a="http://schemas.openxmlformats.org/drawingml/2006/main">
              <a:ext uri="{FF2B5EF4-FFF2-40B4-BE49-F238E27FC236}">
                <a16:creationId xmlns:a16="http://schemas.microsoft.com/office/drawing/2014/main" id="{D441A2B8-32BB-49CE-A6BB-0A66B0F2B0D2}"/>
              </a:ext>
            </a:extLst>
          </p:cNvPr>
          <p:cNvSpPr>
            <a:spLocks xmlns:a="http://schemas.openxmlformats.org/drawingml/2006/main" noGrp="1"/>
          </p:cNvSpPr>
          <p:nvPr/>
        </p:nvSpPr>
        <p:spPr>
          <a:xfrm xmlns:a="http://schemas.openxmlformats.org/drawingml/2006/main">
            <a:off x="6419850" y="5762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Version-specific mobile platform reference.</a:t>
            </a:r>
          </a:p>
        </p:txBody>
      </p:sp>
      <p:sp>
        <p:nvSpPr>
          <p:cNvPr id="25" name="Team Tenet. References link to sources. Full citations and Mermaid sou">
            <a:extLst xmlns:a="http://schemas.openxmlformats.org/drawingml/2006/main">
              <a:ext uri="{FF2B5EF4-FFF2-40B4-BE49-F238E27FC236}">
                <a16:creationId xmlns:a16="http://schemas.microsoft.com/office/drawing/2014/main" id="{AD253180-EDA0-4C86-9F12-4B4F8BAD76F4}"/>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Team Tenet. References link to sources. Full citations and Mermaid source are included in speaker notes.</a:t>
            </a:r>
          </a:p>
        </p:txBody>
      </p:sp>
      <p:sp>
        <p:nvSpPr>
          <p:cNvPr id="26" name="06">
            <a:extLst xmlns:a="http://schemas.openxmlformats.org/drawingml/2006/main">
              <a:ext uri="{FF2B5EF4-FFF2-40B4-BE49-F238E27FC236}">
                <a16:creationId xmlns:a16="http://schemas.microsoft.com/office/drawing/2014/main" id="{1DC57905-5FF1-4AC9-B8DD-4AF68DB10B1C}"/>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06</a:t>
            </a:r>
          </a:p>
        </p:txBody>
      </p:sp>
    </p:spTree>
    <p:extLst>
      <p:ext uri="{BB962C8B-B14F-4D97-AF65-F5344CB8AC3E}">
        <p14:creationId xmlns:p14="http://schemas.microsoft.com/office/powerpoint/2010/main" val="2139656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2026-10-26T16:26:51.9050000Z</dcterms:created>
  <dcterms:modified xsi:type="dcterms:W3CDTF">2026-10-26T16:26:51.9050000Z</dcterms:modified>
</coreProperties>
</file>