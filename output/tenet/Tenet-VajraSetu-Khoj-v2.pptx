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fdff88e6e74d1a" /><Relationship Type="http://schemas.openxmlformats.org/officeDocument/2006/relationships/extended-properties" Target="/docProps/app.xml" Id="R59633c1c768d487b" /><Relationship Type="http://schemas.openxmlformats.org/officeDocument/2006/relationships/officeDocument" Target="/ppt/presentation.xml" Id="Rb4988c2654a34e80" /></Relationships>
</file>

<file path=ppt/presentation.xml><?xml version="1.0" encoding="utf-8"?>
<p:presentation xmlns:p="http://schemas.openxmlformats.org/presentationml/2006/main">
  <p:sldMasterIdLst>
    <p:sldMasterId xmlns:r="http://schemas.openxmlformats.org/officeDocument/2006/relationships" id="2147483648" r:id="R16d37de161584d2e"/>
  </p:sldMasterIdLst>
  <p:notesMasterIdLst>
    <p:notesMasterId xmlns:r="http://schemas.openxmlformats.org/officeDocument/2006/relationships" r:id="Rce9b758dd98a43fb"/>
  </p:notesMasterIdLst>
  <p:sldIdLst>
    <p:sldId xmlns:r="http://schemas.openxmlformats.org/officeDocument/2006/relationships" id="256" r:id="R910d0d7a42034381"/>
    <p:sldId xmlns:r="http://schemas.openxmlformats.org/officeDocument/2006/relationships" id="257" r:id="Rd1bc96abcb8847b9"/>
    <p:sldId xmlns:r="http://schemas.openxmlformats.org/officeDocument/2006/relationships" id="258" r:id="R3a720c01a0dd43b0"/>
    <p:sldId xmlns:r="http://schemas.openxmlformats.org/officeDocument/2006/relationships" id="259" r:id="R5b3dc429c0a64e40"/>
    <p:sldId xmlns:r="http://schemas.openxmlformats.org/officeDocument/2006/relationships" id="260" r:id="R1bb98d091a664fd5"/>
    <p:sldId xmlns:r="http://schemas.openxmlformats.org/officeDocument/2006/relationships" id="261" r:id="R8dbc7a1fc12a4f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f5c257931c4420" /><Relationship Type="http://schemas.openxmlformats.org/officeDocument/2006/relationships/slideMaster" Target="/ppt/slideMasters/slideMaster1.xml" Id="R16d37de161584d2e" /><Relationship Type="http://schemas.openxmlformats.org/officeDocument/2006/relationships/notesMaster" Target="/ppt/notesMasters/notesMaster1.xml" Id="Rce9b758dd98a43fb" /><Relationship Type="http://schemas.openxmlformats.org/officeDocument/2006/relationships/presProps" Target="/ppt/presProps.xml" Id="R8c4af3841bec4d1a" /><Relationship Type="http://schemas.openxmlformats.org/officeDocument/2006/relationships/tableStyles" Target="/ppt/tableStyles.xml" Id="Ra09f583c83bd4b2b" /><Relationship Type="http://schemas.openxmlformats.org/officeDocument/2006/relationships/slide" Target="/ppt/slides/slide1.xml" Id="R910d0d7a42034381" /><Relationship Type="http://schemas.openxmlformats.org/officeDocument/2006/relationships/slide" Target="/ppt/slides/slide2.xml" Id="Rd1bc96abcb8847b9" /><Relationship Type="http://schemas.openxmlformats.org/officeDocument/2006/relationships/slide" Target="/ppt/slides/slide3.xml" Id="R3a720c01a0dd43b0" /><Relationship Type="http://schemas.openxmlformats.org/officeDocument/2006/relationships/slide" Target="/ppt/slides/slide4.xml" Id="R5b3dc429c0a64e40" /><Relationship Type="http://schemas.openxmlformats.org/officeDocument/2006/relationships/slide" Target="/ppt/slides/slide5.xml" Id="R1bb98d091a664fd5" /><Relationship Type="http://schemas.openxmlformats.org/officeDocument/2006/relationships/slide" Target="/ppt/slides/slide6.xml" Id="R8dbc7a1fc12a4f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a322ec1f10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2cd892c9314902" /><Relationship Type="http://schemas.openxmlformats.org/officeDocument/2006/relationships/notesMaster" Target="/ppt/notesMasters/notesMaster1.xml" Id="Reb6bbefc1e86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e043fbd22b4cfa" /><Relationship Type="http://schemas.openxmlformats.org/officeDocument/2006/relationships/notesMaster" Target="/ppt/notesMasters/notesMaster1.xml" Id="R47555f5bbc1a41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f629bbf3864cbb" /><Relationship Type="http://schemas.openxmlformats.org/officeDocument/2006/relationships/notesMaster" Target="/ppt/notesMasters/notesMaster1.xml" Id="R68ad32dfd07d45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db239cc6fb4c83" /><Relationship Type="http://schemas.openxmlformats.org/officeDocument/2006/relationships/notesMaster" Target="/ppt/notesMasters/notesMaster1.xml" Id="Rdff790d89be9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b2124fb29f48ed" /><Relationship Type="http://schemas.openxmlformats.org/officeDocument/2006/relationships/notesMaster" Target="/ppt/notesMasters/notesMaster1.xml" Id="R3d7285d34963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ce221450f94249" /><Relationship Type="http://schemas.openxmlformats.org/officeDocument/2006/relationships/notesMaster" Target="/ppt/notesMasters/notesMaster1.xml" Id="Re373ac512cae46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healthcare problem is occupational exposure, with individual workers as users and industrial/EHS teams as prospective buyers. Original concept title: Passive Colorimetric H2S Exposure-Dosimeter Wristband with AI-Based Quantitative Reading. The original SIH IDs and previous team name are omitted because this is the KHOJ deck for Team Tenet.</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content source: https://www.canva.com/design/DAHVkQadZBA/8sKx2MfSjISZCmg6W30OqA/edit, slides 2-5. Image: custom OpenAI ImageGen concept image, 26 October 2026. This does not depict a field trial or a manufactured/validated device. No participant names, college names or institutional logos appear in the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content retained: disposable chemical sensor, accumulated exposure, built-in expiry indicator, end-of-shift capture, two-stage analysis, cumulative exposure estimate in ppm*h and digital exposure history. Original chemistry and material specification is a project proposal, not demonstrated by the cited papers for this exact formulation. [2] Sarfraz et al. (2019), DOI 10.3390/chemosensors7020023, studies RGB analysis of paper H2S colour strips. [3] DOI 10.1016/j.snb.2017.06.114 studies a Cu-PAN probe, which differs from this formulation. [4] DOI 10.3390/chemosensors9020040 studies an arene-derived dye sensor, also different. [5] DOI 10.3390/ijerph18062866 reviews the evidence behind exposure limits. [6] OSHA: https://www.osha.gov/chemicaldata/652 and https://www.osha.gov/hydrogen-sulfide/ for hazard context. These support the broader scientific/hazard basis, not this device's accuracy.</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source: https://www.canva.com/design/DAHVkQadZBA/8sKx2MfSjISZCmg6W30OqA/edit, slides 2 and 3. AI-generated product illustration from OpenAI ImageGen, 26 October 2026.</a:t>
            </a:r>
          </a:p>
          <a:p xmlns:a="http://schemas.openxmlformats.org/drawingml/2006/main">
            <a:r>
              <a:t>Mermaid source for product sequence:</a:t>
            </a:r>
          </a:p>
          <a:p xmlns:a="http://schemas.openxmlformats.org/drawingml/2006/main">
            <a:r>
              <a:t>flowchart LR</a:t>
            </a:r>
          </a:p>
          <a:p xmlns:a="http://schemas.openxmlformats.org/drawingml/2006/main">
            <a:r>
              <a:t>  A["Passive chemical sensing"] --&gt; B["Validity screening"]</a:t>
            </a:r>
          </a:p>
          <a:p xmlns:a="http://schemas.openxmlformats.org/drawingml/2006/main">
            <a:r>
              <a:t>  B --&gt; C["Phone image and reference"]</a:t>
            </a:r>
          </a:p>
          <a:p xmlns:a="http://schemas.openxmlformats.org/drawingml/2006/main">
            <a:r>
              <a:t>  C --&gt; D["Colour result and local record"]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Original approach retained: OpenCV preprocessing, region detection, reference normalisation, lighting compensation, RGB/CIELAB/DeltaE colour features, quantitative calibration and a local worker record. Spatial colour features, robust perspective correction and calibrated ML are planned original-design goals, not current validated capabilities. Current processing uses bounded central-card extraction, reference white balance, CIEDE2000 and three-frame consistency checks. Scan quality is an imaging metric, not chemical confidence.</a:t>
            </a:r>
          </a:p>
          <a:p xmlns:a="http://schemas.openxmlformats.org/drawingml/2006/main">
            <a:r>
              <a:t>The complete supplied 30 ppm test series: 0,5,10,15,30 minutes; calculated cumulative doses 0,2.5,5,7.5,15 ppm*h. Dose = concentration * duration. This chart is arithmetic, not an accuracy curve. Calibration v2 includes a pooled intermediate response because the supplied 5/15 minute colours overlap. Saturated dose is a lower bound. Fixed eight-hour TWA = cumulative dose / 8 hours, not actual recorded shift duration. The record schema includes worker/band metadata, dates, fixed reference shift, validity and provisional estimates.</a:t>
            </a:r>
          </a:p>
          <a:p xmlns:a="http://schemas.openxmlformats.org/drawingml/2006/main">
            <a:r>
              <a:t>Disclosures requested by KHOJ p11: app uses React Native/Expo, native OpenCV and Expo SQLite; bundled local language copy with optional Sarvam translation/cache for non-core strings in supported languages. There is no trained image ML model or cloud image upload in the current scan path. Code and detailed architecture: https://github.com/aaryanadiger/VajraSetu. [1] is background on interpreting direct instrument exposure records, not validation of a passive band.</a:t>
            </a:r>
          </a:p>
          <a:p xmlns:a="http://schemas.openxmlformats.org/drawingml/2006/main">
            <a:r>
              <a:t>Mermaid architecture source:</a:t>
            </a:r>
          </a:p>
          <a:p xmlns:a="http://schemas.openxmlformats.org/drawingml/2006/main">
            <a:r>
              <a:t>flowchart LR</a:t>
            </a:r>
          </a:p>
          <a:p xmlns:a="http://schemas.openxmlformats.org/drawingml/2006/main">
            <a:r>
              <a:t> A["Camera / 3 frames"] --&gt; Q{"Quality OK?"}</a:t>
            </a:r>
          </a:p>
          <a:p xmlns:a="http://schemas.openxmlformats.org/drawingml/2006/main">
            <a:r>
              <a:t> Q -- No --&gt; T["Retry"]</a:t>
            </a:r>
          </a:p>
          <a:p xmlns:a="http://schemas.openxmlformats.org/drawingml/2006/main">
            <a:r>
              <a:t> Q -- Yes --&gt; P["OpenCV / reference normalisation / Lab + DE00"]</a:t>
            </a:r>
          </a:p>
          <a:p xmlns:a="http://schemas.openxmlformats.org/drawingml/2006/main">
            <a:r>
              <a:t> P --&gt; V{"Dot valid?"}</a:t>
            </a:r>
          </a:p>
          <a:p xmlns:a="http://schemas.openxmlformats.org/drawingml/2006/main">
            <a:r>
              <a:t> V -- No --&gt; X["Replace band"]</a:t>
            </a:r>
          </a:p>
          <a:p xmlns:a="http://schemas.openxmlformats.org/drawingml/2006/main">
            <a:r>
              <a:t> V -- Yes --&gt; R["Category + SQLite history"]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https://www.canva.com/design/DAHVkQadZBA/8sKx2MfSjISZCmg6W30OqA/edit, slide 4, Working cost model. Every original allocation retained: Starter band INR20 = body/fastener8 + reference/expiry4 + assembly3 + packaging/QC3 + distribution2. Shift strip INR1.00 = Tyvek substrate0.25 + CuSO4 chemistry0.25 + reference/print0.15 + cutting/QC0.35. 100 workers: INR2000 initial setup plus INR2600/month. Monthly arithmetic is 100 workers * 26 shifts/month * INR1 per replacement strip; 26 is the assumption implicit in the original total. These are design allocation targets, not verified quotations, sales prices, margins or a complete operating budget. Phones, validation, training, taxes and support are not included in the original model.</a:t>
            </a:r>
          </a:p>
          <a:p xmlns:a="http://schemas.openxmlformats.org/drawingml/2006/main">
            <a:r>
              <a:t>The original separately proposes a disposable INR1/band variant, while the detailed INR1 allocation is for the replacement shift strip. The slide preserves that distinction rather than claiming the whole disposable product has a validated bill of materials. Original band-format intent: reusable for demanding conditions and sustainability, disposable for cost-sensitive routine shifts. Local manufacturing and commercially available components are opportunities subject to supplier confirmation.</a:t>
            </a:r>
          </a:p>
          <a:p xmlns:a="http://schemas.openxmlformats.org/drawingml/2006/main">
            <a:r>
              <a:t>Original positioning retained: electronic detector = live ppm/alarms, battery/calibration; passive badge/tube = cumulative visual/manual record; VajraSetu = colour-to-phone record and low-cost target. The passive band cannot replace certified gas detection.</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source: https://www.canva.com/design/DAHVkQadZBA/8sKx2MfSjISZCmg6W30OqA/edit, slides 4 and 5. All original impact themes retained: worker safety/awareness, industrial usability, digital safety records and Make in India. The goal is to support interpretation of a cumulative passive signal alongside direct instruments, not to claim reduced illness, validated personal dosimetry or emergency protection. Proposed pilot beneficiaries include industrial workers and supervisors; healthcare relevance is prevention-oriented occupational health and traceable workplace review.</a:t>
            </a:r>
          </a:p>
          <a:p xmlns:a="http://schemas.openxmlformats.org/drawingml/2006/main">
            <a:r>
              <a:t>All original challenge/response rows retained. Privacy response (on-device encryption and role-based access) and standard template exports are design goals, not implemented security or integration claims. Offline SQLite logging and bundled language copy exist. Reusable/disposable band alternatives address durability and cost. The implementation has one local worker profile, not multi-role remote access.</a:t>
            </a:r>
          </a:p>
          <a:p xmlns:a="http://schemas.openxmlformats.org/drawingml/2006/main">
            <a:r>
              <a:t>Original rollout stages retained: prototype, controlled field validation, phased deployment. Before a field trial, calibrate the final formulation and exact batch, test stability/aged expiry controls and interference, hold out devices/operators/batches, measure false-valid/category/retry rates, validate native language wording, complete EHS review and agree pilot success criteria.</a:t>
            </a:r>
          </a:p>
          <a:p xmlns:a="http://schemas.openxmlformats.org/drawingml/2006/main">
            <a:r>
              <a:t>Event alignment source: /Users/arnavdeshpande/Downloads/Khoj_brochure_linked_v2.pdf. KHOJ Innovation Fair, 3 November 2026. Brochure p4 domains: AI in Healthcare, Innovation in Healthcare, IoT in Healthcare. This project is positioned in Innovation in Healthcare through occupational health, without recasting the passive band as an IoT radio or claiming a trained AI model. P5 criteria: innovation/originality, scientific concept, healthcare relevance, feasibility, presentation, social impact. P8: no college or participant names. Team name Tenet follows the user's explicit request. P9 Times New Roman and 48 x 36 portrait dimensions apply to the poster, not this requested PPT. P10 prohibits hazardous demo materials and requires a safe stable display. P11 asks for a functional demo, clear users/problem/objective/technology/working/benefits, limitations, disclosure of AI/APIs/datasets, and practical scalability.</a:t>
            </a:r>
          </a:p>
          <a:p xmlns:a="http://schemas.openxmlformats.org/drawingml/2006/main">
            <a:r>
              <a:t>KHOJ demo plan: bring the working native app on a charged phone, prepared non-reactive colour reference samples or photographs, and a safe band enclosure/display. Demonstrate capture, repeatability rejection, invalid-band path and saved history. Do not bring or generate H2S, and do not use hazardous chemicals for the live public demonstration. The brochure supplies one table and two chairs, requests advance declaration of additional facilities, forbids thermocol and asks for environmentally friendly, safe, stable models.</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six literature/regulatory sources as the original PPT, with the original GitHub and YouTube links retained. Minor author-initial corrections follow publisher metadata (Vargas A.P., Elwood M.); no source was replaced. Sources accessed 26 October 2026. The papers demonstrate related approaches, not validation of VajraSetu's exact CuSO4/FeSO4 formulation.</a:t>
            </a:r>
          </a:p>
          <a:p xmlns:a="http://schemas.openxmlformats.org/drawingml/2006/main">
            <a:r>
              <a:t>[1] Austigard, Å. &amp; Smedbold, H.T. (2022). Hydrogen Sulphide (H₂S) Exposure Hazard Assessment: An Algorithm for Generating Exposure Index Based on Direct Instrument Readings. Annals of Work Exposures and Health, 66(1), 124–129. 10.1093/annweh/wxab047</a:t>
            </a:r>
          </a:p>
          <a:p xmlns:a="http://schemas.openxmlformats.org/drawingml/2006/main">
            <a:r>
              <a:t>[2] Sarfraz, J. et al. (2019). Electro-Optical Gas Sensor Consisting of Nanostructured Paper Coating and an Ultrathin Sensing Element. Chemosensors, 7(2), 23. 10.3390/chemosensors7020023</a:t>
            </a:r>
          </a:p>
          <a:p xmlns:a="http://schemas.openxmlformats.org/drawingml/2006/main">
            <a:r>
              <a:t>[3] Quantitative, Colorimetric Paper Probe (2017). Quantitative, Colorimetric Paper Probe for Hydrogen Sulfide Gas. Sensors and Actuators B: Chemical, 253, 846–851. 10.1016/j.snb.2017.06.114</a:t>
            </a:r>
          </a:p>
          <a:p xmlns:a="http://schemas.openxmlformats.org/drawingml/2006/main">
            <a:r>
              <a:t>[4] Vargas, A.P. et al. (2021). A Paper-Based Ultrasensitive Optical Sensor for the Selective Detection of H₂S Vapors. Chemosensors, 9(2), 40. 10.3390/chemosensors9020040</a:t>
            </a:r>
          </a:p>
          <a:p xmlns:a="http://schemas.openxmlformats.org/drawingml/2006/main">
            <a:r>
              <a:t>[5] Elwood, M. (2021). The Scientific Basis for Occupational Exposure Limits for Hydrogen Sulphide—A Critical Commentary. International Journal of Environmental Research and Public Health, 18(6), 2866. 10.3390/ijerph18062866</a:t>
            </a:r>
          </a:p>
          <a:p xmlns:a="http://schemas.openxmlformats.org/drawingml/2006/main">
            <a:r>
              <a:t>[6] OSHA. Hydrogen Sulfide — Chemical Data &amp; Exposure Limits. Occupational Chemical Database. https://www.osha.gov/chemicaldata/652</a:t>
            </a:r>
          </a:p>
          <a:p xmlns:a="http://schemas.openxmlformats.org/drawingml/2006/main">
            <a:r>
              <a:t>GitHub: https://github.com/aaryanadiger/VajraSetu</a:t>
            </a:r>
          </a:p>
          <a:p xmlns:a="http://schemas.openxmlformats.org/drawingml/2006/main">
            <a:r>
              <a:t>YouTube: https://youtu.be/GOxGEgo1RlY?si=NJ1JC1ct8GN9xCya</a:t>
            </a:r>
          </a:p>
          <a:p xmlns:a="http://schemas.openxmlformats.org/drawingml/2006/main">
            <a:r>
              <a:t>Original source deck: https://www.canva.com/design/DAHVkQadZBA/8sKx2MfSjISZCmg6W30OqA/edit</a:t>
            </a:r>
          </a:p>
          <a:p xmlns:a="http://schemas.openxmlformats.org/drawingml/2006/main">
            <a:r>
              <a:t>Project evidence: https://github.com/aaryanadiger/VajraSetu. README.md, docs/ARCHITECTURE.md, docs/SCANNER_AND_CALIBRATION.md and docs/OPERATIONS_AND_SAFETY.md, inspected 26 October 2026. Expo SDK 57 documentation read at https://docs.expo.dev/versions/v57.0.0/. Current scanner uses deterministic known-layout sampling, RGB/Lab/CIEDE2000 and provisional thresholds. The original deck's calibrated ML estimator and perspective correction are future design objectives, not implemented or validated capabilities. FeSO4 expiry and quantitative exposure estimates remain provisional. No claim of clinical, field, or regulatory validation is made.</a:t>
            </a:r>
          </a:p>
          <a:p xmlns:a="http://schemas.openxmlformats.org/drawingml/2006/main">
            <a:r>
              <a:t>Event adaptation source (not added to the original numbered literature list): /Users/arnavdeshpande/Downloads/Khoj_brochure_linked_v2.pdf. Brochure pp4,5,8,10,11 informed the healthcare-domain framing, evaluation coverage and functional safe-demo plan.</a:t>
            </a:r>
          </a:p>
          <a:p xmlns:a="http://schemas.openxmlformats.org/drawingml/2006/main">
            <a:r>
              <a:t>AI/API/resource disclosure: cover and product illustration generated using OpenAI ImageGen. Mermaid sources are in notes for the two diagrams. App is React Native/Expo 57 with OpenCV/SQLite, optional Sarvam translation fallback and the supplied single 30 ppm calibration series. No trained visual ML model is present. Team attribution follows the user's request, while personal/college identifiers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5c01b1dd9a4a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caaed8e26d40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f82f4d54e944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dc3b8d8ee34e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307cc4588041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3632c2168c47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BF92F-8AD9-4389-863B-BDA15813BF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C7BFBF-87AE-46B9-96B7-82F78284B1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451DA81-A2AA-423C-9317-212E4A0B75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3B1148-F988-416F-BE2F-3ECA6A049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5DBB81-A722-459D-85F5-39A7674A4A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A50525-356C-454E-8D9F-13B27CAFCB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4EC9FF-DFF8-4297-8FE0-62705FC659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4B486F-DC99-4EDF-B73A-E29C473BEC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951B93-882D-444A-841A-6BFDE2C990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5162ED-9045-402D-A15E-A679ECB535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489357ca7c4d4c" /><Relationship Type="http://schemas.openxmlformats.org/officeDocument/2006/relationships/slideLayout" Target="/ppt/slideLayouts/slideLayout1.xml" Id="R60d589683d974e38" /><Relationship Type="http://schemas.openxmlformats.org/officeDocument/2006/relationships/slideLayout" Target="/ppt/slideLayouts/slideLayout2.xml" Id="R74664c8ab7634453" /><Relationship Type="http://schemas.openxmlformats.org/officeDocument/2006/relationships/slideLayout" Target="/ppt/slideLayouts/slideLayout3.xml" Id="R36b7e892eebe4d78" /><Relationship Type="http://schemas.openxmlformats.org/officeDocument/2006/relationships/slideLayout" Target="/ppt/slideLayouts/slideLayout4.xml" Id="R264ad2316a264976" /><Relationship Type="http://schemas.openxmlformats.org/officeDocument/2006/relationships/slideLayout" Target="/ppt/slideLayouts/slideLayout5.xml" Id="Re5a501317a074e67" /><Relationship Type="http://schemas.openxmlformats.org/officeDocument/2006/relationships/slideLayout" Target="/ppt/slideLayouts/slideLayout6.xml" Id="Rc7bbb3d70b7441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d589683d974e38"/>
    <p:sldLayoutId xmlns:r="http://schemas.openxmlformats.org/officeDocument/2006/relationships" id="2147483650" r:id="R74664c8ab7634453"/>
    <p:sldLayoutId xmlns:r="http://schemas.openxmlformats.org/officeDocument/2006/relationships" id="2147483651" r:id="R36b7e892eebe4d78"/>
    <p:sldLayoutId xmlns:r="http://schemas.openxmlformats.org/officeDocument/2006/relationships" id="2147483652" r:id="R264ad2316a264976"/>
    <p:sldLayoutId xmlns:r="http://schemas.openxmlformats.org/officeDocument/2006/relationships" id="2147483653" r:id="Re5a501317a074e67"/>
    <p:sldLayoutId xmlns:r="http://schemas.openxmlformats.org/officeDocument/2006/relationships" id="2147483654" r:id="Rc7bbb3d70b7441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4bad38df1f4cdb" /><Relationship Type="http://schemas.openxmlformats.org/officeDocument/2006/relationships/image" Target="/ppt/media/image.png" Id="R8dd8816128ff4a73" /><Relationship Type="http://schemas.openxmlformats.org/officeDocument/2006/relationships/notesSlide" Target="/ppt/notesSlides/notesSlide1.xml" Id="R985c1954f1b548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1e8f02cceb4269" /><Relationship Type="http://schemas.openxmlformats.org/officeDocument/2006/relationships/image" Target="/ppt/media/image2.png" Id="R16ee7f50ee5243a5" /><Relationship Type="http://schemas.openxmlformats.org/officeDocument/2006/relationships/notesSlide" Target="/ppt/notesSlides/notesSlide2.xml" Id="Rdf64147e064844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327537bde24ec5" /><Relationship Type="http://schemas.openxmlformats.org/officeDocument/2006/relationships/chart" Target="/ppt/slides/charts/chart1.xml" Id="Rec0d34c033974a87" /><Relationship Type="http://schemas.openxmlformats.org/officeDocument/2006/relationships/notesSlide" Target="/ppt/notesSlides/notesSlide3.xml" Id="R7cea2a86579247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1ef8ff8aac4f0e" /><Relationship Type="http://schemas.openxmlformats.org/officeDocument/2006/relationships/notesSlide" Target="/ppt/notesSlides/notesSlide4.xml" Id="R5ab838e3a15d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bba030cc3e4ed7" /><Relationship Type="http://schemas.openxmlformats.org/officeDocument/2006/relationships/notesSlide" Target="/ppt/notesSlides/notesSlide5.xml" Id="Rc0ea42fdca3046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664891b127439c" /><Relationship Type="http://schemas.openxmlformats.org/officeDocument/2006/relationships/hyperlink" Target="https://doi.org/10.1093/annweh/wxab047" TargetMode="External" Id="Re351abf578174a33" /><Relationship Type="http://schemas.openxmlformats.org/officeDocument/2006/relationships/hyperlink" Target="https://doi.org/10.3390/chemosensors7020023" TargetMode="External" Id="Rcfbf38433043439f" /><Relationship Type="http://schemas.openxmlformats.org/officeDocument/2006/relationships/hyperlink" Target="https://doi.org/10.1016/j.snb.2017.06.114" TargetMode="External" Id="R1e7fe70d27d0428e" /><Relationship Type="http://schemas.openxmlformats.org/officeDocument/2006/relationships/hyperlink" Target="https://doi.org/10.3390/chemosensors9020040" TargetMode="External" Id="R389314a5701a4053" /><Relationship Type="http://schemas.openxmlformats.org/officeDocument/2006/relationships/hyperlink" Target="https://doi.org/10.3390/ijerph18062866" TargetMode="External" Id="Rdfdac5520fd64b7c" /><Relationship Type="http://schemas.openxmlformats.org/officeDocument/2006/relationships/hyperlink" Target="https://www.osha.gov/chemicaldata/652" TargetMode="External" Id="Rd65da2dc56424126" /><Relationship Type="http://schemas.openxmlformats.org/officeDocument/2006/relationships/hyperlink" Target="https://github.com/aaryanadiger/VajraSetu" TargetMode="External" Id="Rbc1aeffbbd87489c" /><Relationship Type="http://schemas.openxmlformats.org/officeDocument/2006/relationships/hyperlink" Target="https://youtu.be/GOxGEgo1RlY?si=NJ1JC1ct8GN9xCya" TargetMode="External" Id="Ra08f9336ae1e487f" /><Relationship Type="http://schemas.openxmlformats.org/officeDocument/2006/relationships/notesSlide" Target="/ppt/notesSlides/notesSlide6.xml" Id="R961e11a8ddf94f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Calculated dose (ppm·h)</c:v>
          </c:tx>
          <c:spPr>
            <a:solidFill xmlns:a="http://schemas.openxmlformats.org/drawingml/2006/main">
              <a:srgbClr val="6CA3FF"/>
            </a:solidFill>
          </c:spPr>
          <c:invertIfNegative val="0"/>
          <c:cat>
            <c:strRef>
              <c:f>'Chart Data'!$A$2:$A$6</c:f>
              <c:strCache>
                <c:ptCount val="5"/>
                <c:pt idx="0">
                  <c:v>0 min</c:v>
                </c:pt>
                <c:pt idx="1">
                  <c:v>5 min</c:v>
                </c:pt>
                <c:pt idx="2">
                  <c:v>10 min</c:v>
                </c:pt>
                <c:pt idx="3">
                  <c:v>15 min</c:v>
                </c:pt>
                <c:pt idx="4">
                  <c:v>30 min</c:v>
                </c:pt>
              </c:strCache>
            </c:strRef>
          </c:cat>
          <c:val>
            <c:numRef>
              <c:f>'Chart Data'!$B$2:$B$6</c:f>
              <c:numCache>
                <c:formatCode>General</c:formatCode>
                <c:ptCount val="5"/>
                <c:pt idx="0">
                  <c:v>0</c:v>
                </c:pt>
                <c:pt idx="1">
                  <c:v>2.5</c:v>
                </c:pt>
                <c:pt idx="2">
                  <c:v>5</c:v>
                </c:pt>
                <c:pt idx="3">
                  <c:v>7.5</c:v>
                </c:pt>
                <c:pt idx="4">
                  <c:v>15</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FFFFFF"/>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76377"/>
            </a:solidFill>
          </a:ln>
        </c:spPr>
        <c:txPr>
          <a:bodyPr xmlns:a="http://schemas.openxmlformats.org/drawingml/2006/main" anchorCtr="1"/>
          <a:lstStyle xmlns:a="http://schemas.openxmlformats.org/drawingml/2006/main"/>
          <a:p xmlns:a="http://schemas.openxmlformats.org/drawingml/2006/main">
            <a:pPr>
              <a:defRPr sz="1050">
                <a:solidFill>
                  <a:srgbClr val="BDCEDD"/>
                </a:solidFill>
                <a:latin typeface="Avenir Next"/>
                <a:ea typeface="Avenir Next"/>
                <a:cs typeface="Avenir Next"/>
              </a:defRPr>
            </a:pPr>
          </a:p>
        </c:txPr>
        <c:crossAx val="48672768"/>
      </c:catAx>
      <c:valAx>
        <c:axId val="48672768"/>
        <c:scaling>
          <c:orientation val="minMax"/>
          <c:max val="19"/>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DCDDCF-BE71-4F3C-B3A4-42F67B9B5378}"/>
              </a:ext>
            </a:extLst>
          </p:cNvPr>
          <p:cNvPicPr>
            <a:picLocks xmlns:a="http://schemas.openxmlformats.org/drawingml/2006/main" noChangeAspect="1"/>
          </p:cNvPicPr>
          <p:nvPr/>
        </p:nvPicPr>
        <p:blipFill>
          <a:blip xmlns:r="http://schemas.openxmlformats.org/officeDocument/2006/relationships" xmlns:a="http://schemas.openxmlformats.org/drawingml/2006/main" r:embed="R8dd8816128ff4a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M TENET">
            <a:extLst xmlns:a="http://schemas.openxmlformats.org/drawingml/2006/main">
              <a:ext uri="{FF2B5EF4-FFF2-40B4-BE49-F238E27FC236}">
                <a16:creationId xmlns:a16="http://schemas.microsoft.com/office/drawing/2014/main" id="{28C60B3F-1650-492C-A05B-E078BEFEFA77}"/>
              </a:ext>
            </a:extLst>
          </p:cNvPr>
          <p:cNvSpPr>
            <a:spLocks xmlns:a="http://schemas.openxmlformats.org/drawingml/2006/main" noGrp="1"/>
          </p:cNvSpPr>
          <p:nvPr/>
        </p:nvSpPr>
        <p:spPr>
          <a:xfrm xmlns:a="http://schemas.openxmlformats.org/drawingml/2006/main">
            <a:off x="552450" y="5048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8B563"/>
                </a:solidFill>
                <a:latin typeface="Avenir Next"/>
                <a:ea typeface="Avenir Next"/>
                <a:cs typeface="Avenir Next"/>
              </a:defRPr>
            </a:defPPr>
            <a:lvl1pPr algn="l">
              <a:defRPr sz="1650" b="1">
                <a:solidFill>
                  <a:srgbClr val="E8B563"/>
                </a:solidFill>
                <a:latin typeface="Avenir Next"/>
                <a:ea typeface="Avenir Next"/>
                <a:cs typeface="Avenir Next"/>
              </a:defRPr>
            </a:lvl1pPr>
            <a:lvl2pPr algn="l">
              <a:defRPr sz="1650" b="1">
                <a:solidFill>
                  <a:srgbClr val="E8B563"/>
                </a:solidFill>
                <a:latin typeface="Avenir Next"/>
                <a:ea typeface="Avenir Next"/>
                <a:cs typeface="Avenir Next"/>
              </a:defRPr>
            </a:lvl2pPr>
            <a:lvl3pPr algn="l">
              <a:defRPr sz="1650" b="1">
                <a:solidFill>
                  <a:srgbClr val="E8B563"/>
                </a:solidFill>
                <a:latin typeface="Avenir Next"/>
                <a:ea typeface="Avenir Next"/>
                <a:cs typeface="Avenir Next"/>
              </a:defRPr>
            </a:lvl3pPr>
            <a:lvl4pPr algn="l">
              <a:defRPr sz="1650" b="1">
                <a:solidFill>
                  <a:srgbClr val="E8B563"/>
                </a:solidFill>
                <a:latin typeface="Avenir Next"/>
                <a:ea typeface="Avenir Next"/>
                <a:cs typeface="Avenir Next"/>
              </a:defRPr>
            </a:lvl4pPr>
            <a:lvl5pPr algn="l">
              <a:defRPr sz="1650" b="1">
                <a:solidFill>
                  <a:srgbClr val="E8B563"/>
                </a:solidFill>
                <a:latin typeface="Avenir Next"/>
                <a:ea typeface="Avenir Next"/>
                <a:cs typeface="Avenir Next"/>
              </a:defRPr>
            </a:lvl5pPr>
            <a:lvl6pPr algn="l">
              <a:defRPr sz="1650" b="1">
                <a:solidFill>
                  <a:srgbClr val="E8B563"/>
                </a:solidFill>
                <a:latin typeface="Avenir Next"/>
                <a:ea typeface="Avenir Next"/>
                <a:cs typeface="Avenir Next"/>
              </a:defRPr>
            </a:lvl6pPr>
            <a:lvl7pPr algn="l">
              <a:defRPr sz="1650" b="1">
                <a:solidFill>
                  <a:srgbClr val="E8B563"/>
                </a:solidFill>
                <a:latin typeface="Avenir Next"/>
                <a:ea typeface="Avenir Next"/>
                <a:cs typeface="Avenir Next"/>
              </a:defRPr>
            </a:lvl7pPr>
            <a:lvl8pPr algn="l">
              <a:defRPr sz="1650" b="1">
                <a:solidFill>
                  <a:srgbClr val="E8B563"/>
                </a:solidFill>
                <a:latin typeface="Avenir Next"/>
                <a:ea typeface="Avenir Next"/>
                <a:cs typeface="Avenir Next"/>
              </a:defRPr>
            </a:lvl8pPr>
            <a:lvl9pPr algn="l">
              <a:defRPr sz="1650" b="1">
                <a:solidFill>
                  <a:srgbClr val="E8B563"/>
                </a:solidFill>
                <a:latin typeface="Avenir Next"/>
                <a:ea typeface="Avenir Next"/>
                <a:cs typeface="Avenir Next"/>
              </a:defRPr>
            </a:lvl9pPr>
          </a:lstStyle>
          <a:p xmlns:a="http://schemas.openxmlformats.org/drawingml/2006/main">
            <a:pPr algn="l">
              <a:defRPr sz="1650" b="1">
                <a:solidFill>
                  <a:srgbClr val="E8B563"/>
                </a:solidFill>
                <a:latin typeface="Avenir Next"/>
                <a:ea typeface="Avenir Next"/>
                <a:cs typeface="Avenir Next"/>
              </a:defRPr>
            </a:pPr>
            <a:r>
              <a:rPr sz="1650" b="1">
                <a:solidFill>
                  <a:srgbClr val="E8B563"/>
                </a:solidFill>
                <a:latin typeface="Avenir Next"/>
                <a:ea typeface="Avenir Next"/>
                <a:cs typeface="Avenir Next"/>
              </a:rPr>
              <a:t>TEAM TENET</a:t>
            </a:r>
          </a:p>
        </p:txBody>
      </p:sp>
      <p:sp>
        <p:nvSpPr>
          <p:cNvPr id="3" name="KHOJ 2026  /  INNOVATION IN HEALTHCARE">
            <a:extLst xmlns:a="http://schemas.openxmlformats.org/drawingml/2006/main">
              <a:ext uri="{FF2B5EF4-FFF2-40B4-BE49-F238E27FC236}">
                <a16:creationId xmlns:a16="http://schemas.microsoft.com/office/drawing/2014/main" id="{331287C7-4DB4-413D-B58F-DC1A9C34D583}"/>
              </a:ext>
            </a:extLst>
          </p:cNvPr>
          <p:cNvSpPr>
            <a:spLocks xmlns:a="http://schemas.openxmlformats.org/drawingml/2006/main" noGrp="1"/>
          </p:cNvSpPr>
          <p:nvPr/>
        </p:nvSpPr>
        <p:spPr>
          <a:xfrm xmlns:a="http://schemas.openxmlformats.org/drawingml/2006/main">
            <a:off x="561975" y="1009650"/>
            <a:ext cx="676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CEDD"/>
                </a:solidFill>
                <a:latin typeface="Avenir Next"/>
                <a:ea typeface="Avenir Next"/>
                <a:cs typeface="Avenir Next"/>
              </a:defRPr>
            </a:defPPr>
            <a:lvl1pPr algn="l">
              <a:defRPr sz="1275" b="1">
                <a:solidFill>
                  <a:srgbClr val="BDCEDD"/>
                </a:solidFill>
                <a:latin typeface="Avenir Next"/>
                <a:ea typeface="Avenir Next"/>
                <a:cs typeface="Avenir Next"/>
              </a:defRPr>
            </a:lvl1pPr>
            <a:lvl2pPr algn="l">
              <a:defRPr sz="1275" b="1">
                <a:solidFill>
                  <a:srgbClr val="BDCEDD"/>
                </a:solidFill>
                <a:latin typeface="Avenir Next"/>
                <a:ea typeface="Avenir Next"/>
                <a:cs typeface="Avenir Next"/>
              </a:defRPr>
            </a:lvl2pPr>
            <a:lvl3pPr algn="l">
              <a:defRPr sz="1275" b="1">
                <a:solidFill>
                  <a:srgbClr val="BDCEDD"/>
                </a:solidFill>
                <a:latin typeface="Avenir Next"/>
                <a:ea typeface="Avenir Next"/>
                <a:cs typeface="Avenir Next"/>
              </a:defRPr>
            </a:lvl3pPr>
            <a:lvl4pPr algn="l">
              <a:defRPr sz="1275" b="1">
                <a:solidFill>
                  <a:srgbClr val="BDCEDD"/>
                </a:solidFill>
                <a:latin typeface="Avenir Next"/>
                <a:ea typeface="Avenir Next"/>
                <a:cs typeface="Avenir Next"/>
              </a:defRPr>
            </a:lvl4pPr>
            <a:lvl5pPr algn="l">
              <a:defRPr sz="1275" b="1">
                <a:solidFill>
                  <a:srgbClr val="BDCEDD"/>
                </a:solidFill>
                <a:latin typeface="Avenir Next"/>
                <a:ea typeface="Avenir Next"/>
                <a:cs typeface="Avenir Next"/>
              </a:defRPr>
            </a:lvl5pPr>
            <a:lvl6pPr algn="l">
              <a:defRPr sz="1275" b="1">
                <a:solidFill>
                  <a:srgbClr val="BDCEDD"/>
                </a:solidFill>
                <a:latin typeface="Avenir Next"/>
                <a:ea typeface="Avenir Next"/>
                <a:cs typeface="Avenir Next"/>
              </a:defRPr>
            </a:lvl6pPr>
            <a:lvl7pPr algn="l">
              <a:defRPr sz="1275" b="1">
                <a:solidFill>
                  <a:srgbClr val="BDCEDD"/>
                </a:solidFill>
                <a:latin typeface="Avenir Next"/>
                <a:ea typeface="Avenir Next"/>
                <a:cs typeface="Avenir Next"/>
              </a:defRPr>
            </a:lvl7pPr>
            <a:lvl8pPr algn="l">
              <a:defRPr sz="1275" b="1">
                <a:solidFill>
                  <a:srgbClr val="BDCEDD"/>
                </a:solidFill>
                <a:latin typeface="Avenir Next"/>
                <a:ea typeface="Avenir Next"/>
                <a:cs typeface="Avenir Next"/>
              </a:defRPr>
            </a:lvl8pPr>
            <a:lvl9pPr algn="l">
              <a:defRPr sz="1275" b="1">
                <a:solidFill>
                  <a:srgbClr val="BDCEDD"/>
                </a:solidFill>
                <a:latin typeface="Avenir Next"/>
                <a:ea typeface="Avenir Next"/>
                <a:cs typeface="Avenir Next"/>
              </a:defRPr>
            </a:lvl9pPr>
          </a:lstStyle>
          <a:p xmlns:a="http://schemas.openxmlformats.org/drawingml/2006/main">
            <a:pPr algn="l">
              <a:defRPr sz="1275" b="1">
                <a:solidFill>
                  <a:srgbClr val="BDCEDD"/>
                </a:solidFill>
                <a:latin typeface="Avenir Next"/>
                <a:ea typeface="Avenir Next"/>
                <a:cs typeface="Avenir Next"/>
              </a:defRPr>
            </a:pPr>
            <a:r>
              <a:rPr sz="1275" b="1">
                <a:solidFill>
                  <a:srgbClr val="BDCEDD"/>
                </a:solidFill>
                <a:latin typeface="Avenir Next"/>
                <a:ea typeface="Avenir Next"/>
                <a:cs typeface="Avenir Next"/>
              </a:rPr>
              <a:t>KHOJ 2026  /  INNOVATION IN HEALTHCARE</a:t>
            </a:r>
          </a:p>
        </p:txBody>
      </p:sp>
      <p:sp>
        <p:nvSpPr>
          <p:cNvPr id="4" name="VajraSetu">
            <a:extLst xmlns:a="http://schemas.openxmlformats.org/drawingml/2006/main">
              <a:ext uri="{FF2B5EF4-FFF2-40B4-BE49-F238E27FC236}">
                <a16:creationId xmlns:a16="http://schemas.microsoft.com/office/drawing/2014/main" id="{44A90E3F-831C-428C-B5BF-34B600D68950}"/>
              </a:ext>
            </a:extLst>
          </p:cNvPr>
          <p:cNvSpPr>
            <a:spLocks xmlns:a="http://schemas.openxmlformats.org/drawingml/2006/main" noGrp="1"/>
          </p:cNvSpPr>
          <p:nvPr/>
        </p:nvSpPr>
        <p:spPr>
          <a:xfrm xmlns:a="http://schemas.openxmlformats.org/drawingml/2006/main">
            <a:off x="523875" y="2066925"/>
            <a:ext cx="685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FFFFFF"/>
                </a:solidFill>
                <a:latin typeface="Avenir Next"/>
                <a:ea typeface="Avenir Next"/>
                <a:cs typeface="Avenir Next"/>
              </a:defRPr>
            </a:defPPr>
            <a:lvl1pPr algn="l">
              <a:defRPr sz="6450" b="1">
                <a:solidFill>
                  <a:srgbClr val="FFFFFF"/>
                </a:solidFill>
                <a:latin typeface="Avenir Next"/>
                <a:ea typeface="Avenir Next"/>
                <a:cs typeface="Avenir Next"/>
              </a:defRPr>
            </a:lvl1pPr>
            <a:lvl2pPr algn="l">
              <a:defRPr sz="6450" b="1">
                <a:solidFill>
                  <a:srgbClr val="FFFFFF"/>
                </a:solidFill>
                <a:latin typeface="Avenir Next"/>
                <a:ea typeface="Avenir Next"/>
                <a:cs typeface="Avenir Next"/>
              </a:defRPr>
            </a:lvl2pPr>
            <a:lvl3pPr algn="l">
              <a:defRPr sz="6450" b="1">
                <a:solidFill>
                  <a:srgbClr val="FFFFFF"/>
                </a:solidFill>
                <a:latin typeface="Avenir Next"/>
                <a:ea typeface="Avenir Next"/>
                <a:cs typeface="Avenir Next"/>
              </a:defRPr>
            </a:lvl3pPr>
            <a:lvl4pPr algn="l">
              <a:defRPr sz="6450" b="1">
                <a:solidFill>
                  <a:srgbClr val="FFFFFF"/>
                </a:solidFill>
                <a:latin typeface="Avenir Next"/>
                <a:ea typeface="Avenir Next"/>
                <a:cs typeface="Avenir Next"/>
              </a:defRPr>
            </a:lvl4pPr>
            <a:lvl5pPr algn="l">
              <a:defRPr sz="6450" b="1">
                <a:solidFill>
                  <a:srgbClr val="FFFFFF"/>
                </a:solidFill>
                <a:latin typeface="Avenir Next"/>
                <a:ea typeface="Avenir Next"/>
                <a:cs typeface="Avenir Next"/>
              </a:defRPr>
            </a:lvl5pPr>
            <a:lvl6pPr algn="l">
              <a:defRPr sz="6450" b="1">
                <a:solidFill>
                  <a:srgbClr val="FFFFFF"/>
                </a:solidFill>
                <a:latin typeface="Avenir Next"/>
                <a:ea typeface="Avenir Next"/>
                <a:cs typeface="Avenir Next"/>
              </a:defRPr>
            </a:lvl6pPr>
            <a:lvl7pPr algn="l">
              <a:defRPr sz="6450" b="1">
                <a:solidFill>
                  <a:srgbClr val="FFFFFF"/>
                </a:solidFill>
                <a:latin typeface="Avenir Next"/>
                <a:ea typeface="Avenir Next"/>
                <a:cs typeface="Avenir Next"/>
              </a:defRPr>
            </a:lvl7pPr>
            <a:lvl8pPr algn="l">
              <a:defRPr sz="6450" b="1">
                <a:solidFill>
                  <a:srgbClr val="FFFFFF"/>
                </a:solidFill>
                <a:latin typeface="Avenir Next"/>
                <a:ea typeface="Avenir Next"/>
                <a:cs typeface="Avenir Next"/>
              </a:defRPr>
            </a:lvl8pPr>
            <a:lvl9pPr algn="l">
              <a:defRPr sz="6450" b="1">
                <a:solidFill>
                  <a:srgbClr val="FFFFFF"/>
                </a:solidFill>
                <a:latin typeface="Avenir Next"/>
                <a:ea typeface="Avenir Next"/>
                <a:cs typeface="Avenir Next"/>
              </a:defRPr>
            </a:lvl9pPr>
          </a:lstStyle>
          <a:p xmlns:a="http://schemas.openxmlformats.org/drawingml/2006/main">
            <a:pPr algn="l">
              <a:defRPr sz="6450" b="1">
                <a:solidFill>
                  <a:srgbClr val="FFFFFF"/>
                </a:solidFill>
                <a:latin typeface="Avenir Next"/>
                <a:ea typeface="Avenir Next"/>
                <a:cs typeface="Avenir Next"/>
              </a:defRPr>
            </a:pPr>
            <a:r>
              <a:rPr sz="6450" b="1">
                <a:solidFill>
                  <a:srgbClr val="FFFFFF"/>
                </a:solidFill>
                <a:latin typeface="Avenir Next"/>
                <a:ea typeface="Avenir Next"/>
                <a:cs typeface="Avenir Next"/>
              </a:rPr>
              <a:t>VajraSetu</a:t>
            </a:r>
          </a:p>
        </p:txBody>
      </p:sp>
      <p:sp>
        <p:nvSpPr>
          <p:cNvPr id="5" name="Passive H₂S exposure recording for occupational health">
            <a:extLst xmlns:a="http://schemas.openxmlformats.org/drawingml/2006/main">
              <a:ext uri="{FF2B5EF4-FFF2-40B4-BE49-F238E27FC236}">
                <a16:creationId xmlns:a16="http://schemas.microsoft.com/office/drawing/2014/main" id="{89745BF5-B61F-4195-B97A-800917CD9E02}"/>
              </a:ext>
            </a:extLst>
          </p:cNvPr>
          <p:cNvSpPr>
            <a:spLocks xmlns:a="http://schemas.openxmlformats.org/drawingml/2006/main" noGrp="1"/>
          </p:cNvSpPr>
          <p:nvPr/>
        </p:nvSpPr>
        <p:spPr>
          <a:xfrm xmlns:a="http://schemas.openxmlformats.org/drawingml/2006/main">
            <a:off x="571500" y="3324225"/>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venir Next"/>
                <a:ea typeface="Avenir Next"/>
                <a:cs typeface="Avenir Next"/>
              </a:defRPr>
            </a:defPPr>
            <a:lvl1pPr algn="l">
              <a:defRPr sz="2400" b="0">
                <a:solidFill>
                  <a:srgbClr val="FFFFFF"/>
                </a:solidFill>
                <a:latin typeface="Avenir Next"/>
                <a:ea typeface="Avenir Next"/>
                <a:cs typeface="Avenir Next"/>
              </a:defRPr>
            </a:lvl1pPr>
            <a:lvl2pPr algn="l">
              <a:defRPr sz="2400" b="0">
                <a:solidFill>
                  <a:srgbClr val="FFFFFF"/>
                </a:solidFill>
                <a:latin typeface="Avenir Next"/>
                <a:ea typeface="Avenir Next"/>
                <a:cs typeface="Avenir Next"/>
              </a:defRPr>
            </a:lvl2pPr>
            <a:lvl3pPr algn="l">
              <a:defRPr sz="2400" b="0">
                <a:solidFill>
                  <a:srgbClr val="FFFFFF"/>
                </a:solidFill>
                <a:latin typeface="Avenir Next"/>
                <a:ea typeface="Avenir Next"/>
                <a:cs typeface="Avenir Next"/>
              </a:defRPr>
            </a:lvl3pPr>
            <a:lvl4pPr algn="l">
              <a:defRPr sz="2400" b="0">
                <a:solidFill>
                  <a:srgbClr val="FFFFFF"/>
                </a:solidFill>
                <a:latin typeface="Avenir Next"/>
                <a:ea typeface="Avenir Next"/>
                <a:cs typeface="Avenir Next"/>
              </a:defRPr>
            </a:lvl4pPr>
            <a:lvl5pPr algn="l">
              <a:defRPr sz="2400" b="0">
                <a:solidFill>
                  <a:srgbClr val="FFFFFF"/>
                </a:solidFill>
                <a:latin typeface="Avenir Next"/>
                <a:ea typeface="Avenir Next"/>
                <a:cs typeface="Avenir Next"/>
              </a:defRPr>
            </a:lvl5pPr>
            <a:lvl6pPr algn="l">
              <a:defRPr sz="2400" b="0">
                <a:solidFill>
                  <a:srgbClr val="FFFFFF"/>
                </a:solidFill>
                <a:latin typeface="Avenir Next"/>
                <a:ea typeface="Avenir Next"/>
                <a:cs typeface="Avenir Next"/>
              </a:defRPr>
            </a:lvl6pPr>
            <a:lvl7pPr algn="l">
              <a:defRPr sz="2400" b="0">
                <a:solidFill>
                  <a:srgbClr val="FFFFFF"/>
                </a:solidFill>
                <a:latin typeface="Avenir Next"/>
                <a:ea typeface="Avenir Next"/>
                <a:cs typeface="Avenir Next"/>
              </a:defRPr>
            </a:lvl7pPr>
            <a:lvl8pPr algn="l">
              <a:defRPr sz="2400" b="0">
                <a:solidFill>
                  <a:srgbClr val="FFFFFF"/>
                </a:solidFill>
                <a:latin typeface="Avenir Next"/>
                <a:ea typeface="Avenir Next"/>
                <a:cs typeface="Avenir Next"/>
              </a:defRPr>
            </a:lvl8pPr>
            <a:lvl9pPr algn="l">
              <a:defRPr sz="2400" b="0">
                <a:solidFill>
                  <a:srgbClr val="FFFFFF"/>
                </a:solidFill>
                <a:latin typeface="Avenir Next"/>
                <a:ea typeface="Avenir Next"/>
                <a:cs typeface="Avenir Next"/>
              </a:defRPr>
            </a:lvl9pPr>
          </a:lstStyle>
          <a:p xmlns:a="http://schemas.openxmlformats.org/drawingml/2006/main">
            <a:pPr algn="l">
              <a:defRPr sz="2400" b="0">
                <a:solidFill>
                  <a:srgbClr val="FFFFFF"/>
                </a:solidFill>
                <a:latin typeface="Avenir Next"/>
                <a:ea typeface="Avenir Next"/>
                <a:cs typeface="Avenir Next"/>
              </a:defRPr>
            </a:pPr>
            <a:r>
              <a:rPr sz="2400" b="0">
                <a:solidFill>
                  <a:srgbClr val="FFFFFF"/>
                </a:solidFill>
                <a:latin typeface="Avenir Next"/>
                <a:ea typeface="Avenir Next"/>
                <a:cs typeface="Avenir Next"/>
              </a:rPr>
              <a:t>Passive H₂S exposure recording</a:t>
            </a:r>
          </a:p>
          <a:p xmlns:a="http://schemas.openxmlformats.org/drawingml/2006/main">
            <a:pPr algn="l">
              <a:defRPr sz="2400" b="0">
                <a:solidFill>
                  <a:srgbClr val="FFFFFF"/>
                </a:solidFill>
                <a:latin typeface="Avenir Next"/>
                <a:ea typeface="Avenir Next"/>
                <a:cs typeface="Avenir Next"/>
              </a:defRPr>
            </a:pPr>
            <a:r>
              <a:rPr sz="2400" b="0">
                <a:solidFill>
                  <a:srgbClr val="FFFFFF"/>
                </a:solidFill>
                <a:latin typeface="Avenir Next"/>
                <a:ea typeface="Avenir Next"/>
                <a:cs typeface="Avenir Next"/>
              </a:rPr>
              <a:t>for occupational health</a:t>
            </a:r>
          </a:p>
        </p:txBody>
      </p:sp>
      <p:sp>
        <p:nvSpPr>
          <p:cNvPr id="6" name="A disposable chemical patch, a phone scan and a worker’s exposure hist">
            <a:extLst xmlns:a="http://schemas.openxmlformats.org/drawingml/2006/main">
              <a:ext uri="{FF2B5EF4-FFF2-40B4-BE49-F238E27FC236}">
                <a16:creationId xmlns:a16="http://schemas.microsoft.com/office/drawing/2014/main" id="{045D6F9B-2095-4FA8-8172-36EF35D73828}"/>
              </a:ext>
            </a:extLst>
          </p:cNvPr>
          <p:cNvSpPr>
            <a:spLocks xmlns:a="http://schemas.openxmlformats.org/drawingml/2006/main" noGrp="1"/>
          </p:cNvSpPr>
          <p:nvPr/>
        </p:nvSpPr>
        <p:spPr>
          <a:xfrm xmlns:a="http://schemas.openxmlformats.org/drawingml/2006/main">
            <a:off x="571500" y="47910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E3EE"/>
                </a:solidFill>
                <a:latin typeface="Avenir Next"/>
                <a:ea typeface="Avenir Next"/>
                <a:cs typeface="Avenir Next"/>
              </a:defRPr>
            </a:defPPr>
            <a:lvl1pPr algn="l">
              <a:defRPr sz="1800" b="0">
                <a:solidFill>
                  <a:srgbClr val="D6E3EE"/>
                </a:solidFill>
                <a:latin typeface="Avenir Next"/>
                <a:ea typeface="Avenir Next"/>
                <a:cs typeface="Avenir Next"/>
              </a:defRPr>
            </a:lvl1pPr>
            <a:lvl2pPr algn="l">
              <a:defRPr sz="1800" b="0">
                <a:solidFill>
                  <a:srgbClr val="D6E3EE"/>
                </a:solidFill>
                <a:latin typeface="Avenir Next"/>
                <a:ea typeface="Avenir Next"/>
                <a:cs typeface="Avenir Next"/>
              </a:defRPr>
            </a:lvl2pPr>
            <a:lvl3pPr algn="l">
              <a:defRPr sz="1800" b="0">
                <a:solidFill>
                  <a:srgbClr val="D6E3EE"/>
                </a:solidFill>
                <a:latin typeface="Avenir Next"/>
                <a:ea typeface="Avenir Next"/>
                <a:cs typeface="Avenir Next"/>
              </a:defRPr>
            </a:lvl3pPr>
            <a:lvl4pPr algn="l">
              <a:defRPr sz="1800" b="0">
                <a:solidFill>
                  <a:srgbClr val="D6E3EE"/>
                </a:solidFill>
                <a:latin typeface="Avenir Next"/>
                <a:ea typeface="Avenir Next"/>
                <a:cs typeface="Avenir Next"/>
              </a:defRPr>
            </a:lvl4pPr>
            <a:lvl5pPr algn="l">
              <a:defRPr sz="1800" b="0">
                <a:solidFill>
                  <a:srgbClr val="D6E3EE"/>
                </a:solidFill>
                <a:latin typeface="Avenir Next"/>
                <a:ea typeface="Avenir Next"/>
                <a:cs typeface="Avenir Next"/>
              </a:defRPr>
            </a:lvl5pPr>
            <a:lvl6pPr algn="l">
              <a:defRPr sz="1800" b="0">
                <a:solidFill>
                  <a:srgbClr val="D6E3EE"/>
                </a:solidFill>
                <a:latin typeface="Avenir Next"/>
                <a:ea typeface="Avenir Next"/>
                <a:cs typeface="Avenir Next"/>
              </a:defRPr>
            </a:lvl6pPr>
            <a:lvl7pPr algn="l">
              <a:defRPr sz="1800" b="0">
                <a:solidFill>
                  <a:srgbClr val="D6E3EE"/>
                </a:solidFill>
                <a:latin typeface="Avenir Next"/>
                <a:ea typeface="Avenir Next"/>
                <a:cs typeface="Avenir Next"/>
              </a:defRPr>
            </a:lvl7pPr>
            <a:lvl8pPr algn="l">
              <a:defRPr sz="1800" b="0">
                <a:solidFill>
                  <a:srgbClr val="D6E3EE"/>
                </a:solidFill>
                <a:latin typeface="Avenir Next"/>
                <a:ea typeface="Avenir Next"/>
                <a:cs typeface="Avenir Next"/>
              </a:defRPr>
            </a:lvl8pPr>
            <a:lvl9pPr algn="l">
              <a:defRPr sz="1800" b="0">
                <a:solidFill>
                  <a:srgbClr val="D6E3EE"/>
                </a:solidFill>
                <a:latin typeface="Avenir Next"/>
                <a:ea typeface="Avenir Next"/>
                <a:cs typeface="Avenir Next"/>
              </a:defRPr>
            </a:lvl9pPr>
          </a:lstStyle>
          <a:p xmlns:a="http://schemas.openxmlformats.org/drawingml/2006/main">
            <a:pPr algn="l">
              <a:defRPr sz="1800" b="0">
                <a:solidFill>
                  <a:srgbClr val="D6E3EE"/>
                </a:solidFill>
                <a:latin typeface="Avenir Next"/>
                <a:ea typeface="Avenir Next"/>
                <a:cs typeface="Avenir Next"/>
              </a:defRPr>
            </a:pPr>
            <a:r>
              <a:rPr sz="1800" b="0">
                <a:solidFill>
                  <a:srgbClr val="D6E3EE"/>
                </a:solidFill>
                <a:latin typeface="Avenir Next"/>
                <a:ea typeface="Avenir Next"/>
                <a:cs typeface="Avenir Next"/>
              </a:rPr>
              <a:t>A disposable chemical patch, a phone scan</a:t>
            </a:r>
          </a:p>
          <a:p xmlns:a="http://schemas.openxmlformats.org/drawingml/2006/main">
            <a:pPr algn="l">
              <a:defRPr sz="1800" b="0">
                <a:solidFill>
                  <a:srgbClr val="D6E3EE"/>
                </a:solidFill>
                <a:latin typeface="Avenir Next"/>
                <a:ea typeface="Avenir Next"/>
                <a:cs typeface="Avenir Next"/>
              </a:defRPr>
            </a:pPr>
            <a:r>
              <a:rPr sz="1800" b="0">
                <a:solidFill>
                  <a:srgbClr val="D6E3EE"/>
                </a:solidFill>
                <a:latin typeface="Avenir Next"/>
                <a:ea typeface="Avenir Next"/>
                <a:cs typeface="Avenir Next"/>
              </a:rPr>
              <a:t>and a worker’s exposure history</a:t>
            </a:r>
          </a:p>
        </p:txBody>
      </p:sp>
      <p:sp>
        <p:nvSpPr>
          <p:cNvPr id="7" name="For industrial workers and EHS teams">
            <a:extLst xmlns:a="http://schemas.openxmlformats.org/drawingml/2006/main">
              <a:ext uri="{FF2B5EF4-FFF2-40B4-BE49-F238E27FC236}">
                <a16:creationId xmlns:a16="http://schemas.microsoft.com/office/drawing/2014/main" id="{6E86FD5D-AD96-42AC-A725-6A737695209D}"/>
              </a:ext>
            </a:extLst>
          </p:cNvPr>
          <p:cNvSpPr>
            <a:spLocks xmlns:a="http://schemas.openxmlformats.org/drawingml/2006/main" noGrp="1"/>
          </p:cNvSpPr>
          <p:nvPr/>
        </p:nvSpPr>
        <p:spPr>
          <a:xfrm xmlns:a="http://schemas.openxmlformats.org/drawingml/2006/main">
            <a:off x="571500" y="58769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E8B563"/>
                </a:solidFill>
                <a:latin typeface="Avenir Next"/>
                <a:ea typeface="Avenir Next"/>
                <a:cs typeface="Avenir Next"/>
              </a:defRPr>
            </a:defPPr>
            <a:lvl1pPr algn="l">
              <a:defRPr sz="1575" b="0">
                <a:solidFill>
                  <a:srgbClr val="E8B563"/>
                </a:solidFill>
                <a:latin typeface="Avenir Next"/>
                <a:ea typeface="Avenir Next"/>
                <a:cs typeface="Avenir Next"/>
              </a:defRPr>
            </a:lvl1pPr>
            <a:lvl2pPr algn="l">
              <a:defRPr sz="1575" b="0">
                <a:solidFill>
                  <a:srgbClr val="E8B563"/>
                </a:solidFill>
                <a:latin typeface="Avenir Next"/>
                <a:ea typeface="Avenir Next"/>
                <a:cs typeface="Avenir Next"/>
              </a:defRPr>
            </a:lvl2pPr>
            <a:lvl3pPr algn="l">
              <a:defRPr sz="1575" b="0">
                <a:solidFill>
                  <a:srgbClr val="E8B563"/>
                </a:solidFill>
                <a:latin typeface="Avenir Next"/>
                <a:ea typeface="Avenir Next"/>
                <a:cs typeface="Avenir Next"/>
              </a:defRPr>
            </a:lvl3pPr>
            <a:lvl4pPr algn="l">
              <a:defRPr sz="1575" b="0">
                <a:solidFill>
                  <a:srgbClr val="E8B563"/>
                </a:solidFill>
                <a:latin typeface="Avenir Next"/>
                <a:ea typeface="Avenir Next"/>
                <a:cs typeface="Avenir Next"/>
              </a:defRPr>
            </a:lvl4pPr>
            <a:lvl5pPr algn="l">
              <a:defRPr sz="1575" b="0">
                <a:solidFill>
                  <a:srgbClr val="E8B563"/>
                </a:solidFill>
                <a:latin typeface="Avenir Next"/>
                <a:ea typeface="Avenir Next"/>
                <a:cs typeface="Avenir Next"/>
              </a:defRPr>
            </a:lvl5pPr>
            <a:lvl6pPr algn="l">
              <a:defRPr sz="1575" b="0">
                <a:solidFill>
                  <a:srgbClr val="E8B563"/>
                </a:solidFill>
                <a:latin typeface="Avenir Next"/>
                <a:ea typeface="Avenir Next"/>
                <a:cs typeface="Avenir Next"/>
              </a:defRPr>
            </a:lvl6pPr>
            <a:lvl7pPr algn="l">
              <a:defRPr sz="1575" b="0">
                <a:solidFill>
                  <a:srgbClr val="E8B563"/>
                </a:solidFill>
                <a:latin typeface="Avenir Next"/>
                <a:ea typeface="Avenir Next"/>
                <a:cs typeface="Avenir Next"/>
              </a:defRPr>
            </a:lvl7pPr>
            <a:lvl8pPr algn="l">
              <a:defRPr sz="1575" b="0">
                <a:solidFill>
                  <a:srgbClr val="E8B563"/>
                </a:solidFill>
                <a:latin typeface="Avenir Next"/>
                <a:ea typeface="Avenir Next"/>
                <a:cs typeface="Avenir Next"/>
              </a:defRPr>
            </a:lvl8pPr>
            <a:lvl9pPr algn="l">
              <a:defRPr sz="1575" b="0">
                <a:solidFill>
                  <a:srgbClr val="E8B563"/>
                </a:solidFill>
                <a:latin typeface="Avenir Next"/>
                <a:ea typeface="Avenir Next"/>
                <a:cs typeface="Avenir Next"/>
              </a:defRPr>
            </a:lvl9pPr>
          </a:lstStyle>
          <a:p xmlns:a="http://schemas.openxmlformats.org/drawingml/2006/main">
            <a:pPr algn="l">
              <a:defRPr sz="1575" b="0">
                <a:solidFill>
                  <a:srgbClr val="E8B563"/>
                </a:solidFill>
                <a:latin typeface="Avenir Next"/>
                <a:ea typeface="Avenir Next"/>
                <a:cs typeface="Avenir Next"/>
              </a:defRPr>
            </a:pPr>
            <a:r>
              <a:rPr sz="1575" b="0">
                <a:solidFill>
                  <a:srgbClr val="E8B563"/>
                </a:solidFill>
                <a:latin typeface="Avenir Next"/>
                <a:ea typeface="Avenir Next"/>
                <a:cs typeface="Avenir Next"/>
              </a:rPr>
              <a:t>For industrial workers and EHS teams</a:t>
            </a:r>
          </a:p>
        </p:txBody>
      </p:sp>
      <p:sp>
        <p:nvSpPr>
          <p:cNvPr id="8" name="Prototype concept. AI-generated visual. Supplemental record, not a liv">
            <a:extLst xmlns:a="http://schemas.openxmlformats.org/drawingml/2006/main">
              <a:ext uri="{FF2B5EF4-FFF2-40B4-BE49-F238E27FC236}">
                <a16:creationId xmlns:a16="http://schemas.microsoft.com/office/drawing/2014/main" id="{62B67DF9-0634-4700-9463-CFF80D838F6A}"/>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BDCEDD"/>
                </a:solidFill>
                <a:latin typeface="Avenir Next"/>
                <a:ea typeface="Avenir Next"/>
                <a:cs typeface="Avenir Next"/>
              </a:defRPr>
            </a:defPPr>
            <a:lvl1pPr algn="l">
              <a:defRPr sz="960" b="0">
                <a:solidFill>
                  <a:srgbClr val="BDCEDD"/>
                </a:solidFill>
                <a:latin typeface="Avenir Next"/>
                <a:ea typeface="Avenir Next"/>
                <a:cs typeface="Avenir Next"/>
              </a:defRPr>
            </a:lvl1pPr>
            <a:lvl2pPr algn="l">
              <a:defRPr sz="960" b="0">
                <a:solidFill>
                  <a:srgbClr val="BDCEDD"/>
                </a:solidFill>
                <a:latin typeface="Avenir Next"/>
                <a:ea typeface="Avenir Next"/>
                <a:cs typeface="Avenir Next"/>
              </a:defRPr>
            </a:lvl2pPr>
            <a:lvl3pPr algn="l">
              <a:defRPr sz="960" b="0">
                <a:solidFill>
                  <a:srgbClr val="BDCEDD"/>
                </a:solidFill>
                <a:latin typeface="Avenir Next"/>
                <a:ea typeface="Avenir Next"/>
                <a:cs typeface="Avenir Next"/>
              </a:defRPr>
            </a:lvl3pPr>
            <a:lvl4pPr algn="l">
              <a:defRPr sz="960" b="0">
                <a:solidFill>
                  <a:srgbClr val="BDCEDD"/>
                </a:solidFill>
                <a:latin typeface="Avenir Next"/>
                <a:ea typeface="Avenir Next"/>
                <a:cs typeface="Avenir Next"/>
              </a:defRPr>
            </a:lvl4pPr>
            <a:lvl5pPr algn="l">
              <a:defRPr sz="960" b="0">
                <a:solidFill>
                  <a:srgbClr val="BDCEDD"/>
                </a:solidFill>
                <a:latin typeface="Avenir Next"/>
                <a:ea typeface="Avenir Next"/>
                <a:cs typeface="Avenir Next"/>
              </a:defRPr>
            </a:lvl5pPr>
            <a:lvl6pPr algn="l">
              <a:defRPr sz="960" b="0">
                <a:solidFill>
                  <a:srgbClr val="BDCEDD"/>
                </a:solidFill>
                <a:latin typeface="Avenir Next"/>
                <a:ea typeface="Avenir Next"/>
                <a:cs typeface="Avenir Next"/>
              </a:defRPr>
            </a:lvl6pPr>
            <a:lvl7pPr algn="l">
              <a:defRPr sz="960" b="0">
                <a:solidFill>
                  <a:srgbClr val="BDCEDD"/>
                </a:solidFill>
                <a:latin typeface="Avenir Next"/>
                <a:ea typeface="Avenir Next"/>
                <a:cs typeface="Avenir Next"/>
              </a:defRPr>
            </a:lvl7pPr>
            <a:lvl8pPr algn="l">
              <a:defRPr sz="960" b="0">
                <a:solidFill>
                  <a:srgbClr val="BDCEDD"/>
                </a:solidFill>
                <a:latin typeface="Avenir Next"/>
                <a:ea typeface="Avenir Next"/>
                <a:cs typeface="Avenir Next"/>
              </a:defRPr>
            </a:lvl8pPr>
            <a:lvl9pPr algn="l">
              <a:defRPr sz="960" b="0">
                <a:solidFill>
                  <a:srgbClr val="BDCEDD"/>
                </a:solidFill>
                <a:latin typeface="Avenir Next"/>
                <a:ea typeface="Avenir Next"/>
                <a:cs typeface="Avenir Next"/>
              </a:defRPr>
            </a:lvl9pPr>
          </a:lstStyle>
          <a:p xmlns:a="http://schemas.openxmlformats.org/drawingml/2006/main">
            <a:pPr algn="l">
              <a:defRPr sz="960" b="0">
                <a:solidFill>
                  <a:srgbClr val="BDCEDD"/>
                </a:solidFill>
                <a:latin typeface="Avenir Next"/>
                <a:ea typeface="Avenir Next"/>
                <a:cs typeface="Avenir Next"/>
              </a:defRPr>
            </a:pPr>
            <a:r>
              <a:rPr sz="960" b="0">
                <a:solidFill>
                  <a:srgbClr val="BDCEDD"/>
                </a:solidFill>
                <a:latin typeface="Avenir Next"/>
                <a:ea typeface="Avenir Next"/>
                <a:cs typeface="Avenir Next"/>
              </a:rPr>
              <a:t>Prototype concept. AI-generated visual. Supplemental record, not a live gas alarm or compliance instrument.</a:t>
            </a:r>
          </a:p>
        </p:txBody>
      </p:sp>
      <p:sp>
        <p:nvSpPr>
          <p:cNvPr id="9" name="01">
            <a:extLst xmlns:a="http://schemas.openxmlformats.org/drawingml/2006/main">
              <a:ext uri="{FF2B5EF4-FFF2-40B4-BE49-F238E27FC236}">
                <a16:creationId xmlns:a16="http://schemas.microsoft.com/office/drawing/2014/main" id="{C4C214A6-E364-4B8E-BC8E-433CBC5DC855}"/>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BDCEDD"/>
                </a:solidFill>
                <a:latin typeface="Avenir Next"/>
                <a:ea typeface="Avenir Next"/>
                <a:cs typeface="Avenir Next"/>
              </a:defRPr>
            </a:defPPr>
            <a:lvl1pPr algn="r">
              <a:defRPr sz="1050" b="0">
                <a:solidFill>
                  <a:srgbClr val="BDCEDD"/>
                </a:solidFill>
                <a:latin typeface="Avenir Next"/>
                <a:ea typeface="Avenir Next"/>
                <a:cs typeface="Avenir Next"/>
              </a:defRPr>
            </a:lvl1pPr>
            <a:lvl2pPr algn="r">
              <a:defRPr sz="1050" b="0">
                <a:solidFill>
                  <a:srgbClr val="BDCEDD"/>
                </a:solidFill>
                <a:latin typeface="Avenir Next"/>
                <a:ea typeface="Avenir Next"/>
                <a:cs typeface="Avenir Next"/>
              </a:defRPr>
            </a:lvl2pPr>
            <a:lvl3pPr algn="r">
              <a:defRPr sz="1050" b="0">
                <a:solidFill>
                  <a:srgbClr val="BDCEDD"/>
                </a:solidFill>
                <a:latin typeface="Avenir Next"/>
                <a:ea typeface="Avenir Next"/>
                <a:cs typeface="Avenir Next"/>
              </a:defRPr>
            </a:lvl3pPr>
            <a:lvl4pPr algn="r">
              <a:defRPr sz="1050" b="0">
                <a:solidFill>
                  <a:srgbClr val="BDCEDD"/>
                </a:solidFill>
                <a:latin typeface="Avenir Next"/>
                <a:ea typeface="Avenir Next"/>
                <a:cs typeface="Avenir Next"/>
              </a:defRPr>
            </a:lvl4pPr>
            <a:lvl5pPr algn="r">
              <a:defRPr sz="1050" b="0">
                <a:solidFill>
                  <a:srgbClr val="BDCEDD"/>
                </a:solidFill>
                <a:latin typeface="Avenir Next"/>
                <a:ea typeface="Avenir Next"/>
                <a:cs typeface="Avenir Next"/>
              </a:defRPr>
            </a:lvl5pPr>
            <a:lvl6pPr algn="r">
              <a:defRPr sz="1050" b="0">
                <a:solidFill>
                  <a:srgbClr val="BDCEDD"/>
                </a:solidFill>
                <a:latin typeface="Avenir Next"/>
                <a:ea typeface="Avenir Next"/>
                <a:cs typeface="Avenir Next"/>
              </a:defRPr>
            </a:lvl6pPr>
            <a:lvl7pPr algn="r">
              <a:defRPr sz="1050" b="0">
                <a:solidFill>
                  <a:srgbClr val="BDCEDD"/>
                </a:solidFill>
                <a:latin typeface="Avenir Next"/>
                <a:ea typeface="Avenir Next"/>
                <a:cs typeface="Avenir Next"/>
              </a:defRPr>
            </a:lvl7pPr>
            <a:lvl8pPr algn="r">
              <a:defRPr sz="1050" b="0">
                <a:solidFill>
                  <a:srgbClr val="BDCEDD"/>
                </a:solidFill>
                <a:latin typeface="Avenir Next"/>
                <a:ea typeface="Avenir Next"/>
                <a:cs typeface="Avenir Next"/>
              </a:defRPr>
            </a:lvl8pPr>
            <a:lvl9pPr algn="r">
              <a:defRPr sz="1050" b="0">
                <a:solidFill>
                  <a:srgbClr val="BDCEDD"/>
                </a:solidFill>
                <a:latin typeface="Avenir Next"/>
                <a:ea typeface="Avenir Next"/>
                <a:cs typeface="Avenir Next"/>
              </a:defRPr>
            </a:lvl9pPr>
          </a:lstStyle>
          <a:p xmlns:a="http://schemas.openxmlformats.org/drawingml/2006/main">
            <a:pPr algn="r">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01</a:t>
            </a:r>
          </a:p>
        </p:txBody>
      </p:sp>
    </p:spTree>
    <p:extLst>
      <p:ext uri="{BB962C8B-B14F-4D97-AF65-F5344CB8AC3E}">
        <p14:creationId xmlns:p14="http://schemas.microsoft.com/office/powerpoint/2010/main" val="567784886"/>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A84417C5-8C1F-4464-AE13-C38AE21EE1B9}"/>
              </a:ext>
            </a:extLst>
          </p:cNvPr>
          <p:cNvCxnSpPr>
            <a:stCxn xmlns:a="http://schemas.openxmlformats.org/drawingml/2006/main" id="12" idx="3"/>
            <a:endCxn xmlns:a="http://schemas.openxmlformats.org/drawingml/2006/main" id="13" idx="1"/>
          </p:cNvCxnSpPr>
          <p:nvPr/>
        </p:nvCxnSpPr>
        <p:spPr>
          <a:xfrm xmlns:a="http://schemas.openxmlformats.org/drawingml/2006/main">
            <a:off x="8743950"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cxnSp>
        <p:nvCxnSpPr>
          <p:cNvPr id="15" name="">
            <a:extLst xmlns:a="http://schemas.openxmlformats.org/drawingml/2006/main">
              <a:ext uri="{FF2B5EF4-FFF2-40B4-BE49-F238E27FC236}">
                <a16:creationId xmlns:a16="http://schemas.microsoft.com/office/drawing/2014/main" id="{2A6AE568-4C8C-4EC6-BBD1-98003A02E4AF}"/>
              </a:ext>
            </a:extLst>
          </p:cNvPr>
          <p:cNvCxnSpPr>
            <a:stCxn xmlns:a="http://schemas.openxmlformats.org/drawingml/2006/main" id="11" idx="3"/>
            <a:endCxn xmlns:a="http://schemas.openxmlformats.org/drawingml/2006/main" id="12" idx="1"/>
          </p:cNvCxnSpPr>
          <p:nvPr/>
        </p:nvCxnSpPr>
        <p:spPr>
          <a:xfrm xmlns:a="http://schemas.openxmlformats.org/drawingml/2006/main">
            <a:off x="5819775"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cxnSp>
        <p:nvCxnSpPr>
          <p:cNvPr id="14" name="">
            <a:extLst xmlns:a="http://schemas.openxmlformats.org/drawingml/2006/main">
              <a:ext uri="{FF2B5EF4-FFF2-40B4-BE49-F238E27FC236}">
                <a16:creationId xmlns:a16="http://schemas.microsoft.com/office/drawing/2014/main" id="{00B82CB2-877B-46BA-8177-4BC7A60C217E}"/>
              </a:ext>
            </a:extLst>
          </p:cNvPr>
          <p:cNvCxnSpPr>
            <a:stCxn xmlns:a="http://schemas.openxmlformats.org/drawingml/2006/main" id="10" idx="3"/>
            <a:endCxn xmlns:a="http://schemas.openxmlformats.org/drawingml/2006/main" id="11" idx="1"/>
          </p:cNvCxnSpPr>
          <p:nvPr/>
        </p:nvCxnSpPr>
        <p:spPr>
          <a:xfrm xmlns:a="http://schemas.openxmlformats.org/drawingml/2006/main">
            <a:off x="2895600" y="5791200"/>
            <a:ext cx="542925" cy="0"/>
          </a:xfrm>
          <a:prstGeom xmlns:a="http://schemas.openxmlformats.org/drawingml/2006/main" prst="straightConnector1">
            <a:avLst/>
          </a:prstGeom>
          <a:ln xmlns:a="http://schemas.openxmlformats.org/drawingml/2006/main" w="17145">
            <a:solidFill>
              <a:srgbClr val="526574"/>
            </a:solidFill>
            <a:tailEnd type="triangle" w="sm" len="sm"/>
          </a:ln>
        </p:spPr>
      </p:cxnSp>
      <p:sp>
        <p:nvSpPr>
          <p:cNvPr id="19" name="Scientific concept and worker workflow">
            <a:extLst xmlns:a="http://schemas.openxmlformats.org/drawingml/2006/main">
              <a:ext uri="{FF2B5EF4-FFF2-40B4-BE49-F238E27FC236}">
                <a16:creationId xmlns:a16="http://schemas.microsoft.com/office/drawing/2014/main" id="{B56FBBF1-DEC8-487A-9CC6-C76525FA871D}"/>
              </a:ext>
            </a:extLst>
          </p:cNvPr>
          <p:cNvSpPr>
            <a:spLocks xmlns:a="http://schemas.openxmlformats.org/drawingml/2006/main" noGrp="1"/>
          </p:cNvSpPr>
          <p:nvPr/>
        </p:nvSpPr>
        <p:spPr>
          <a:xfrm xmlns:a="http://schemas.openxmlformats.org/drawingml/2006/main">
            <a:off x="514350" y="409575"/>
            <a:ext cx="1116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B43"/>
                </a:solidFill>
                <a:latin typeface="Avenir Next"/>
                <a:ea typeface="Avenir Next"/>
                <a:cs typeface="Avenir Next"/>
              </a:defRPr>
            </a:defPPr>
            <a:lvl1pPr algn="l">
              <a:defRPr sz="3150" b="1">
                <a:solidFill>
                  <a:srgbClr val="142B43"/>
                </a:solidFill>
                <a:latin typeface="Avenir Next"/>
                <a:ea typeface="Avenir Next"/>
                <a:cs typeface="Avenir Next"/>
              </a:defRPr>
            </a:lvl1pPr>
            <a:lvl2pPr algn="l">
              <a:defRPr sz="3150" b="1">
                <a:solidFill>
                  <a:srgbClr val="142B43"/>
                </a:solidFill>
                <a:latin typeface="Avenir Next"/>
                <a:ea typeface="Avenir Next"/>
                <a:cs typeface="Avenir Next"/>
              </a:defRPr>
            </a:lvl2pPr>
            <a:lvl3pPr algn="l">
              <a:defRPr sz="3150" b="1">
                <a:solidFill>
                  <a:srgbClr val="142B43"/>
                </a:solidFill>
                <a:latin typeface="Avenir Next"/>
                <a:ea typeface="Avenir Next"/>
                <a:cs typeface="Avenir Next"/>
              </a:defRPr>
            </a:lvl3pPr>
            <a:lvl4pPr algn="l">
              <a:defRPr sz="3150" b="1">
                <a:solidFill>
                  <a:srgbClr val="142B43"/>
                </a:solidFill>
                <a:latin typeface="Avenir Next"/>
                <a:ea typeface="Avenir Next"/>
                <a:cs typeface="Avenir Next"/>
              </a:defRPr>
            </a:lvl4pPr>
            <a:lvl5pPr algn="l">
              <a:defRPr sz="3150" b="1">
                <a:solidFill>
                  <a:srgbClr val="142B43"/>
                </a:solidFill>
                <a:latin typeface="Avenir Next"/>
                <a:ea typeface="Avenir Next"/>
                <a:cs typeface="Avenir Next"/>
              </a:defRPr>
            </a:lvl5pPr>
            <a:lvl6pPr algn="l">
              <a:defRPr sz="3150" b="1">
                <a:solidFill>
                  <a:srgbClr val="142B43"/>
                </a:solidFill>
                <a:latin typeface="Avenir Next"/>
                <a:ea typeface="Avenir Next"/>
                <a:cs typeface="Avenir Next"/>
              </a:defRPr>
            </a:lvl6pPr>
            <a:lvl7pPr algn="l">
              <a:defRPr sz="3150" b="1">
                <a:solidFill>
                  <a:srgbClr val="142B43"/>
                </a:solidFill>
                <a:latin typeface="Avenir Next"/>
                <a:ea typeface="Avenir Next"/>
                <a:cs typeface="Avenir Next"/>
              </a:defRPr>
            </a:lvl7pPr>
            <a:lvl8pPr algn="l">
              <a:defRPr sz="3150" b="1">
                <a:solidFill>
                  <a:srgbClr val="142B43"/>
                </a:solidFill>
                <a:latin typeface="Avenir Next"/>
                <a:ea typeface="Avenir Next"/>
                <a:cs typeface="Avenir Next"/>
              </a:defRPr>
            </a:lvl8pPr>
            <a:lvl9pPr algn="l">
              <a:defRPr sz="3150" b="1">
                <a:solidFill>
                  <a:srgbClr val="142B43"/>
                </a:solidFill>
                <a:latin typeface="Avenir Next"/>
                <a:ea typeface="Avenir Next"/>
                <a:cs typeface="Avenir Next"/>
              </a:defRPr>
            </a:lvl9pPr>
          </a:lstStyle>
          <a:p xmlns:a="http://schemas.openxmlformats.org/drawingml/2006/main">
            <a:pPr algn="l">
              <a:defRPr sz="3150" b="1">
                <a:solidFill>
                  <a:srgbClr val="142B43"/>
                </a:solidFill>
                <a:latin typeface="Avenir Next"/>
                <a:ea typeface="Avenir Next"/>
                <a:cs typeface="Avenir Next"/>
              </a:defRPr>
            </a:pPr>
            <a:r>
              <a:rPr sz="3150" b="1">
                <a:solidFill>
                  <a:srgbClr val="142B43"/>
                </a:solidFill>
                <a:latin typeface="Avenir Next"/>
                <a:ea typeface="Avenir Next"/>
                <a:cs typeface="Avenir Next"/>
              </a:rPr>
              <a:t>Scientific concept and worker workflow</a:t>
            </a:r>
          </a:p>
        </p:txBody>
      </p:sp>
      <p:sp>
        <p:nvSpPr>
          <p:cNvPr id="2" name="Healthcare need: H₂S exposure can harm the eyes, respiratory system an">
            <a:extLst xmlns:a="http://schemas.openxmlformats.org/drawingml/2006/main">
              <a:ext uri="{FF2B5EF4-FFF2-40B4-BE49-F238E27FC236}">
                <a16:creationId xmlns:a16="http://schemas.microsoft.com/office/drawing/2014/main" id="{B363D9B7-48FA-44A0-9163-302E56F2E220}"/>
              </a:ext>
            </a:extLst>
          </p:cNvPr>
          <p:cNvSpPr>
            <a:spLocks xmlns:a="http://schemas.openxmlformats.org/drawingml/2006/main" noGrp="1"/>
          </p:cNvSpPr>
          <p:nvPr/>
        </p:nvSpPr>
        <p:spPr>
          <a:xfrm xmlns:a="http://schemas.openxmlformats.org/drawingml/2006/main">
            <a:off x="533400" y="1066800"/>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4"/>
                </a:solidFill>
                <a:latin typeface="Avenir Next"/>
                <a:ea typeface="Avenir Next"/>
                <a:cs typeface="Avenir Next"/>
              </a:defRPr>
            </a:defPPr>
            <a:lvl1pPr algn="l">
              <a:defRPr sz="1575" b="0">
                <a:solidFill>
                  <a:srgbClr val="526574"/>
                </a:solidFill>
                <a:latin typeface="Avenir Next"/>
                <a:ea typeface="Avenir Next"/>
                <a:cs typeface="Avenir Next"/>
              </a:defRPr>
            </a:lvl1pPr>
            <a:lvl2pPr algn="l">
              <a:defRPr sz="1575" b="0">
                <a:solidFill>
                  <a:srgbClr val="526574"/>
                </a:solidFill>
                <a:latin typeface="Avenir Next"/>
                <a:ea typeface="Avenir Next"/>
                <a:cs typeface="Avenir Next"/>
              </a:defRPr>
            </a:lvl2pPr>
            <a:lvl3pPr algn="l">
              <a:defRPr sz="1575" b="0">
                <a:solidFill>
                  <a:srgbClr val="526574"/>
                </a:solidFill>
                <a:latin typeface="Avenir Next"/>
                <a:ea typeface="Avenir Next"/>
                <a:cs typeface="Avenir Next"/>
              </a:defRPr>
            </a:lvl3pPr>
            <a:lvl4pPr algn="l">
              <a:defRPr sz="1575" b="0">
                <a:solidFill>
                  <a:srgbClr val="526574"/>
                </a:solidFill>
                <a:latin typeface="Avenir Next"/>
                <a:ea typeface="Avenir Next"/>
                <a:cs typeface="Avenir Next"/>
              </a:defRPr>
            </a:lvl4pPr>
            <a:lvl5pPr algn="l">
              <a:defRPr sz="1575" b="0">
                <a:solidFill>
                  <a:srgbClr val="526574"/>
                </a:solidFill>
                <a:latin typeface="Avenir Next"/>
                <a:ea typeface="Avenir Next"/>
                <a:cs typeface="Avenir Next"/>
              </a:defRPr>
            </a:lvl5pPr>
            <a:lvl6pPr algn="l">
              <a:defRPr sz="1575" b="0">
                <a:solidFill>
                  <a:srgbClr val="526574"/>
                </a:solidFill>
                <a:latin typeface="Avenir Next"/>
                <a:ea typeface="Avenir Next"/>
                <a:cs typeface="Avenir Next"/>
              </a:defRPr>
            </a:lvl6pPr>
            <a:lvl7pPr algn="l">
              <a:defRPr sz="1575" b="0">
                <a:solidFill>
                  <a:srgbClr val="526574"/>
                </a:solidFill>
                <a:latin typeface="Avenir Next"/>
                <a:ea typeface="Avenir Next"/>
                <a:cs typeface="Avenir Next"/>
              </a:defRPr>
            </a:lvl7pPr>
            <a:lvl8pPr algn="l">
              <a:defRPr sz="1575" b="0">
                <a:solidFill>
                  <a:srgbClr val="526574"/>
                </a:solidFill>
                <a:latin typeface="Avenir Next"/>
                <a:ea typeface="Avenir Next"/>
                <a:cs typeface="Avenir Next"/>
              </a:defRPr>
            </a:lvl8pPr>
            <a:lvl9pPr algn="l">
              <a:defRPr sz="1575" b="0">
                <a:solidFill>
                  <a:srgbClr val="526574"/>
                </a:solidFill>
                <a:latin typeface="Avenir Next"/>
                <a:ea typeface="Avenir Next"/>
                <a:cs typeface="Avenir Next"/>
              </a:defRPr>
            </a:lvl9pPr>
          </a:lstStyle>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Healthcare need: H₂S exposure can harm the eyes, respiratory system and nervous system. [5,6]</a:t>
            </a:r>
          </a:p>
        </p:txBody>
      </p:sp>
      <p:pic>
        <p:nvPicPr>
          <p:cNvPr id="3" name="">
            <a:extLst xmlns:a="http://schemas.openxmlformats.org/drawingml/2006/main">
              <a:ext uri="{FF2B5EF4-FFF2-40B4-BE49-F238E27FC236}">
                <a16:creationId xmlns:a16="http://schemas.microsoft.com/office/drawing/2014/main" id="{FB923B66-BD4B-47F8-86EA-D85B8CE5B2F8}"/>
              </a:ext>
            </a:extLst>
          </p:cNvPr>
          <p:cNvPicPr>
            <a:picLocks xmlns:a="http://schemas.openxmlformats.org/drawingml/2006/main" noChangeAspect="1"/>
          </p:cNvPicPr>
          <p:nvPr/>
        </p:nvPicPr>
        <p:blipFill>
          <a:blip xmlns:r="http://schemas.openxmlformats.org/officeDocument/2006/relationships" xmlns:a="http://schemas.openxmlformats.org/drawingml/2006/main" r:embed="R16ee7f50ee5243a5"/>
          <a:stretch xmlns:a="http://schemas.openxmlformats.org/drawingml/2006/main"/>
        </p:blipFill>
        <p:spPr>
          <a:xfrm xmlns:a="http://schemas.openxmlformats.org/drawingml/2006/main">
            <a:off x="374650" y="1733550"/>
            <a:ext cx="4851400" cy="3638550"/>
          </a:xfrm>
          <a:prstGeom xmlns:a="http://schemas.openxmlformats.org/drawingml/2006/main" prst="rect">
            <a:avLst/>
          </a:prstGeom>
        </p:spPr>
      </p:pic>
      <p:sp>
        <p:nvSpPr>
          <p:cNvPr id="4" name="01  Passive chemical sensor">
            <a:extLst xmlns:a="http://schemas.openxmlformats.org/drawingml/2006/main">
              <a:ext uri="{FF2B5EF4-FFF2-40B4-BE49-F238E27FC236}">
                <a16:creationId xmlns:a16="http://schemas.microsoft.com/office/drawing/2014/main" id="{1552DA66-87E4-4A18-88BC-0651D65822C3}"/>
              </a:ext>
            </a:extLst>
          </p:cNvPr>
          <p:cNvSpPr>
            <a:spLocks xmlns:a="http://schemas.openxmlformats.org/drawingml/2006/main" noGrp="1"/>
          </p:cNvSpPr>
          <p:nvPr/>
        </p:nvSpPr>
        <p:spPr>
          <a:xfrm xmlns:a="http://schemas.openxmlformats.org/drawingml/2006/main">
            <a:off x="5562600" y="1743075"/>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01  Passive chemical sensor</a:t>
            </a:r>
          </a:p>
        </p:txBody>
      </p:sp>
      <p:sp>
        <p:nvSpPr>
          <p:cNvPr id="5" name="CuSO₄ + glycerol + water beneath a Tyvek cover. Concept response: pale">
            <a:extLst xmlns:a="http://schemas.openxmlformats.org/drawingml/2006/main">
              <a:ext uri="{FF2B5EF4-FFF2-40B4-BE49-F238E27FC236}">
                <a16:creationId xmlns:a16="http://schemas.microsoft.com/office/drawing/2014/main" id="{A3A89353-8AEB-4E92-9B16-1C853BF97997}"/>
              </a:ext>
            </a:extLst>
          </p:cNvPr>
          <p:cNvSpPr>
            <a:spLocks xmlns:a="http://schemas.openxmlformats.org/drawingml/2006/main" noGrp="1"/>
          </p:cNvSpPr>
          <p:nvPr/>
        </p:nvSpPr>
        <p:spPr>
          <a:xfrm xmlns:a="http://schemas.openxmlformats.org/drawingml/2006/main">
            <a:off x="5562600" y="2171700"/>
            <a:ext cx="590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CuSO₄ + glycerol + water beneath a Tyvek cover.</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Concept response: pale blue, then brown, then black.</a:t>
            </a:r>
          </a:p>
        </p:txBody>
      </p:sp>
      <p:sp>
        <p:nvSpPr>
          <p:cNvPr id="6" name="02  Built-in validity indicator">
            <a:extLst xmlns:a="http://schemas.openxmlformats.org/drawingml/2006/main">
              <a:ext uri="{FF2B5EF4-FFF2-40B4-BE49-F238E27FC236}">
                <a16:creationId xmlns:a16="http://schemas.microsoft.com/office/drawing/2014/main" id="{CB1B402D-5E7A-4637-8CB1-0CD676297339}"/>
              </a:ext>
            </a:extLst>
          </p:cNvPr>
          <p:cNvSpPr>
            <a:spLocks xmlns:a="http://schemas.openxmlformats.org/drawingml/2006/main" noGrp="1"/>
          </p:cNvSpPr>
          <p:nvPr/>
        </p:nvSpPr>
        <p:spPr>
          <a:xfrm xmlns:a="http://schemas.openxmlformats.org/drawingml/2006/main">
            <a:off x="5562600" y="2971800"/>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02  Built-in validity indicator</a:t>
            </a:r>
          </a:p>
        </p:txBody>
      </p:sp>
      <p:sp>
        <p:nvSpPr>
          <p:cNvPr id="7" name="A FeSO₄ dot screens band usability against a calibrated reference. Rej">
            <a:extLst xmlns:a="http://schemas.openxmlformats.org/drawingml/2006/main">
              <a:ext uri="{FF2B5EF4-FFF2-40B4-BE49-F238E27FC236}">
                <a16:creationId xmlns:a16="http://schemas.microsoft.com/office/drawing/2014/main" id="{FE1670D6-8A9C-47DE-BF6B-77FD4025C38F}"/>
              </a:ext>
            </a:extLst>
          </p:cNvPr>
          <p:cNvSpPr>
            <a:spLocks xmlns:a="http://schemas.openxmlformats.org/drawingml/2006/main" noGrp="1"/>
          </p:cNvSpPr>
          <p:nvPr/>
        </p:nvSpPr>
        <p:spPr>
          <a:xfrm xmlns:a="http://schemas.openxmlformats.org/drawingml/2006/main">
            <a:off x="5562600" y="3400425"/>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A FeSO₄ dot screens band usability against a calibrated</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reference. Reject an invalid band before interpretation.</a:t>
            </a:r>
          </a:p>
        </p:txBody>
      </p:sp>
      <p:sp>
        <p:nvSpPr>
          <p:cNvPr id="8" name="03  End-of-shift phone capture">
            <a:extLst xmlns:a="http://schemas.openxmlformats.org/drawingml/2006/main">
              <a:ext uri="{FF2B5EF4-FFF2-40B4-BE49-F238E27FC236}">
                <a16:creationId xmlns:a16="http://schemas.microsoft.com/office/drawing/2014/main" id="{0391982F-942F-4599-9BE4-03FCE35100C7}"/>
              </a:ext>
            </a:extLst>
          </p:cNvPr>
          <p:cNvSpPr>
            <a:spLocks xmlns:a="http://schemas.openxmlformats.org/drawingml/2006/main" noGrp="1"/>
          </p:cNvSpPr>
          <p:nvPr/>
        </p:nvSpPr>
        <p:spPr>
          <a:xfrm xmlns:a="http://schemas.openxmlformats.org/drawingml/2006/main">
            <a:off x="5562600" y="4210050"/>
            <a:ext cx="600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363DA"/>
                </a:solidFill>
                <a:latin typeface="Avenir Next"/>
                <a:ea typeface="Avenir Next"/>
                <a:cs typeface="Avenir Next"/>
              </a:defRPr>
            </a:defPPr>
            <a:lvl1pPr algn="l">
              <a:defRPr sz="1875" b="1">
                <a:solidFill>
                  <a:srgbClr val="2363DA"/>
                </a:solidFill>
                <a:latin typeface="Avenir Next"/>
                <a:ea typeface="Avenir Next"/>
                <a:cs typeface="Avenir Next"/>
              </a:defRPr>
            </a:lvl1pPr>
            <a:lvl2pPr algn="l">
              <a:defRPr sz="1875" b="1">
                <a:solidFill>
                  <a:srgbClr val="2363DA"/>
                </a:solidFill>
                <a:latin typeface="Avenir Next"/>
                <a:ea typeface="Avenir Next"/>
                <a:cs typeface="Avenir Next"/>
              </a:defRPr>
            </a:lvl2pPr>
            <a:lvl3pPr algn="l">
              <a:defRPr sz="1875" b="1">
                <a:solidFill>
                  <a:srgbClr val="2363DA"/>
                </a:solidFill>
                <a:latin typeface="Avenir Next"/>
                <a:ea typeface="Avenir Next"/>
                <a:cs typeface="Avenir Next"/>
              </a:defRPr>
            </a:lvl3pPr>
            <a:lvl4pPr algn="l">
              <a:defRPr sz="1875" b="1">
                <a:solidFill>
                  <a:srgbClr val="2363DA"/>
                </a:solidFill>
                <a:latin typeface="Avenir Next"/>
                <a:ea typeface="Avenir Next"/>
                <a:cs typeface="Avenir Next"/>
              </a:defRPr>
            </a:lvl4pPr>
            <a:lvl5pPr algn="l">
              <a:defRPr sz="1875" b="1">
                <a:solidFill>
                  <a:srgbClr val="2363DA"/>
                </a:solidFill>
                <a:latin typeface="Avenir Next"/>
                <a:ea typeface="Avenir Next"/>
                <a:cs typeface="Avenir Next"/>
              </a:defRPr>
            </a:lvl5pPr>
            <a:lvl6pPr algn="l">
              <a:defRPr sz="1875" b="1">
                <a:solidFill>
                  <a:srgbClr val="2363DA"/>
                </a:solidFill>
                <a:latin typeface="Avenir Next"/>
                <a:ea typeface="Avenir Next"/>
                <a:cs typeface="Avenir Next"/>
              </a:defRPr>
            </a:lvl6pPr>
            <a:lvl7pPr algn="l">
              <a:defRPr sz="1875" b="1">
                <a:solidFill>
                  <a:srgbClr val="2363DA"/>
                </a:solidFill>
                <a:latin typeface="Avenir Next"/>
                <a:ea typeface="Avenir Next"/>
                <a:cs typeface="Avenir Next"/>
              </a:defRPr>
            </a:lvl7pPr>
            <a:lvl8pPr algn="l">
              <a:defRPr sz="1875" b="1">
                <a:solidFill>
                  <a:srgbClr val="2363DA"/>
                </a:solidFill>
                <a:latin typeface="Avenir Next"/>
                <a:ea typeface="Avenir Next"/>
                <a:cs typeface="Avenir Next"/>
              </a:defRPr>
            </a:lvl8pPr>
            <a:lvl9pPr algn="l">
              <a:defRPr sz="1875" b="1">
                <a:solidFill>
                  <a:srgbClr val="2363DA"/>
                </a:solidFill>
                <a:latin typeface="Avenir Next"/>
                <a:ea typeface="Avenir Next"/>
                <a:cs typeface="Avenir Next"/>
              </a:defRPr>
            </a:lvl9pPr>
          </a:lstStyle>
          <a:p xmlns:a="http://schemas.openxmlformats.org/drawingml/2006/main">
            <a:pPr algn="l">
              <a:defRPr sz="1875" b="1">
                <a:solidFill>
                  <a:srgbClr val="2363DA"/>
                </a:solidFill>
                <a:latin typeface="Avenir Next"/>
                <a:ea typeface="Avenir Next"/>
                <a:cs typeface="Avenir Next"/>
              </a:defRPr>
            </a:pPr>
            <a:r>
              <a:rPr sz="1875" b="1">
                <a:solidFill>
                  <a:srgbClr val="2363DA"/>
                </a:solidFill>
                <a:latin typeface="Avenir Next"/>
                <a:ea typeface="Avenir Next"/>
                <a:cs typeface="Avenir Next"/>
              </a:rPr>
              <a:t>03  End-of-shift phone capture</a:t>
            </a:r>
          </a:p>
        </p:txBody>
      </p:sp>
      <p:sp>
        <p:nvSpPr>
          <p:cNvPr id="9" name="Capture the complete card with a neutral reference. Normalise lighting">
            <a:extLst xmlns:a="http://schemas.openxmlformats.org/drawingml/2006/main">
              <a:ext uri="{FF2B5EF4-FFF2-40B4-BE49-F238E27FC236}">
                <a16:creationId xmlns:a16="http://schemas.microsoft.com/office/drawing/2014/main" id="{46A496F3-F17F-46C1-AD87-8F533CFBE669}"/>
              </a:ext>
            </a:extLst>
          </p:cNvPr>
          <p:cNvSpPr>
            <a:spLocks xmlns:a="http://schemas.openxmlformats.org/drawingml/2006/main" noGrp="1"/>
          </p:cNvSpPr>
          <p:nvPr/>
        </p:nvSpPr>
        <p:spPr>
          <a:xfrm xmlns:a="http://schemas.openxmlformats.org/drawingml/2006/main">
            <a:off x="5562600" y="4638675"/>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B43"/>
                </a:solidFill>
                <a:latin typeface="Avenir Next"/>
                <a:ea typeface="Avenir Next"/>
                <a:cs typeface="Avenir Next"/>
              </a:defRPr>
            </a:defPPr>
            <a:lvl1pPr algn="l">
              <a:defRPr sz="1575" b="0">
                <a:solidFill>
                  <a:srgbClr val="142B43"/>
                </a:solidFill>
                <a:latin typeface="Avenir Next"/>
                <a:ea typeface="Avenir Next"/>
                <a:cs typeface="Avenir Next"/>
              </a:defRPr>
            </a:lvl1pPr>
            <a:lvl2pPr algn="l">
              <a:defRPr sz="1575" b="0">
                <a:solidFill>
                  <a:srgbClr val="142B43"/>
                </a:solidFill>
                <a:latin typeface="Avenir Next"/>
                <a:ea typeface="Avenir Next"/>
                <a:cs typeface="Avenir Next"/>
              </a:defRPr>
            </a:lvl2pPr>
            <a:lvl3pPr algn="l">
              <a:defRPr sz="1575" b="0">
                <a:solidFill>
                  <a:srgbClr val="142B43"/>
                </a:solidFill>
                <a:latin typeface="Avenir Next"/>
                <a:ea typeface="Avenir Next"/>
                <a:cs typeface="Avenir Next"/>
              </a:defRPr>
            </a:lvl3pPr>
            <a:lvl4pPr algn="l">
              <a:defRPr sz="1575" b="0">
                <a:solidFill>
                  <a:srgbClr val="142B43"/>
                </a:solidFill>
                <a:latin typeface="Avenir Next"/>
                <a:ea typeface="Avenir Next"/>
                <a:cs typeface="Avenir Next"/>
              </a:defRPr>
            </a:lvl4pPr>
            <a:lvl5pPr algn="l">
              <a:defRPr sz="1575" b="0">
                <a:solidFill>
                  <a:srgbClr val="142B43"/>
                </a:solidFill>
                <a:latin typeface="Avenir Next"/>
                <a:ea typeface="Avenir Next"/>
                <a:cs typeface="Avenir Next"/>
              </a:defRPr>
            </a:lvl5pPr>
            <a:lvl6pPr algn="l">
              <a:defRPr sz="1575" b="0">
                <a:solidFill>
                  <a:srgbClr val="142B43"/>
                </a:solidFill>
                <a:latin typeface="Avenir Next"/>
                <a:ea typeface="Avenir Next"/>
                <a:cs typeface="Avenir Next"/>
              </a:defRPr>
            </a:lvl6pPr>
            <a:lvl7pPr algn="l">
              <a:defRPr sz="1575" b="0">
                <a:solidFill>
                  <a:srgbClr val="142B43"/>
                </a:solidFill>
                <a:latin typeface="Avenir Next"/>
                <a:ea typeface="Avenir Next"/>
                <a:cs typeface="Avenir Next"/>
              </a:defRPr>
            </a:lvl7pPr>
            <a:lvl8pPr algn="l">
              <a:defRPr sz="1575" b="0">
                <a:solidFill>
                  <a:srgbClr val="142B43"/>
                </a:solidFill>
                <a:latin typeface="Avenir Next"/>
                <a:ea typeface="Avenir Next"/>
                <a:cs typeface="Avenir Next"/>
              </a:defRPr>
            </a:lvl8pPr>
            <a:lvl9pPr algn="l">
              <a:defRPr sz="1575" b="0">
                <a:solidFill>
                  <a:srgbClr val="142B43"/>
                </a:solidFill>
                <a:latin typeface="Avenir Next"/>
                <a:ea typeface="Avenir Next"/>
                <a:cs typeface="Avenir Next"/>
              </a:defRPr>
            </a:lvl9pPr>
          </a:lstStyle>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Capture the complete card with a neutral reference.</a:t>
            </a:r>
          </a:p>
          <a:p xmlns:a="http://schemas.openxmlformats.org/drawingml/2006/main">
            <a:pPr algn="l">
              <a:defRPr sz="1575" b="0">
                <a:solidFill>
                  <a:srgbClr val="142B43"/>
                </a:solidFill>
                <a:latin typeface="Avenir Next"/>
                <a:ea typeface="Avenir Next"/>
                <a:cs typeface="Avenir Next"/>
              </a:defRPr>
            </a:pPr>
            <a:r>
              <a:rPr sz="1575" b="0">
                <a:solidFill>
                  <a:srgbClr val="142B43"/>
                </a:solidFill>
                <a:latin typeface="Avenir Next"/>
                <a:ea typeface="Avenir Next"/>
                <a:cs typeface="Avenir Next"/>
              </a:rPr>
              <a:t>Normalise lighting before reading the sensing patch.</a:t>
            </a:r>
          </a:p>
        </p:txBody>
      </p:sp>
      <p:sp>
        <p:nvSpPr>
          <p:cNvPr id="10" name="04  Two-stage read&#10;Validity, then colour">
            <a:extLst xmlns:a="http://schemas.openxmlformats.org/drawingml/2006/main">
              <a:ext uri="{FF2B5EF4-FFF2-40B4-BE49-F238E27FC236}">
                <a16:creationId xmlns:a16="http://schemas.microsoft.com/office/drawing/2014/main" id="{059DD6FC-41BF-4016-BE32-34358009D63A}"/>
              </a:ext>
            </a:extLst>
          </p:cNvPr>
          <p:cNvSpPr>
            <a:spLocks xmlns:a="http://schemas.openxmlformats.org/drawingml/2006/main" noGrp="1"/>
          </p:cNvSpPr>
          <p:nvPr/>
        </p:nvSpPr>
        <p:spPr>
          <a:xfrm xmlns:a="http://schemas.openxmlformats.org/drawingml/2006/main">
            <a:off x="514350"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04  Two-stage read</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Validity, then colour</a:t>
            </a:r>
          </a:p>
        </p:txBody>
      </p:sp>
      <p:sp>
        <p:nvSpPr>
          <p:cNvPr id="11" name="05  Cumulative dose&#10;Calibration-dependent">
            <a:extLst xmlns:a="http://schemas.openxmlformats.org/drawingml/2006/main">
              <a:ext uri="{FF2B5EF4-FFF2-40B4-BE49-F238E27FC236}">
                <a16:creationId xmlns:a16="http://schemas.microsoft.com/office/drawing/2014/main" id="{E2B58D7A-EED4-48F8-8CEA-AC410C91883C}"/>
              </a:ext>
            </a:extLst>
          </p:cNvPr>
          <p:cNvSpPr>
            <a:spLocks xmlns:a="http://schemas.openxmlformats.org/drawingml/2006/main" noGrp="1"/>
          </p:cNvSpPr>
          <p:nvPr/>
        </p:nvSpPr>
        <p:spPr>
          <a:xfrm xmlns:a="http://schemas.openxmlformats.org/drawingml/2006/main">
            <a:off x="3438525"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05  Cumulative dose</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Calibration-dependent</a:t>
            </a:r>
          </a:p>
        </p:txBody>
      </p:sp>
      <p:sp>
        <p:nvSpPr>
          <p:cNvPr id="12" name="06  Digital history&#10;Worker + shift record">
            <a:extLst xmlns:a="http://schemas.openxmlformats.org/drawingml/2006/main">
              <a:ext uri="{FF2B5EF4-FFF2-40B4-BE49-F238E27FC236}">
                <a16:creationId xmlns:a16="http://schemas.microsoft.com/office/drawing/2014/main" id="{C54A8D75-FB43-42D6-BFF0-A28071AD3323}"/>
              </a:ext>
            </a:extLst>
          </p:cNvPr>
          <p:cNvSpPr>
            <a:spLocks xmlns:a="http://schemas.openxmlformats.org/drawingml/2006/main" noGrp="1"/>
          </p:cNvSpPr>
          <p:nvPr/>
        </p:nvSpPr>
        <p:spPr>
          <a:xfrm xmlns:a="http://schemas.openxmlformats.org/drawingml/2006/main">
            <a:off x="6362700" y="5467350"/>
            <a:ext cx="2381250" cy="647700"/>
          </a:xfrm>
          <a:prstGeom xmlns:a="http://schemas.openxmlformats.org/drawingml/2006/main" prst="roundRect">
            <a:avLst>
              <a:gd name="adj" fmla="val 10294"/>
            </a:avLst>
          </a:prstGeom>
          <a:solidFill xmlns:a="http://schemas.openxmlformats.org/drawingml/2006/main">
            <a:srgbClr val="E7ECED"/>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06  Digital history</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Worker + shift record</a:t>
            </a:r>
          </a:p>
        </p:txBody>
      </p:sp>
      <p:sp>
        <p:nvSpPr>
          <p:cNvPr id="13" name="Offline guidance&#10;Five UI languages">
            <a:extLst xmlns:a="http://schemas.openxmlformats.org/drawingml/2006/main">
              <a:ext uri="{FF2B5EF4-FFF2-40B4-BE49-F238E27FC236}">
                <a16:creationId xmlns:a16="http://schemas.microsoft.com/office/drawing/2014/main" id="{5E70D0B0-50BE-41CC-885D-C13A86F236C8}"/>
              </a:ext>
            </a:extLst>
          </p:cNvPr>
          <p:cNvSpPr>
            <a:spLocks xmlns:a="http://schemas.openxmlformats.org/drawingml/2006/main" noGrp="1"/>
          </p:cNvSpPr>
          <p:nvPr/>
        </p:nvSpPr>
        <p:spPr>
          <a:xfrm xmlns:a="http://schemas.openxmlformats.org/drawingml/2006/main">
            <a:off x="9286875" y="5467350"/>
            <a:ext cx="2381250" cy="647700"/>
          </a:xfrm>
          <a:prstGeom xmlns:a="http://schemas.openxmlformats.org/drawingml/2006/main" prst="roundRect">
            <a:avLst>
              <a:gd name="adj" fmla="val 10294"/>
            </a:avLst>
          </a:prstGeom>
          <a:solidFill xmlns:a="http://schemas.openxmlformats.org/drawingml/2006/main">
            <a:srgbClr val="2363DA"/>
          </a:solidFill>
          <a:ln xmlns:a="http://schemas.openxmlformats.org/drawingml/2006/main" w="9525">
            <a:solidFill>
              <a:srgbClr val="A7B8C4"/>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Offline guidance</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Five UI languages</a:t>
            </a:r>
          </a:p>
        </p:txBody>
      </p:sp>
      <p:sp>
        <p:nvSpPr>
          <p:cNvPr id="17" name="Paper sensor research: [2-4]. Exact formulation, expiry and dose accur">
            <a:extLst xmlns:a="http://schemas.openxmlformats.org/drawingml/2006/main">
              <a:ext uri="{FF2B5EF4-FFF2-40B4-BE49-F238E27FC236}">
                <a16:creationId xmlns:a16="http://schemas.microsoft.com/office/drawing/2014/main" id="{E14EB4C2-0A20-45DA-B437-21EA7C57DE76}"/>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Paper sensor research: [2-4]. Exact formulation, expiry and dose accuracy need validation. Product illustration is conceptual.</a:t>
            </a:r>
          </a:p>
        </p:txBody>
      </p:sp>
      <p:sp>
        <p:nvSpPr>
          <p:cNvPr id="18" name="02">
            <a:extLst xmlns:a="http://schemas.openxmlformats.org/drawingml/2006/main">
              <a:ext uri="{FF2B5EF4-FFF2-40B4-BE49-F238E27FC236}">
                <a16:creationId xmlns:a16="http://schemas.microsoft.com/office/drawing/2014/main" id="{012AFCA0-275C-48AD-9EEE-B849439D2A3C}"/>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02</a:t>
            </a:r>
          </a:p>
        </p:txBody>
      </p:sp>
    </p:spTree>
    <p:extLst>
      <p:ext uri="{BB962C8B-B14F-4D97-AF65-F5344CB8AC3E}">
        <p14:creationId xmlns:p14="http://schemas.microsoft.com/office/powerpoint/2010/main" val="747373668"/>
      </p:ext>
    </p:extLst>
  </p:cSld>
</p:sld>
</file>

<file path=ppt/slides/slide3.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4522EF3-D480-4E3B-A233-3DD3FCA6FF4E}"/>
              </a:ext>
            </a:extLst>
          </p:cNvPr>
          <p:cNvCxnSpPr>
            <a:stCxn xmlns:a="http://schemas.openxmlformats.org/drawingml/2006/main" id="7" idx="2"/>
            <a:endCxn xmlns:a="http://schemas.openxmlformats.org/drawingml/2006/main" id="15" idx="0"/>
          </p:cNvCxnSpPr>
          <p:nvPr/>
        </p:nvCxnSpPr>
        <p:spPr>
          <a:xfrm xmlns:a="http://schemas.openxmlformats.org/drawingml/2006/main">
            <a:off x="8072438" y="2714625"/>
            <a:ext cx="0" cy="33337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6" name="">
            <a:extLst xmlns:a="http://schemas.openxmlformats.org/drawingml/2006/main">
              <a:ext uri="{FF2B5EF4-FFF2-40B4-BE49-F238E27FC236}">
                <a16:creationId xmlns:a16="http://schemas.microsoft.com/office/drawing/2014/main" id="{65492EF5-2F25-4AAF-A97F-64269F01B572}"/>
              </a:ext>
            </a:extLst>
          </p:cNvPr>
          <p:cNvCxnSpPr>
            <a:stCxn xmlns:a="http://schemas.openxmlformats.org/drawingml/2006/main" id="4" idx="2"/>
            <a:endCxn xmlns:a="http://schemas.openxmlformats.org/drawingml/2006/main" id="14" idx="0"/>
          </p:cNvCxnSpPr>
          <p:nvPr/>
        </p:nvCxnSpPr>
        <p:spPr>
          <a:xfrm xmlns:a="http://schemas.openxmlformats.org/drawingml/2006/main">
            <a:off x="3338513" y="2714625"/>
            <a:ext cx="0" cy="33337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3" name="">
            <a:extLst xmlns:a="http://schemas.openxmlformats.org/drawingml/2006/main">
              <a:ext uri="{FF2B5EF4-FFF2-40B4-BE49-F238E27FC236}">
                <a16:creationId xmlns:a16="http://schemas.microsoft.com/office/drawing/2014/main" id="{5443BE1F-AEED-4AB7-8006-E1AEA58302BA}"/>
              </a:ext>
            </a:extLst>
          </p:cNvPr>
          <p:cNvCxnSpPr>
            <a:stCxn xmlns:a="http://schemas.openxmlformats.org/drawingml/2006/main" id="7" idx="3"/>
            <a:endCxn xmlns:a="http://schemas.openxmlformats.org/drawingml/2006/main" id="9" idx="1"/>
          </p:cNvCxnSpPr>
          <p:nvPr/>
        </p:nvCxnSpPr>
        <p:spPr>
          <a:xfrm xmlns:a="http://schemas.openxmlformats.org/drawingml/2006/main">
            <a:off x="8810625"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2" name="">
            <a:extLst xmlns:a="http://schemas.openxmlformats.org/drawingml/2006/main">
              <a:ext uri="{FF2B5EF4-FFF2-40B4-BE49-F238E27FC236}">
                <a16:creationId xmlns:a16="http://schemas.microsoft.com/office/drawing/2014/main" id="{A3A65256-BD3F-4320-B577-F0DF4E7977C8}"/>
              </a:ext>
            </a:extLst>
          </p:cNvPr>
          <p:cNvCxnSpPr>
            <a:stCxn xmlns:a="http://schemas.openxmlformats.org/drawingml/2006/main" id="6" idx="3"/>
            <a:endCxn xmlns:a="http://schemas.openxmlformats.org/drawingml/2006/main" id="7" idx="1"/>
          </p:cNvCxnSpPr>
          <p:nvPr/>
        </p:nvCxnSpPr>
        <p:spPr>
          <a:xfrm xmlns:a="http://schemas.openxmlformats.org/drawingml/2006/main" flipV="1">
            <a:off x="6896100"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1" name="">
            <a:extLst xmlns:a="http://schemas.openxmlformats.org/drawingml/2006/main">
              <a:ext uri="{FF2B5EF4-FFF2-40B4-BE49-F238E27FC236}">
                <a16:creationId xmlns:a16="http://schemas.microsoft.com/office/drawing/2014/main" id="{9ADCE320-E84A-4FA5-AED7-26ECE6A47E35}"/>
              </a:ext>
            </a:extLst>
          </p:cNvPr>
          <p:cNvCxnSpPr>
            <a:stCxn xmlns:a="http://schemas.openxmlformats.org/drawingml/2006/main" id="4" idx="3"/>
            <a:endCxn xmlns:a="http://schemas.openxmlformats.org/drawingml/2006/main" id="6" idx="1"/>
          </p:cNvCxnSpPr>
          <p:nvPr/>
        </p:nvCxnSpPr>
        <p:spPr>
          <a:xfrm xmlns:a="http://schemas.openxmlformats.org/drawingml/2006/main">
            <a:off x="4076700"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cxnSp>
        <p:nvCxnSpPr>
          <p:cNvPr id="10" name="">
            <a:extLst xmlns:a="http://schemas.openxmlformats.org/drawingml/2006/main">
              <a:ext uri="{FF2B5EF4-FFF2-40B4-BE49-F238E27FC236}">
                <a16:creationId xmlns:a16="http://schemas.microsoft.com/office/drawing/2014/main" id="{3B4ABC8E-C0E8-40B9-9DBF-60852644501B}"/>
              </a:ext>
            </a:extLst>
          </p:cNvPr>
          <p:cNvCxnSpPr>
            <a:stCxn xmlns:a="http://schemas.openxmlformats.org/drawingml/2006/main" id="3" idx="3"/>
            <a:endCxn xmlns:a="http://schemas.openxmlformats.org/drawingml/2006/main" id="4" idx="1"/>
          </p:cNvCxnSpPr>
          <p:nvPr/>
        </p:nvCxnSpPr>
        <p:spPr>
          <a:xfrm xmlns:a="http://schemas.openxmlformats.org/drawingml/2006/main" flipV="1">
            <a:off x="2162175" y="2185988"/>
            <a:ext cx="438150" cy="9525"/>
          </a:xfrm>
          <a:prstGeom xmlns:a="http://schemas.openxmlformats.org/drawingml/2006/main" prst="straightConnector1">
            <a:avLst/>
          </a:prstGeom>
          <a:ln xmlns:a="http://schemas.openxmlformats.org/drawingml/2006/main" w="17145">
            <a:solidFill>
              <a:srgbClr val="8BA9C3"/>
            </a:solidFill>
            <a:tailEnd type="triangle" w="sm" len="sm"/>
          </a:ln>
        </p:spPr>
      </p:cxnSp>
      <p:sp>
        <p:nvSpPr>
          <p:cNvPr id="32" name="On-device reader and evidence">
            <a:extLst xmlns:a="http://schemas.openxmlformats.org/drawingml/2006/main">
              <a:ext uri="{FF2B5EF4-FFF2-40B4-BE49-F238E27FC236}">
                <a16:creationId xmlns:a16="http://schemas.microsoft.com/office/drawing/2014/main" id="{AC8F131C-B836-403C-92D1-B4618C74AF08}"/>
              </a:ext>
            </a:extLst>
          </p:cNvPr>
          <p:cNvSpPr>
            <a:spLocks xmlns:a="http://schemas.openxmlformats.org/drawingml/2006/main" noGrp="1"/>
          </p:cNvSpPr>
          <p:nvPr/>
        </p:nvSpPr>
        <p:spPr>
          <a:xfrm xmlns:a="http://schemas.openxmlformats.org/drawingml/2006/main">
            <a:off x="514350" y="409575"/>
            <a:ext cx="1116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venir Next"/>
                <a:ea typeface="Avenir Next"/>
                <a:cs typeface="Avenir Next"/>
              </a:defRPr>
            </a:defPPr>
            <a:lvl1pPr algn="l">
              <a:defRPr sz="3300" b="1">
                <a:solidFill>
                  <a:srgbClr val="FFFFFF"/>
                </a:solidFill>
                <a:latin typeface="Avenir Next"/>
                <a:ea typeface="Avenir Next"/>
                <a:cs typeface="Avenir Next"/>
              </a:defRPr>
            </a:lvl1pPr>
            <a:lvl2pPr algn="l">
              <a:defRPr sz="3300" b="1">
                <a:solidFill>
                  <a:srgbClr val="FFFFFF"/>
                </a:solidFill>
                <a:latin typeface="Avenir Next"/>
                <a:ea typeface="Avenir Next"/>
                <a:cs typeface="Avenir Next"/>
              </a:defRPr>
            </a:lvl2pPr>
            <a:lvl3pPr algn="l">
              <a:defRPr sz="3300" b="1">
                <a:solidFill>
                  <a:srgbClr val="FFFFFF"/>
                </a:solidFill>
                <a:latin typeface="Avenir Next"/>
                <a:ea typeface="Avenir Next"/>
                <a:cs typeface="Avenir Next"/>
              </a:defRPr>
            </a:lvl3pPr>
            <a:lvl4pPr algn="l">
              <a:defRPr sz="3300" b="1">
                <a:solidFill>
                  <a:srgbClr val="FFFFFF"/>
                </a:solidFill>
                <a:latin typeface="Avenir Next"/>
                <a:ea typeface="Avenir Next"/>
                <a:cs typeface="Avenir Next"/>
              </a:defRPr>
            </a:lvl4pPr>
            <a:lvl5pPr algn="l">
              <a:defRPr sz="3300" b="1">
                <a:solidFill>
                  <a:srgbClr val="FFFFFF"/>
                </a:solidFill>
                <a:latin typeface="Avenir Next"/>
                <a:ea typeface="Avenir Next"/>
                <a:cs typeface="Avenir Next"/>
              </a:defRPr>
            </a:lvl5pPr>
            <a:lvl6pPr algn="l">
              <a:defRPr sz="3300" b="1">
                <a:solidFill>
                  <a:srgbClr val="FFFFFF"/>
                </a:solidFill>
                <a:latin typeface="Avenir Next"/>
                <a:ea typeface="Avenir Next"/>
                <a:cs typeface="Avenir Next"/>
              </a:defRPr>
            </a:lvl6pPr>
            <a:lvl7pPr algn="l">
              <a:defRPr sz="3300" b="1">
                <a:solidFill>
                  <a:srgbClr val="FFFFFF"/>
                </a:solidFill>
                <a:latin typeface="Avenir Next"/>
                <a:ea typeface="Avenir Next"/>
                <a:cs typeface="Avenir Next"/>
              </a:defRPr>
            </a:lvl7pPr>
            <a:lvl8pPr algn="l">
              <a:defRPr sz="3300" b="1">
                <a:solidFill>
                  <a:srgbClr val="FFFFFF"/>
                </a:solidFill>
                <a:latin typeface="Avenir Next"/>
                <a:ea typeface="Avenir Next"/>
                <a:cs typeface="Avenir Next"/>
              </a:defRPr>
            </a:lvl8pPr>
            <a:lvl9pPr algn="l">
              <a:defRPr sz="3300" b="1">
                <a:solidFill>
                  <a:srgbClr val="FFFFFF"/>
                </a:solidFill>
                <a:latin typeface="Avenir Next"/>
                <a:ea typeface="Avenir Next"/>
                <a:cs typeface="Avenir Next"/>
              </a:defRPr>
            </a:lvl9pPr>
          </a:lstStyle>
          <a:p xmlns:a="http://schemas.openxmlformats.org/drawingml/2006/main">
            <a:pPr algn="l">
              <a:defRPr sz="3300" b="1">
                <a:solidFill>
                  <a:srgbClr val="FFFFFF"/>
                </a:solidFill>
                <a:latin typeface="Avenir Next"/>
                <a:ea typeface="Avenir Next"/>
                <a:cs typeface="Avenir Next"/>
              </a:defRPr>
            </a:pPr>
            <a:r>
              <a:rPr sz="3300" b="1">
                <a:solidFill>
                  <a:srgbClr val="FFFFFF"/>
                </a:solidFill>
                <a:latin typeface="Avenir Next"/>
                <a:ea typeface="Avenir Next"/>
                <a:cs typeface="Avenir Next"/>
              </a:rPr>
              <a:t>On-device reader and evidence</a:t>
            </a:r>
          </a:p>
        </p:txBody>
      </p:sp>
      <p:sp>
        <p:nvSpPr>
          <p:cNvPr id="2" name="React Native / Expo SDK 57 / OpenCV / SQLite">
            <a:extLst xmlns:a="http://schemas.openxmlformats.org/drawingml/2006/main">
              <a:ext uri="{FF2B5EF4-FFF2-40B4-BE49-F238E27FC236}">
                <a16:creationId xmlns:a16="http://schemas.microsoft.com/office/drawing/2014/main" id="{067403CA-7F10-4695-ACEC-1C46C561BE04}"/>
              </a:ext>
            </a:extLst>
          </p:cNvPr>
          <p:cNvSpPr>
            <a:spLocks xmlns:a="http://schemas.openxmlformats.org/drawingml/2006/main" noGrp="1"/>
          </p:cNvSpPr>
          <p:nvPr/>
        </p:nvSpPr>
        <p:spPr>
          <a:xfrm xmlns:a="http://schemas.openxmlformats.org/drawingml/2006/main">
            <a:off x="533400" y="109537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DCEDD"/>
                </a:solidFill>
                <a:latin typeface="Avenir Next"/>
                <a:ea typeface="Avenir Next"/>
                <a:cs typeface="Avenir Next"/>
              </a:defRPr>
            </a:defPPr>
            <a:lvl1pPr algn="l">
              <a:defRPr sz="1650" b="0">
                <a:solidFill>
                  <a:srgbClr val="BDCEDD"/>
                </a:solidFill>
                <a:latin typeface="Avenir Next"/>
                <a:ea typeface="Avenir Next"/>
                <a:cs typeface="Avenir Next"/>
              </a:defRPr>
            </a:lvl1pPr>
            <a:lvl2pPr algn="l">
              <a:defRPr sz="1650" b="0">
                <a:solidFill>
                  <a:srgbClr val="BDCEDD"/>
                </a:solidFill>
                <a:latin typeface="Avenir Next"/>
                <a:ea typeface="Avenir Next"/>
                <a:cs typeface="Avenir Next"/>
              </a:defRPr>
            </a:lvl2pPr>
            <a:lvl3pPr algn="l">
              <a:defRPr sz="1650" b="0">
                <a:solidFill>
                  <a:srgbClr val="BDCEDD"/>
                </a:solidFill>
                <a:latin typeface="Avenir Next"/>
                <a:ea typeface="Avenir Next"/>
                <a:cs typeface="Avenir Next"/>
              </a:defRPr>
            </a:lvl3pPr>
            <a:lvl4pPr algn="l">
              <a:defRPr sz="1650" b="0">
                <a:solidFill>
                  <a:srgbClr val="BDCEDD"/>
                </a:solidFill>
                <a:latin typeface="Avenir Next"/>
                <a:ea typeface="Avenir Next"/>
                <a:cs typeface="Avenir Next"/>
              </a:defRPr>
            </a:lvl4pPr>
            <a:lvl5pPr algn="l">
              <a:defRPr sz="1650" b="0">
                <a:solidFill>
                  <a:srgbClr val="BDCEDD"/>
                </a:solidFill>
                <a:latin typeface="Avenir Next"/>
                <a:ea typeface="Avenir Next"/>
                <a:cs typeface="Avenir Next"/>
              </a:defRPr>
            </a:lvl5pPr>
            <a:lvl6pPr algn="l">
              <a:defRPr sz="1650" b="0">
                <a:solidFill>
                  <a:srgbClr val="BDCEDD"/>
                </a:solidFill>
                <a:latin typeface="Avenir Next"/>
                <a:ea typeface="Avenir Next"/>
                <a:cs typeface="Avenir Next"/>
              </a:defRPr>
            </a:lvl6pPr>
            <a:lvl7pPr algn="l">
              <a:defRPr sz="1650" b="0">
                <a:solidFill>
                  <a:srgbClr val="BDCEDD"/>
                </a:solidFill>
                <a:latin typeface="Avenir Next"/>
                <a:ea typeface="Avenir Next"/>
                <a:cs typeface="Avenir Next"/>
              </a:defRPr>
            </a:lvl7pPr>
            <a:lvl8pPr algn="l">
              <a:defRPr sz="1650" b="0">
                <a:solidFill>
                  <a:srgbClr val="BDCEDD"/>
                </a:solidFill>
                <a:latin typeface="Avenir Next"/>
                <a:ea typeface="Avenir Next"/>
                <a:cs typeface="Avenir Next"/>
              </a:defRPr>
            </a:lvl8pPr>
            <a:lvl9pPr algn="l">
              <a:defRPr sz="1650" b="0">
                <a:solidFill>
                  <a:srgbClr val="BDCEDD"/>
                </a:solidFill>
                <a:latin typeface="Avenir Next"/>
                <a:ea typeface="Avenir Next"/>
                <a:cs typeface="Avenir Next"/>
              </a:defRPr>
            </a:lvl9pPr>
          </a:lstStyle>
          <a:p xmlns:a="http://schemas.openxmlformats.org/drawingml/2006/main">
            <a:pPr algn="l">
              <a:defRPr sz="1650" b="0">
                <a:solidFill>
                  <a:srgbClr val="BDCEDD"/>
                </a:solidFill>
                <a:latin typeface="Avenir Next"/>
                <a:ea typeface="Avenir Next"/>
                <a:cs typeface="Avenir Next"/>
              </a:defRPr>
            </a:pPr>
            <a:r>
              <a:rPr sz="1650" b="0">
                <a:solidFill>
                  <a:srgbClr val="BDCEDD"/>
                </a:solidFill>
                <a:latin typeface="Avenir Next"/>
                <a:ea typeface="Avenir Next"/>
                <a:cs typeface="Avenir Next"/>
              </a:rPr>
              <a:t>React Native / Expo SDK 57 / OpenCV / SQLite</a:t>
            </a:r>
          </a:p>
        </p:txBody>
      </p:sp>
      <p:sp>
        <p:nvSpPr>
          <p:cNvPr id="3" name="Camera&#10;3 frames">
            <a:extLst xmlns:a="http://schemas.openxmlformats.org/drawingml/2006/main">
              <a:ext uri="{FF2B5EF4-FFF2-40B4-BE49-F238E27FC236}">
                <a16:creationId xmlns:a16="http://schemas.microsoft.com/office/drawing/2014/main" id="{F4703641-CB25-4B32-9075-945E08041EA7}"/>
              </a:ext>
            </a:extLst>
          </p:cNvPr>
          <p:cNvSpPr>
            <a:spLocks xmlns:a="http://schemas.openxmlformats.org/drawingml/2006/main" noGrp="1"/>
          </p:cNvSpPr>
          <p:nvPr/>
        </p:nvSpPr>
        <p:spPr>
          <a:xfrm xmlns:a="http://schemas.openxmlformats.org/drawingml/2006/main">
            <a:off x="514350" y="1819275"/>
            <a:ext cx="1647825" cy="752475"/>
          </a:xfrm>
          <a:prstGeom xmlns:a="http://schemas.openxmlformats.org/drawingml/2006/main" prst="roundRect">
            <a:avLst>
              <a:gd name="adj" fmla="val 8861"/>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Camera</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3 frames</a:t>
            </a:r>
          </a:p>
        </p:txBody>
      </p:sp>
      <p:sp>
        <p:nvSpPr>
          <p:cNvPr id="4" name="Quality&#10;OK?">
            <a:extLst xmlns:a="http://schemas.openxmlformats.org/drawingml/2006/main">
              <a:ext uri="{FF2B5EF4-FFF2-40B4-BE49-F238E27FC236}">
                <a16:creationId xmlns:a16="http://schemas.microsoft.com/office/drawing/2014/main" id="{C889760B-5B81-494A-B126-3EB40CDE8650}"/>
              </a:ext>
            </a:extLst>
          </p:cNvPr>
          <p:cNvSpPr>
            <a:spLocks xmlns:a="http://schemas.openxmlformats.org/drawingml/2006/main" noGrp="1"/>
          </p:cNvSpPr>
          <p:nvPr/>
        </p:nvSpPr>
        <p:spPr>
          <a:xfrm xmlns:a="http://schemas.openxmlformats.org/drawingml/2006/main">
            <a:off x="2600325" y="1657350"/>
            <a:ext cx="1476375" cy="1057275"/>
          </a:xfrm>
          <a:prstGeom xmlns:a="http://schemas.openxmlformats.org/drawingml/2006/main" prst="diamond">
            <a:avLst/>
          </a:prstGeom>
          <a:solidFill xmlns:a="http://schemas.openxmlformats.org/drawingml/2006/main">
            <a:srgbClr val="173750"/>
          </a:solidFill>
          <a:ln xmlns:a="http://schemas.openxmlformats.org/drawingml/2006/main" w="9525">
            <a:solidFill>
              <a:srgbClr val="476377"/>
            </a:solidFill>
          </a:ln>
        </p:spPr>
      </p:sp>
      <p:sp>
        <p:nvSpPr>
          <p:cNvPr id="5" name="Quality OK?">
            <a:extLst xmlns:a="http://schemas.openxmlformats.org/drawingml/2006/main">
              <a:ext uri="{FF2B5EF4-FFF2-40B4-BE49-F238E27FC236}">
                <a16:creationId xmlns:a16="http://schemas.microsoft.com/office/drawing/2014/main" id="{48A1363F-4E78-4B8D-8E71-F1D2C5BCEDCD}"/>
              </a:ext>
            </a:extLst>
          </p:cNvPr>
          <p:cNvSpPr>
            <a:spLocks xmlns:a="http://schemas.openxmlformats.org/drawingml/2006/main" noGrp="1"/>
          </p:cNvSpPr>
          <p:nvPr/>
        </p:nvSpPr>
        <p:spPr>
          <a:xfrm xmlns:a="http://schemas.openxmlformats.org/drawingml/2006/main">
            <a:off x="2667000" y="1914525"/>
            <a:ext cx="13430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Quality</a:t>
            </a:r>
          </a:p>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OK?</a:t>
            </a:r>
          </a:p>
        </p:txBody>
      </p:sp>
      <p:sp>
        <p:nvSpPr>
          <p:cNvPr id="6" name="OpenCV&#10;Reference + Lab / ΔE00">
            <a:extLst xmlns:a="http://schemas.openxmlformats.org/drawingml/2006/main">
              <a:ext uri="{FF2B5EF4-FFF2-40B4-BE49-F238E27FC236}">
                <a16:creationId xmlns:a16="http://schemas.microsoft.com/office/drawing/2014/main" id="{DAEE78D6-2C5E-407C-A3CD-5E20B71E8BFB}"/>
              </a:ext>
            </a:extLst>
          </p:cNvPr>
          <p:cNvSpPr>
            <a:spLocks xmlns:a="http://schemas.openxmlformats.org/drawingml/2006/main" noGrp="1"/>
          </p:cNvSpPr>
          <p:nvPr/>
        </p:nvSpPr>
        <p:spPr>
          <a:xfrm xmlns:a="http://schemas.openxmlformats.org/drawingml/2006/main">
            <a:off x="4514850" y="1819275"/>
            <a:ext cx="2381250" cy="752475"/>
          </a:xfrm>
          <a:prstGeom xmlns:a="http://schemas.openxmlformats.org/drawingml/2006/main" prst="roundRect">
            <a:avLst>
              <a:gd name="adj" fmla="val 8861"/>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OpenCV</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Reference + Lab / ΔE00</a:t>
            </a:r>
          </a:p>
        </p:txBody>
      </p:sp>
      <p:sp>
        <p:nvSpPr>
          <p:cNvPr id="7" name="Dot&#10;valid?">
            <a:extLst xmlns:a="http://schemas.openxmlformats.org/drawingml/2006/main">
              <a:ext uri="{FF2B5EF4-FFF2-40B4-BE49-F238E27FC236}">
                <a16:creationId xmlns:a16="http://schemas.microsoft.com/office/drawing/2014/main" id="{79366668-AAA3-4938-B4B0-93FD4DF26A7F}"/>
              </a:ext>
            </a:extLst>
          </p:cNvPr>
          <p:cNvSpPr>
            <a:spLocks xmlns:a="http://schemas.openxmlformats.org/drawingml/2006/main" noGrp="1"/>
          </p:cNvSpPr>
          <p:nvPr/>
        </p:nvSpPr>
        <p:spPr>
          <a:xfrm xmlns:a="http://schemas.openxmlformats.org/drawingml/2006/main">
            <a:off x="7334250" y="1657350"/>
            <a:ext cx="1476375" cy="1057275"/>
          </a:xfrm>
          <a:prstGeom xmlns:a="http://schemas.openxmlformats.org/drawingml/2006/main" prst="diamond">
            <a:avLst/>
          </a:prstGeom>
          <a:solidFill xmlns:a="http://schemas.openxmlformats.org/drawingml/2006/main">
            <a:srgbClr val="173750"/>
          </a:solidFill>
          <a:ln xmlns:a="http://schemas.openxmlformats.org/drawingml/2006/main" w="9525">
            <a:solidFill>
              <a:srgbClr val="476377"/>
            </a:solidFill>
          </a:ln>
        </p:spPr>
      </p:sp>
      <p:sp>
        <p:nvSpPr>
          <p:cNvPr id="8" name="Dot valid?">
            <a:extLst xmlns:a="http://schemas.openxmlformats.org/drawingml/2006/main">
              <a:ext uri="{FF2B5EF4-FFF2-40B4-BE49-F238E27FC236}">
                <a16:creationId xmlns:a16="http://schemas.microsoft.com/office/drawing/2014/main" id="{774F0B78-ED9E-404A-A4F6-6F8E52CEFE2C}"/>
              </a:ext>
            </a:extLst>
          </p:cNvPr>
          <p:cNvSpPr>
            <a:spLocks xmlns:a="http://schemas.openxmlformats.org/drawingml/2006/main" noGrp="1"/>
          </p:cNvSpPr>
          <p:nvPr/>
        </p:nvSpPr>
        <p:spPr>
          <a:xfrm xmlns:a="http://schemas.openxmlformats.org/drawingml/2006/main">
            <a:off x="7400925" y="1914525"/>
            <a:ext cx="13430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Dot</a:t>
            </a:r>
          </a:p>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valid?</a:t>
            </a:r>
          </a:p>
        </p:txBody>
      </p:sp>
      <p:sp>
        <p:nvSpPr>
          <p:cNvPr id="9" name="Colour category&#10;+ SQLite history">
            <a:extLst xmlns:a="http://schemas.openxmlformats.org/drawingml/2006/main">
              <a:ext uri="{FF2B5EF4-FFF2-40B4-BE49-F238E27FC236}">
                <a16:creationId xmlns:a16="http://schemas.microsoft.com/office/drawing/2014/main" id="{68CE0F39-D361-4EC2-A42F-49D22CFD5F8A}"/>
              </a:ext>
            </a:extLst>
          </p:cNvPr>
          <p:cNvSpPr>
            <a:spLocks xmlns:a="http://schemas.openxmlformats.org/drawingml/2006/main" noGrp="1"/>
          </p:cNvSpPr>
          <p:nvPr/>
        </p:nvSpPr>
        <p:spPr>
          <a:xfrm xmlns:a="http://schemas.openxmlformats.org/drawingml/2006/main">
            <a:off x="9248775" y="1819275"/>
            <a:ext cx="2428875" cy="752475"/>
          </a:xfrm>
          <a:prstGeom xmlns:a="http://schemas.openxmlformats.org/drawingml/2006/main" prst="roundRect">
            <a:avLst>
              <a:gd name="adj" fmla="val 8861"/>
            </a:avLst>
          </a:prstGeom>
          <a:solidFill xmlns:a="http://schemas.openxmlformats.org/drawingml/2006/main">
            <a:srgbClr val="2363DA"/>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500" b="1">
                <a:solidFill>
                  <a:srgbClr val="FFFFFF"/>
                </a:solidFill>
                <a:latin typeface="Avenir Next"/>
                <a:ea typeface="Avenir Next"/>
                <a:cs typeface="Avenir Next"/>
              </a:defRPr>
            </a:defPPr>
            <a:lvl1pPr algn="ctr">
              <a:defRPr sz="1500" b="1">
                <a:solidFill>
                  <a:srgbClr val="FFFFFF"/>
                </a:solidFill>
                <a:latin typeface="Avenir Next"/>
                <a:ea typeface="Avenir Next"/>
                <a:cs typeface="Avenir Next"/>
              </a:defRPr>
            </a:lvl1pPr>
            <a:lvl2pPr algn="ctr">
              <a:defRPr sz="1500" b="1">
                <a:solidFill>
                  <a:srgbClr val="FFFFFF"/>
                </a:solidFill>
                <a:latin typeface="Avenir Next"/>
                <a:ea typeface="Avenir Next"/>
                <a:cs typeface="Avenir Next"/>
              </a:defRPr>
            </a:lvl2pPr>
            <a:lvl3pPr algn="ctr">
              <a:defRPr sz="1500" b="1">
                <a:solidFill>
                  <a:srgbClr val="FFFFFF"/>
                </a:solidFill>
                <a:latin typeface="Avenir Next"/>
                <a:ea typeface="Avenir Next"/>
                <a:cs typeface="Avenir Next"/>
              </a:defRPr>
            </a:lvl3pPr>
            <a:lvl4pPr algn="ctr">
              <a:defRPr sz="1500" b="1">
                <a:solidFill>
                  <a:srgbClr val="FFFFFF"/>
                </a:solidFill>
                <a:latin typeface="Avenir Next"/>
                <a:ea typeface="Avenir Next"/>
                <a:cs typeface="Avenir Next"/>
              </a:defRPr>
            </a:lvl4pPr>
            <a:lvl5pPr algn="ctr">
              <a:defRPr sz="1500" b="1">
                <a:solidFill>
                  <a:srgbClr val="FFFFFF"/>
                </a:solidFill>
                <a:latin typeface="Avenir Next"/>
                <a:ea typeface="Avenir Next"/>
                <a:cs typeface="Avenir Next"/>
              </a:defRPr>
            </a:lvl5pPr>
            <a:lvl6pPr algn="ctr">
              <a:defRPr sz="1500" b="1">
                <a:solidFill>
                  <a:srgbClr val="FFFFFF"/>
                </a:solidFill>
                <a:latin typeface="Avenir Next"/>
                <a:ea typeface="Avenir Next"/>
                <a:cs typeface="Avenir Next"/>
              </a:defRPr>
            </a:lvl6pPr>
            <a:lvl7pPr algn="ctr">
              <a:defRPr sz="1500" b="1">
                <a:solidFill>
                  <a:srgbClr val="FFFFFF"/>
                </a:solidFill>
                <a:latin typeface="Avenir Next"/>
                <a:ea typeface="Avenir Next"/>
                <a:cs typeface="Avenir Next"/>
              </a:defRPr>
            </a:lvl7pPr>
            <a:lvl8pPr algn="ctr">
              <a:defRPr sz="1500" b="1">
                <a:solidFill>
                  <a:srgbClr val="FFFFFF"/>
                </a:solidFill>
                <a:latin typeface="Avenir Next"/>
                <a:ea typeface="Avenir Next"/>
                <a:cs typeface="Avenir Next"/>
              </a:defRPr>
            </a:lvl8pPr>
            <a:lvl9pPr algn="ctr">
              <a:defRPr sz="1500" b="1">
                <a:solidFill>
                  <a:srgbClr val="FFFFFF"/>
                </a:solidFill>
                <a:latin typeface="Avenir Next"/>
                <a:ea typeface="Avenir Next"/>
                <a:cs typeface="Avenir Next"/>
              </a:defRPr>
            </a:lvl9pPr>
          </a:lstStyle>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Colour category</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 SQLite history</a:t>
            </a:r>
          </a:p>
        </p:txBody>
      </p:sp>
      <p:sp>
        <p:nvSpPr>
          <p:cNvPr id="14" name="Retry">
            <a:extLst xmlns:a="http://schemas.openxmlformats.org/drawingml/2006/main">
              <a:ext uri="{FF2B5EF4-FFF2-40B4-BE49-F238E27FC236}">
                <a16:creationId xmlns:a16="http://schemas.microsoft.com/office/drawing/2014/main" id="{3F71908B-BA8C-4E8E-91D7-21A9A59B22CC}"/>
              </a:ext>
            </a:extLst>
          </p:cNvPr>
          <p:cNvSpPr>
            <a:spLocks xmlns:a="http://schemas.openxmlformats.org/drawingml/2006/main" noGrp="1"/>
          </p:cNvSpPr>
          <p:nvPr/>
        </p:nvSpPr>
        <p:spPr>
          <a:xfrm xmlns:a="http://schemas.openxmlformats.org/drawingml/2006/main">
            <a:off x="2600325" y="3048000"/>
            <a:ext cx="1476375" cy="447675"/>
          </a:xfrm>
          <a:prstGeom xmlns:a="http://schemas.openxmlformats.org/drawingml/2006/main" prst="roundRect">
            <a:avLst>
              <a:gd name="adj" fmla="val 14894"/>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Retry</a:t>
            </a:r>
          </a:p>
        </p:txBody>
      </p:sp>
      <p:sp>
        <p:nvSpPr>
          <p:cNvPr id="15" name="Replace band">
            <a:extLst xmlns:a="http://schemas.openxmlformats.org/drawingml/2006/main">
              <a:ext uri="{FF2B5EF4-FFF2-40B4-BE49-F238E27FC236}">
                <a16:creationId xmlns:a16="http://schemas.microsoft.com/office/drawing/2014/main" id="{02274F3F-706C-4BB2-BB43-B96AE700429D}"/>
              </a:ext>
            </a:extLst>
          </p:cNvPr>
          <p:cNvSpPr>
            <a:spLocks xmlns:a="http://schemas.openxmlformats.org/drawingml/2006/main" noGrp="1"/>
          </p:cNvSpPr>
          <p:nvPr/>
        </p:nvSpPr>
        <p:spPr>
          <a:xfrm xmlns:a="http://schemas.openxmlformats.org/drawingml/2006/main">
            <a:off x="7334250" y="3048000"/>
            <a:ext cx="1476375" cy="447675"/>
          </a:xfrm>
          <a:prstGeom xmlns:a="http://schemas.openxmlformats.org/drawingml/2006/main" prst="roundRect">
            <a:avLst>
              <a:gd name="adj" fmla="val 14894"/>
            </a:avLst>
          </a:prstGeom>
          <a:solidFill xmlns:a="http://schemas.openxmlformats.org/drawingml/2006/main">
            <a:srgbClr val="173750"/>
          </a:solidFill>
          <a:ln xmlns:a="http://schemas.openxmlformats.org/drawingml/2006/main" w="9525">
            <a:solidFill>
              <a:srgbClr val="476377"/>
            </a:solidFill>
          </a:ln>
        </p:spPr>
        <p:txBody>
          <a:bodyPr xmlns:a="http://schemas.openxmlformats.org/drawingml/2006/main" lIns="95250" tIns="95250" rIns="95250" bIns="95250" anchor="ctr">
            <a:noAutofit/>
          </a:bodyPr>
          <a:lstStyle xmlns:a="http://schemas.openxmlformats.org/drawingml/2006/main">
            <a:defPPr algn="ctr">
              <a:defRPr sz="1350" b="1">
                <a:solidFill>
                  <a:srgbClr val="FFFFFF"/>
                </a:solidFill>
                <a:latin typeface="Avenir Next"/>
                <a:ea typeface="Avenir Next"/>
                <a:cs typeface="Avenir Next"/>
              </a:defRPr>
            </a:defPPr>
            <a:lvl1pPr algn="ctr">
              <a:defRPr sz="1350" b="1">
                <a:solidFill>
                  <a:srgbClr val="FFFFFF"/>
                </a:solidFill>
                <a:latin typeface="Avenir Next"/>
                <a:ea typeface="Avenir Next"/>
                <a:cs typeface="Avenir Next"/>
              </a:defRPr>
            </a:lvl1pPr>
            <a:lvl2pPr algn="ctr">
              <a:defRPr sz="1350" b="1">
                <a:solidFill>
                  <a:srgbClr val="FFFFFF"/>
                </a:solidFill>
                <a:latin typeface="Avenir Next"/>
                <a:ea typeface="Avenir Next"/>
                <a:cs typeface="Avenir Next"/>
              </a:defRPr>
            </a:lvl2pPr>
            <a:lvl3pPr algn="ctr">
              <a:defRPr sz="1350" b="1">
                <a:solidFill>
                  <a:srgbClr val="FFFFFF"/>
                </a:solidFill>
                <a:latin typeface="Avenir Next"/>
                <a:ea typeface="Avenir Next"/>
                <a:cs typeface="Avenir Next"/>
              </a:defRPr>
            </a:lvl3pPr>
            <a:lvl4pPr algn="ctr">
              <a:defRPr sz="1350" b="1">
                <a:solidFill>
                  <a:srgbClr val="FFFFFF"/>
                </a:solidFill>
                <a:latin typeface="Avenir Next"/>
                <a:ea typeface="Avenir Next"/>
                <a:cs typeface="Avenir Next"/>
              </a:defRPr>
            </a:lvl4pPr>
            <a:lvl5pPr algn="ctr">
              <a:defRPr sz="1350" b="1">
                <a:solidFill>
                  <a:srgbClr val="FFFFFF"/>
                </a:solidFill>
                <a:latin typeface="Avenir Next"/>
                <a:ea typeface="Avenir Next"/>
                <a:cs typeface="Avenir Next"/>
              </a:defRPr>
            </a:lvl5pPr>
            <a:lvl6pPr algn="ctr">
              <a:defRPr sz="1350" b="1">
                <a:solidFill>
                  <a:srgbClr val="FFFFFF"/>
                </a:solidFill>
                <a:latin typeface="Avenir Next"/>
                <a:ea typeface="Avenir Next"/>
                <a:cs typeface="Avenir Next"/>
              </a:defRPr>
            </a:lvl6pPr>
            <a:lvl7pPr algn="ctr">
              <a:defRPr sz="1350" b="1">
                <a:solidFill>
                  <a:srgbClr val="FFFFFF"/>
                </a:solidFill>
                <a:latin typeface="Avenir Next"/>
                <a:ea typeface="Avenir Next"/>
                <a:cs typeface="Avenir Next"/>
              </a:defRPr>
            </a:lvl7pPr>
            <a:lvl8pPr algn="ctr">
              <a:defRPr sz="1350" b="1">
                <a:solidFill>
                  <a:srgbClr val="FFFFFF"/>
                </a:solidFill>
                <a:latin typeface="Avenir Next"/>
                <a:ea typeface="Avenir Next"/>
                <a:cs typeface="Avenir Next"/>
              </a:defRPr>
            </a:lvl8pPr>
            <a:lvl9pPr algn="ctr">
              <a:defRPr sz="1350" b="1">
                <a:solidFill>
                  <a:srgbClr val="FFFFFF"/>
                </a:solidFill>
                <a:latin typeface="Avenir Next"/>
                <a:ea typeface="Avenir Next"/>
                <a:cs typeface="Avenir Next"/>
              </a:defRPr>
            </a:lvl9pPr>
          </a:lstStyle>
          <a:p xmlns:a="http://schemas.openxmlformats.org/drawingml/2006/main">
            <a:pPr algn="ctr">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Replace band</a:t>
            </a:r>
          </a:p>
        </p:txBody>
      </p:sp>
      <p:sp>
        <p:nvSpPr>
          <p:cNvPr id="18" name="No">
            <a:extLst xmlns:a="http://schemas.openxmlformats.org/drawingml/2006/main">
              <a:ext uri="{FF2B5EF4-FFF2-40B4-BE49-F238E27FC236}">
                <a16:creationId xmlns:a16="http://schemas.microsoft.com/office/drawing/2014/main" id="{CD2215EB-AD79-4117-AB71-1A9322EFBBE8}"/>
              </a:ext>
            </a:extLst>
          </p:cNvPr>
          <p:cNvSpPr>
            <a:spLocks xmlns:a="http://schemas.openxmlformats.org/drawingml/2006/main" noGrp="1"/>
          </p:cNvSpPr>
          <p:nvPr/>
        </p:nvSpPr>
        <p:spPr>
          <a:xfrm xmlns:a="http://schemas.openxmlformats.org/drawingml/2006/main">
            <a:off x="3400425" y="27432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EDD"/>
                </a:solidFill>
                <a:latin typeface="Avenir Next"/>
                <a:ea typeface="Avenir Next"/>
                <a:cs typeface="Avenir Next"/>
              </a:defRPr>
            </a:defPPr>
            <a:lvl1pPr algn="l">
              <a:defRPr sz="1125" b="0">
                <a:solidFill>
                  <a:srgbClr val="BDCEDD"/>
                </a:solidFill>
                <a:latin typeface="Avenir Next"/>
                <a:ea typeface="Avenir Next"/>
                <a:cs typeface="Avenir Next"/>
              </a:defRPr>
            </a:lvl1pPr>
            <a:lvl2pPr algn="l">
              <a:defRPr sz="1125" b="0">
                <a:solidFill>
                  <a:srgbClr val="BDCEDD"/>
                </a:solidFill>
                <a:latin typeface="Avenir Next"/>
                <a:ea typeface="Avenir Next"/>
                <a:cs typeface="Avenir Next"/>
              </a:defRPr>
            </a:lvl2pPr>
            <a:lvl3pPr algn="l">
              <a:defRPr sz="1125" b="0">
                <a:solidFill>
                  <a:srgbClr val="BDCEDD"/>
                </a:solidFill>
                <a:latin typeface="Avenir Next"/>
                <a:ea typeface="Avenir Next"/>
                <a:cs typeface="Avenir Next"/>
              </a:defRPr>
            </a:lvl3pPr>
            <a:lvl4pPr algn="l">
              <a:defRPr sz="1125" b="0">
                <a:solidFill>
                  <a:srgbClr val="BDCEDD"/>
                </a:solidFill>
                <a:latin typeface="Avenir Next"/>
                <a:ea typeface="Avenir Next"/>
                <a:cs typeface="Avenir Next"/>
              </a:defRPr>
            </a:lvl4pPr>
            <a:lvl5pPr algn="l">
              <a:defRPr sz="1125" b="0">
                <a:solidFill>
                  <a:srgbClr val="BDCEDD"/>
                </a:solidFill>
                <a:latin typeface="Avenir Next"/>
                <a:ea typeface="Avenir Next"/>
                <a:cs typeface="Avenir Next"/>
              </a:defRPr>
            </a:lvl5pPr>
            <a:lvl6pPr algn="l">
              <a:defRPr sz="1125" b="0">
                <a:solidFill>
                  <a:srgbClr val="BDCEDD"/>
                </a:solidFill>
                <a:latin typeface="Avenir Next"/>
                <a:ea typeface="Avenir Next"/>
                <a:cs typeface="Avenir Next"/>
              </a:defRPr>
            </a:lvl6pPr>
            <a:lvl7pPr algn="l">
              <a:defRPr sz="1125" b="0">
                <a:solidFill>
                  <a:srgbClr val="BDCEDD"/>
                </a:solidFill>
                <a:latin typeface="Avenir Next"/>
                <a:ea typeface="Avenir Next"/>
                <a:cs typeface="Avenir Next"/>
              </a:defRPr>
            </a:lvl7pPr>
            <a:lvl8pPr algn="l">
              <a:defRPr sz="1125" b="0">
                <a:solidFill>
                  <a:srgbClr val="BDCEDD"/>
                </a:solidFill>
                <a:latin typeface="Avenir Next"/>
                <a:ea typeface="Avenir Next"/>
                <a:cs typeface="Avenir Next"/>
              </a:defRPr>
            </a:lvl8pPr>
            <a:lvl9pPr algn="l">
              <a:defRPr sz="1125" b="0">
                <a:solidFill>
                  <a:srgbClr val="BDCEDD"/>
                </a:solidFill>
                <a:latin typeface="Avenir Next"/>
                <a:ea typeface="Avenir Next"/>
                <a:cs typeface="Avenir Next"/>
              </a:defRPr>
            </a:lvl9pPr>
          </a:lstStyle>
          <a:p xmlns:a="http://schemas.openxmlformats.org/drawingml/2006/main">
            <a:pPr algn="l">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No</a:t>
            </a:r>
          </a:p>
        </p:txBody>
      </p:sp>
      <p:sp>
        <p:nvSpPr>
          <p:cNvPr id="19" name="No">
            <a:extLst xmlns:a="http://schemas.openxmlformats.org/drawingml/2006/main">
              <a:ext uri="{FF2B5EF4-FFF2-40B4-BE49-F238E27FC236}">
                <a16:creationId xmlns:a16="http://schemas.microsoft.com/office/drawing/2014/main" id="{8A45D78A-CDE5-4316-B659-24FA1F6E6F5F}"/>
              </a:ext>
            </a:extLst>
          </p:cNvPr>
          <p:cNvSpPr>
            <a:spLocks xmlns:a="http://schemas.openxmlformats.org/drawingml/2006/main" noGrp="1"/>
          </p:cNvSpPr>
          <p:nvPr/>
        </p:nvSpPr>
        <p:spPr>
          <a:xfrm xmlns:a="http://schemas.openxmlformats.org/drawingml/2006/main">
            <a:off x="8134350" y="27432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EDD"/>
                </a:solidFill>
                <a:latin typeface="Avenir Next"/>
                <a:ea typeface="Avenir Next"/>
                <a:cs typeface="Avenir Next"/>
              </a:defRPr>
            </a:defPPr>
            <a:lvl1pPr algn="l">
              <a:defRPr sz="1125" b="0">
                <a:solidFill>
                  <a:srgbClr val="BDCEDD"/>
                </a:solidFill>
                <a:latin typeface="Avenir Next"/>
                <a:ea typeface="Avenir Next"/>
                <a:cs typeface="Avenir Next"/>
              </a:defRPr>
            </a:lvl1pPr>
            <a:lvl2pPr algn="l">
              <a:defRPr sz="1125" b="0">
                <a:solidFill>
                  <a:srgbClr val="BDCEDD"/>
                </a:solidFill>
                <a:latin typeface="Avenir Next"/>
                <a:ea typeface="Avenir Next"/>
                <a:cs typeface="Avenir Next"/>
              </a:defRPr>
            </a:lvl2pPr>
            <a:lvl3pPr algn="l">
              <a:defRPr sz="1125" b="0">
                <a:solidFill>
                  <a:srgbClr val="BDCEDD"/>
                </a:solidFill>
                <a:latin typeface="Avenir Next"/>
                <a:ea typeface="Avenir Next"/>
                <a:cs typeface="Avenir Next"/>
              </a:defRPr>
            </a:lvl3pPr>
            <a:lvl4pPr algn="l">
              <a:defRPr sz="1125" b="0">
                <a:solidFill>
                  <a:srgbClr val="BDCEDD"/>
                </a:solidFill>
                <a:latin typeface="Avenir Next"/>
                <a:ea typeface="Avenir Next"/>
                <a:cs typeface="Avenir Next"/>
              </a:defRPr>
            </a:lvl4pPr>
            <a:lvl5pPr algn="l">
              <a:defRPr sz="1125" b="0">
                <a:solidFill>
                  <a:srgbClr val="BDCEDD"/>
                </a:solidFill>
                <a:latin typeface="Avenir Next"/>
                <a:ea typeface="Avenir Next"/>
                <a:cs typeface="Avenir Next"/>
              </a:defRPr>
            </a:lvl5pPr>
            <a:lvl6pPr algn="l">
              <a:defRPr sz="1125" b="0">
                <a:solidFill>
                  <a:srgbClr val="BDCEDD"/>
                </a:solidFill>
                <a:latin typeface="Avenir Next"/>
                <a:ea typeface="Avenir Next"/>
                <a:cs typeface="Avenir Next"/>
              </a:defRPr>
            </a:lvl6pPr>
            <a:lvl7pPr algn="l">
              <a:defRPr sz="1125" b="0">
                <a:solidFill>
                  <a:srgbClr val="BDCEDD"/>
                </a:solidFill>
                <a:latin typeface="Avenir Next"/>
                <a:ea typeface="Avenir Next"/>
                <a:cs typeface="Avenir Next"/>
              </a:defRPr>
            </a:lvl7pPr>
            <a:lvl8pPr algn="l">
              <a:defRPr sz="1125" b="0">
                <a:solidFill>
                  <a:srgbClr val="BDCEDD"/>
                </a:solidFill>
                <a:latin typeface="Avenir Next"/>
                <a:ea typeface="Avenir Next"/>
                <a:cs typeface="Avenir Next"/>
              </a:defRPr>
            </a:lvl8pPr>
            <a:lvl9pPr algn="l">
              <a:defRPr sz="1125" b="0">
                <a:solidFill>
                  <a:srgbClr val="BDCEDD"/>
                </a:solidFill>
                <a:latin typeface="Avenir Next"/>
                <a:ea typeface="Avenir Next"/>
                <a:cs typeface="Avenir Next"/>
              </a:defRPr>
            </a:lvl9pPr>
          </a:lstStyle>
          <a:p xmlns:a="http://schemas.openxmlformats.org/drawingml/2006/main">
            <a:pPr algn="l">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No</a:t>
            </a:r>
          </a:p>
        </p:txBody>
      </p:sp>
      <p:sp>
        <p:nvSpPr>
          <p:cNvPr id="20" name="Yes">
            <a:extLst xmlns:a="http://schemas.openxmlformats.org/drawingml/2006/main">
              <a:ext uri="{FF2B5EF4-FFF2-40B4-BE49-F238E27FC236}">
                <a16:creationId xmlns:a16="http://schemas.microsoft.com/office/drawing/2014/main" id="{21E9BF10-D533-4099-B7A6-41AC789E5069}"/>
              </a:ext>
            </a:extLst>
          </p:cNvPr>
          <p:cNvSpPr>
            <a:spLocks xmlns:a="http://schemas.openxmlformats.org/drawingml/2006/main" noGrp="1"/>
          </p:cNvSpPr>
          <p:nvPr/>
        </p:nvSpPr>
        <p:spPr>
          <a:xfrm xmlns:a="http://schemas.openxmlformats.org/drawingml/2006/main">
            <a:off x="4143375" y="20383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Yes</a:t>
            </a:r>
          </a:p>
        </p:txBody>
      </p:sp>
      <p:sp>
        <p:nvSpPr>
          <p:cNvPr id="21" name="Yes">
            <a:extLst xmlns:a="http://schemas.openxmlformats.org/drawingml/2006/main">
              <a:ext uri="{FF2B5EF4-FFF2-40B4-BE49-F238E27FC236}">
                <a16:creationId xmlns:a16="http://schemas.microsoft.com/office/drawing/2014/main" id="{CA6BDA95-0668-464D-AA1A-E4B12C028B5A}"/>
              </a:ext>
            </a:extLst>
          </p:cNvPr>
          <p:cNvSpPr>
            <a:spLocks xmlns:a="http://schemas.openxmlformats.org/drawingml/2006/main" noGrp="1"/>
          </p:cNvSpPr>
          <p:nvPr/>
        </p:nvSpPr>
        <p:spPr>
          <a:xfrm xmlns:a="http://schemas.openxmlformats.org/drawingml/2006/main">
            <a:off x="8848725" y="20383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Yes</a:t>
            </a:r>
          </a:p>
        </p:txBody>
      </p:sp>
      <p:sp>
        <p:nvSpPr>
          <p:cNvPr id="22" name="">
            <a:extLst xmlns:a="http://schemas.openxmlformats.org/drawingml/2006/main">
              <a:ext uri="{FF2B5EF4-FFF2-40B4-BE49-F238E27FC236}">
                <a16:creationId xmlns:a16="http://schemas.microsoft.com/office/drawing/2014/main" id="{8A87E869-6039-4668-88DD-4CEAEA9958D8}"/>
              </a:ext>
            </a:extLst>
          </p:cNvPr>
          <p:cNvSpPr>
            <a:spLocks xmlns:a="http://schemas.openxmlformats.org/drawingml/2006/main" noGrp="1"/>
          </p:cNvSpPr>
          <p:nvPr/>
        </p:nvSpPr>
        <p:spPr>
          <a:xfrm xmlns:a="http://schemas.openxmlformats.org/drawingml/2006/main">
            <a:off x="514350" y="3790950"/>
            <a:ext cx="11163300" cy="0"/>
          </a:xfrm>
          <a:prstGeom xmlns:a="http://schemas.openxmlformats.org/drawingml/2006/main" prst="line">
            <a:avLst/>
          </a:prstGeom>
          <a:ln xmlns:a="http://schemas.openxmlformats.org/drawingml/2006/main" w="9525">
            <a:solidFill>
              <a:srgbClr val="385269"/>
            </a:solidFill>
          </a:ln>
        </p:spPr>
      </p:sp>
      <p:sp>
        <p:nvSpPr>
          <p:cNvPr id="23" name="Supplied calibration series">
            <a:extLst xmlns:a="http://schemas.openxmlformats.org/drawingml/2006/main">
              <a:ext uri="{FF2B5EF4-FFF2-40B4-BE49-F238E27FC236}">
                <a16:creationId xmlns:a16="http://schemas.microsoft.com/office/drawing/2014/main" id="{166EFF0B-79B9-4DD7-B630-9E87F36BE167}"/>
              </a:ext>
            </a:extLst>
          </p:cNvPr>
          <p:cNvSpPr>
            <a:spLocks xmlns:a="http://schemas.openxmlformats.org/drawingml/2006/main" noGrp="1"/>
          </p:cNvSpPr>
          <p:nvPr/>
        </p:nvSpPr>
        <p:spPr>
          <a:xfrm xmlns:a="http://schemas.openxmlformats.org/drawingml/2006/main">
            <a:off x="514350" y="40290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Supplied calibration series</a:t>
            </a:r>
          </a:p>
        </p:txBody>
      </p:sp>
      <p:sp>
        <p:nvSpPr>
          <p:cNvPr id="24" name="30 ppm × duration gives dose in ppm·h">
            <a:extLst xmlns:a="http://schemas.openxmlformats.org/drawingml/2006/main">
              <a:ext uri="{FF2B5EF4-FFF2-40B4-BE49-F238E27FC236}">
                <a16:creationId xmlns:a16="http://schemas.microsoft.com/office/drawing/2014/main" id="{6FB2F957-90F0-4420-B68F-F9EFAEA18726}"/>
              </a:ext>
            </a:extLst>
          </p:cNvPr>
          <p:cNvSpPr>
            <a:spLocks xmlns:a="http://schemas.openxmlformats.org/drawingml/2006/main" noGrp="1"/>
          </p:cNvSpPr>
          <p:nvPr/>
        </p:nvSpPr>
        <p:spPr>
          <a:xfrm xmlns:a="http://schemas.openxmlformats.org/drawingml/2006/main">
            <a:off x="523875" y="44291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EDD"/>
                </a:solidFill>
                <a:latin typeface="Avenir Next"/>
                <a:ea typeface="Avenir Next"/>
                <a:cs typeface="Avenir Next"/>
              </a:defRPr>
            </a:defPPr>
            <a:lvl1pPr algn="l">
              <a:defRPr sz="1350" b="0">
                <a:solidFill>
                  <a:srgbClr val="BDCEDD"/>
                </a:solidFill>
                <a:latin typeface="Avenir Next"/>
                <a:ea typeface="Avenir Next"/>
                <a:cs typeface="Avenir Next"/>
              </a:defRPr>
            </a:lvl1pPr>
            <a:lvl2pPr algn="l">
              <a:defRPr sz="1350" b="0">
                <a:solidFill>
                  <a:srgbClr val="BDCEDD"/>
                </a:solidFill>
                <a:latin typeface="Avenir Next"/>
                <a:ea typeface="Avenir Next"/>
                <a:cs typeface="Avenir Next"/>
              </a:defRPr>
            </a:lvl2pPr>
            <a:lvl3pPr algn="l">
              <a:defRPr sz="1350" b="0">
                <a:solidFill>
                  <a:srgbClr val="BDCEDD"/>
                </a:solidFill>
                <a:latin typeface="Avenir Next"/>
                <a:ea typeface="Avenir Next"/>
                <a:cs typeface="Avenir Next"/>
              </a:defRPr>
            </a:lvl3pPr>
            <a:lvl4pPr algn="l">
              <a:defRPr sz="1350" b="0">
                <a:solidFill>
                  <a:srgbClr val="BDCEDD"/>
                </a:solidFill>
                <a:latin typeface="Avenir Next"/>
                <a:ea typeface="Avenir Next"/>
                <a:cs typeface="Avenir Next"/>
              </a:defRPr>
            </a:lvl4pPr>
            <a:lvl5pPr algn="l">
              <a:defRPr sz="1350" b="0">
                <a:solidFill>
                  <a:srgbClr val="BDCEDD"/>
                </a:solidFill>
                <a:latin typeface="Avenir Next"/>
                <a:ea typeface="Avenir Next"/>
                <a:cs typeface="Avenir Next"/>
              </a:defRPr>
            </a:lvl5pPr>
            <a:lvl6pPr algn="l">
              <a:defRPr sz="1350" b="0">
                <a:solidFill>
                  <a:srgbClr val="BDCEDD"/>
                </a:solidFill>
                <a:latin typeface="Avenir Next"/>
                <a:ea typeface="Avenir Next"/>
                <a:cs typeface="Avenir Next"/>
              </a:defRPr>
            </a:lvl6pPr>
            <a:lvl7pPr algn="l">
              <a:defRPr sz="1350" b="0">
                <a:solidFill>
                  <a:srgbClr val="BDCEDD"/>
                </a:solidFill>
                <a:latin typeface="Avenir Next"/>
                <a:ea typeface="Avenir Next"/>
                <a:cs typeface="Avenir Next"/>
              </a:defRPr>
            </a:lvl7pPr>
            <a:lvl8pPr algn="l">
              <a:defRPr sz="1350" b="0">
                <a:solidFill>
                  <a:srgbClr val="BDCEDD"/>
                </a:solidFill>
                <a:latin typeface="Avenir Next"/>
                <a:ea typeface="Avenir Next"/>
                <a:cs typeface="Avenir Next"/>
              </a:defRPr>
            </a:lvl8pPr>
            <a:lvl9pPr algn="l">
              <a:defRPr sz="1350" b="0">
                <a:solidFill>
                  <a:srgbClr val="BDCEDD"/>
                </a:solidFill>
                <a:latin typeface="Avenir Next"/>
                <a:ea typeface="Avenir Next"/>
                <a:cs typeface="Avenir Next"/>
              </a:defRPr>
            </a:lvl9pPr>
          </a:lstStyle>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30 ppm × duration gives dose in ppm·h</a:t>
            </a:r>
          </a:p>
        </p:txBody>
      </p:sp>
      <p:graphicFrame>
        <p:nvGraphicFramePr>
          <p:cNvPr id="25" name="Chart">
            <a:extLst xmlns:a="http://schemas.openxmlformats.org/drawingml/2006/main">
              <a:ext uri="{FF2B5EF4-FFF2-40B4-BE49-F238E27FC236}">
                <a16:creationId xmlns:a16="http://schemas.microsoft.com/office/drawing/2014/main" id="{D2D3C588-8FC5-4033-8FA8-53BB88197DE6}"/>
              </a:ext>
            </a:extLst>
          </p:cNvPr>
          <p:cNvGraphicFramePr/>
          <p:nvPr/>
        </p:nvGraphicFramePr>
        <p:xfrm>
          <a:off xmlns:a="http://schemas.openxmlformats.org/drawingml/2006/main" x="419100" y="4838700"/>
          <a:ext xmlns:a="http://schemas.openxmlformats.org/drawingml/2006/main" cx="6019800" cy="1343025"/>
        </p:xfrm>
        <a:graphic xmlns:a="http://schemas.openxmlformats.org/drawingml/2006/main">
          <a:graphicData uri="http://schemas.openxmlformats.org/drawingml/2006/chart">
            <c:chart xmlns:r="http://schemas.openxmlformats.org/officeDocument/2006/relationships" xmlns:c="http://schemas.openxmlformats.org/drawingml/2006/chart" r:id="Rec0d34c033974a87"/>
          </a:graphicData>
        </a:graphic>
      </p:graphicFrame>
      <p:sp>
        <p:nvSpPr>
          <p:cNvPr id="26" name="What the record contains">
            <a:extLst xmlns:a="http://schemas.openxmlformats.org/drawingml/2006/main">
              <a:ext uri="{FF2B5EF4-FFF2-40B4-BE49-F238E27FC236}">
                <a16:creationId xmlns:a16="http://schemas.microsoft.com/office/drawing/2014/main" id="{3F6304FC-0A2E-4AB9-9036-C9A57A5F3DFD}"/>
              </a:ext>
            </a:extLst>
          </p:cNvPr>
          <p:cNvSpPr>
            <a:spLocks xmlns:a="http://schemas.openxmlformats.org/drawingml/2006/main" noGrp="1"/>
          </p:cNvSpPr>
          <p:nvPr/>
        </p:nvSpPr>
        <p:spPr>
          <a:xfrm xmlns:a="http://schemas.openxmlformats.org/drawingml/2006/main">
            <a:off x="6934200" y="40290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What the record contains</a:t>
            </a:r>
          </a:p>
        </p:txBody>
      </p:sp>
      <p:sp>
        <p:nvSpPr>
          <p:cNvPr id="27" name="Worker ID, date, shift duration, band ID, validity and provisional exp">
            <a:extLst xmlns:a="http://schemas.openxmlformats.org/drawingml/2006/main">
              <a:ext uri="{FF2B5EF4-FFF2-40B4-BE49-F238E27FC236}">
                <a16:creationId xmlns:a16="http://schemas.microsoft.com/office/drawing/2014/main" id="{E1E9967F-48DA-48A7-A1E3-CD93BF5CD84D}"/>
              </a:ext>
            </a:extLst>
          </p:cNvPr>
          <p:cNvSpPr>
            <a:spLocks xmlns:a="http://schemas.openxmlformats.org/drawingml/2006/main" noGrp="1"/>
          </p:cNvSpPr>
          <p:nvPr/>
        </p:nvSpPr>
        <p:spPr>
          <a:xfrm xmlns:a="http://schemas.openxmlformats.org/drawingml/2006/main">
            <a:off x="6943725" y="4476750"/>
            <a:ext cx="4724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venir Next"/>
                <a:ea typeface="Avenir Next"/>
                <a:cs typeface="Avenir Next"/>
              </a:defRPr>
            </a:defPPr>
            <a:lvl1pPr algn="l">
              <a:defRPr sz="1500" b="0">
                <a:solidFill>
                  <a:srgbClr val="FFFFFF"/>
                </a:solidFill>
                <a:latin typeface="Avenir Next"/>
                <a:ea typeface="Avenir Next"/>
                <a:cs typeface="Avenir Next"/>
              </a:defRPr>
            </a:lvl1pPr>
            <a:lvl2pPr algn="l">
              <a:defRPr sz="1500" b="0">
                <a:solidFill>
                  <a:srgbClr val="FFFFFF"/>
                </a:solidFill>
                <a:latin typeface="Avenir Next"/>
                <a:ea typeface="Avenir Next"/>
                <a:cs typeface="Avenir Next"/>
              </a:defRPr>
            </a:lvl2pPr>
            <a:lvl3pPr algn="l">
              <a:defRPr sz="1500" b="0">
                <a:solidFill>
                  <a:srgbClr val="FFFFFF"/>
                </a:solidFill>
                <a:latin typeface="Avenir Next"/>
                <a:ea typeface="Avenir Next"/>
                <a:cs typeface="Avenir Next"/>
              </a:defRPr>
            </a:lvl3pPr>
            <a:lvl4pPr algn="l">
              <a:defRPr sz="1500" b="0">
                <a:solidFill>
                  <a:srgbClr val="FFFFFF"/>
                </a:solidFill>
                <a:latin typeface="Avenir Next"/>
                <a:ea typeface="Avenir Next"/>
                <a:cs typeface="Avenir Next"/>
              </a:defRPr>
            </a:lvl4pPr>
            <a:lvl5pPr algn="l">
              <a:defRPr sz="1500" b="0">
                <a:solidFill>
                  <a:srgbClr val="FFFFFF"/>
                </a:solidFill>
                <a:latin typeface="Avenir Next"/>
                <a:ea typeface="Avenir Next"/>
                <a:cs typeface="Avenir Next"/>
              </a:defRPr>
            </a:lvl5pPr>
            <a:lvl6pPr algn="l">
              <a:defRPr sz="1500" b="0">
                <a:solidFill>
                  <a:srgbClr val="FFFFFF"/>
                </a:solidFill>
                <a:latin typeface="Avenir Next"/>
                <a:ea typeface="Avenir Next"/>
                <a:cs typeface="Avenir Next"/>
              </a:defRPr>
            </a:lvl6pPr>
            <a:lvl7pPr algn="l">
              <a:defRPr sz="1500" b="0">
                <a:solidFill>
                  <a:srgbClr val="FFFFFF"/>
                </a:solidFill>
                <a:latin typeface="Avenir Next"/>
                <a:ea typeface="Avenir Next"/>
                <a:cs typeface="Avenir Next"/>
              </a:defRPr>
            </a:lvl7pPr>
            <a:lvl8pPr algn="l">
              <a:defRPr sz="1500" b="0">
                <a:solidFill>
                  <a:srgbClr val="FFFFFF"/>
                </a:solidFill>
                <a:latin typeface="Avenir Next"/>
                <a:ea typeface="Avenir Next"/>
                <a:cs typeface="Avenir Next"/>
              </a:defRPr>
            </a:lvl8pPr>
            <a:lvl9pPr algn="l">
              <a:defRPr sz="1500" b="0">
                <a:solidFill>
                  <a:srgbClr val="FFFFFF"/>
                </a:solidFill>
                <a:latin typeface="Avenir Next"/>
                <a:ea typeface="Avenir Next"/>
                <a:cs typeface="Avenir Next"/>
              </a:defRPr>
            </a:lvl9pPr>
          </a:lstStyle>
          <a:p xmlns:a="http://schemas.openxmlformats.org/drawingml/2006/main">
            <a:pPr algn="l">
              <a:defRPr sz="1500" b="0">
                <a:solidFill>
                  <a:srgbClr val="FFFFFF"/>
                </a:solidFill>
                <a:latin typeface="Avenir Next"/>
                <a:ea typeface="Avenir Next"/>
                <a:cs typeface="Avenir Next"/>
              </a:defRPr>
            </a:pPr>
            <a:r>
              <a:rPr sz="1500" b="0">
                <a:solidFill>
                  <a:srgbClr val="FFFFFF"/>
                </a:solidFill>
                <a:latin typeface="Avenir Next"/>
                <a:ea typeface="Avenir Next"/>
                <a:cs typeface="Avenir Next"/>
              </a:rPr>
              <a:t>Worker ID, date, shift duration, band ID, validity</a:t>
            </a:r>
          </a:p>
          <a:p xmlns:a="http://schemas.openxmlformats.org/drawingml/2006/main">
            <a:pPr algn="l">
              <a:defRPr sz="1500" b="0">
                <a:solidFill>
                  <a:srgbClr val="FFFFFF"/>
                </a:solidFill>
                <a:latin typeface="Avenir Next"/>
                <a:ea typeface="Avenir Next"/>
                <a:cs typeface="Avenir Next"/>
              </a:defRPr>
            </a:pPr>
            <a:r>
              <a:rPr sz="1500" b="0">
                <a:solidFill>
                  <a:srgbClr val="FFFFFF"/>
                </a:solidFill>
                <a:latin typeface="Avenir Next"/>
                <a:ea typeface="Avenir Next"/>
                <a:cs typeface="Avenir Next"/>
              </a:rPr>
              <a:t>and provisional exposure estimate.</a:t>
            </a:r>
          </a:p>
        </p:txBody>
      </p:sp>
      <p:sp>
        <p:nvSpPr>
          <p:cNvPr id="28" name="Current: deterministic colour rules, local history, English, Hindi, Bh">
            <a:extLst xmlns:a="http://schemas.openxmlformats.org/drawingml/2006/main">
              <a:ext uri="{FF2B5EF4-FFF2-40B4-BE49-F238E27FC236}">
                <a16:creationId xmlns:a16="http://schemas.microsoft.com/office/drawing/2014/main" id="{EF4AEE92-DEB4-418A-B61D-4B669D78771C}"/>
              </a:ext>
            </a:extLst>
          </p:cNvPr>
          <p:cNvSpPr>
            <a:spLocks xmlns:a="http://schemas.openxmlformats.org/drawingml/2006/main" noGrp="1"/>
          </p:cNvSpPr>
          <p:nvPr/>
        </p:nvSpPr>
        <p:spPr>
          <a:xfrm xmlns:a="http://schemas.openxmlformats.org/drawingml/2006/main">
            <a:off x="6943725" y="5172075"/>
            <a:ext cx="4724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DCEDD"/>
                </a:solidFill>
                <a:latin typeface="Avenir Next"/>
                <a:ea typeface="Avenir Next"/>
                <a:cs typeface="Avenir Next"/>
              </a:defRPr>
            </a:defPPr>
            <a:lvl1pPr algn="l">
              <a:defRPr sz="1425" b="0">
                <a:solidFill>
                  <a:srgbClr val="BDCEDD"/>
                </a:solidFill>
                <a:latin typeface="Avenir Next"/>
                <a:ea typeface="Avenir Next"/>
                <a:cs typeface="Avenir Next"/>
              </a:defRPr>
            </a:lvl1pPr>
            <a:lvl2pPr algn="l">
              <a:defRPr sz="1425" b="0">
                <a:solidFill>
                  <a:srgbClr val="BDCEDD"/>
                </a:solidFill>
                <a:latin typeface="Avenir Next"/>
                <a:ea typeface="Avenir Next"/>
                <a:cs typeface="Avenir Next"/>
              </a:defRPr>
            </a:lvl2pPr>
            <a:lvl3pPr algn="l">
              <a:defRPr sz="1425" b="0">
                <a:solidFill>
                  <a:srgbClr val="BDCEDD"/>
                </a:solidFill>
                <a:latin typeface="Avenir Next"/>
                <a:ea typeface="Avenir Next"/>
                <a:cs typeface="Avenir Next"/>
              </a:defRPr>
            </a:lvl3pPr>
            <a:lvl4pPr algn="l">
              <a:defRPr sz="1425" b="0">
                <a:solidFill>
                  <a:srgbClr val="BDCEDD"/>
                </a:solidFill>
                <a:latin typeface="Avenir Next"/>
                <a:ea typeface="Avenir Next"/>
                <a:cs typeface="Avenir Next"/>
              </a:defRPr>
            </a:lvl4pPr>
            <a:lvl5pPr algn="l">
              <a:defRPr sz="1425" b="0">
                <a:solidFill>
                  <a:srgbClr val="BDCEDD"/>
                </a:solidFill>
                <a:latin typeface="Avenir Next"/>
                <a:ea typeface="Avenir Next"/>
                <a:cs typeface="Avenir Next"/>
              </a:defRPr>
            </a:lvl5pPr>
            <a:lvl6pPr algn="l">
              <a:defRPr sz="1425" b="0">
                <a:solidFill>
                  <a:srgbClr val="BDCEDD"/>
                </a:solidFill>
                <a:latin typeface="Avenir Next"/>
                <a:ea typeface="Avenir Next"/>
                <a:cs typeface="Avenir Next"/>
              </a:defRPr>
            </a:lvl6pPr>
            <a:lvl7pPr algn="l">
              <a:defRPr sz="1425" b="0">
                <a:solidFill>
                  <a:srgbClr val="BDCEDD"/>
                </a:solidFill>
                <a:latin typeface="Avenir Next"/>
                <a:ea typeface="Avenir Next"/>
                <a:cs typeface="Avenir Next"/>
              </a:defRPr>
            </a:lvl7pPr>
            <a:lvl8pPr algn="l">
              <a:defRPr sz="1425" b="0">
                <a:solidFill>
                  <a:srgbClr val="BDCEDD"/>
                </a:solidFill>
                <a:latin typeface="Avenir Next"/>
                <a:ea typeface="Avenir Next"/>
                <a:cs typeface="Avenir Next"/>
              </a:defRPr>
            </a:lvl8pPr>
            <a:lvl9pPr algn="l">
              <a:defRPr sz="1425" b="0">
                <a:solidFill>
                  <a:srgbClr val="BDCEDD"/>
                </a:solidFill>
                <a:latin typeface="Avenir Next"/>
                <a:ea typeface="Avenir Next"/>
                <a:cs typeface="Avenir Next"/>
              </a:defRPr>
            </a:lvl9pPr>
          </a:lstStyle>
          <a:p xmlns:a="http://schemas.openxmlformats.org/drawingml/2006/main">
            <a:pPr algn="l">
              <a:defRPr sz="1425" b="0">
                <a:solidFill>
                  <a:srgbClr val="BDCEDD"/>
                </a:solidFill>
                <a:latin typeface="Avenir Next"/>
                <a:ea typeface="Avenir Next"/>
                <a:cs typeface="Avenir Next"/>
              </a:defRPr>
            </a:pPr>
            <a:r>
              <a:rPr sz="1425" b="0">
                <a:solidFill>
                  <a:srgbClr val="BDCEDD"/>
                </a:solidFill>
                <a:latin typeface="Avenir Next"/>
                <a:ea typeface="Avenir Next"/>
                <a:cs typeface="Avenir Next"/>
              </a:rPr>
              <a:t>Current: deterministic colour rules, local history,</a:t>
            </a:r>
          </a:p>
          <a:p xmlns:a="http://schemas.openxmlformats.org/drawingml/2006/main">
            <a:pPr algn="l">
              <a:defRPr sz="1425" b="0">
                <a:solidFill>
                  <a:srgbClr val="BDCEDD"/>
                </a:solidFill>
                <a:latin typeface="Avenir Next"/>
                <a:ea typeface="Avenir Next"/>
                <a:cs typeface="Avenir Next"/>
              </a:defRPr>
            </a:pPr>
            <a:r>
              <a:rPr sz="1425" b="0">
                <a:solidFill>
                  <a:srgbClr val="BDCEDD"/>
                </a:solidFill>
                <a:latin typeface="Avenir Next"/>
                <a:ea typeface="Avenir Next"/>
                <a:cs typeface="Avenir Next"/>
              </a:rPr>
              <a:t>English, Hindi, Bhojpuri, Marathi and Kannada.</a:t>
            </a:r>
          </a:p>
        </p:txBody>
      </p:sp>
      <p:sp>
        <p:nvSpPr>
          <p:cNvPr id="29" name="Planned: perspective correction and a validated ML estimator. Sarvam s">
            <a:extLst xmlns:a="http://schemas.openxmlformats.org/drawingml/2006/main">
              <a:ext uri="{FF2B5EF4-FFF2-40B4-BE49-F238E27FC236}">
                <a16:creationId xmlns:a16="http://schemas.microsoft.com/office/drawing/2014/main" id="{885C38FA-E521-43DD-8584-D2E69AB55DE4}"/>
              </a:ext>
            </a:extLst>
          </p:cNvPr>
          <p:cNvSpPr>
            <a:spLocks xmlns:a="http://schemas.openxmlformats.org/drawingml/2006/main" noGrp="1"/>
          </p:cNvSpPr>
          <p:nvPr/>
        </p:nvSpPr>
        <p:spPr>
          <a:xfrm xmlns:a="http://schemas.openxmlformats.org/drawingml/2006/main">
            <a:off x="6943725" y="5781675"/>
            <a:ext cx="4724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EDD"/>
                </a:solidFill>
                <a:latin typeface="Avenir Next"/>
                <a:ea typeface="Avenir Next"/>
                <a:cs typeface="Avenir Next"/>
              </a:defRPr>
            </a:defPPr>
            <a:lvl1pPr algn="l">
              <a:defRPr sz="1350" b="0">
                <a:solidFill>
                  <a:srgbClr val="BDCEDD"/>
                </a:solidFill>
                <a:latin typeface="Avenir Next"/>
                <a:ea typeface="Avenir Next"/>
                <a:cs typeface="Avenir Next"/>
              </a:defRPr>
            </a:lvl1pPr>
            <a:lvl2pPr algn="l">
              <a:defRPr sz="1350" b="0">
                <a:solidFill>
                  <a:srgbClr val="BDCEDD"/>
                </a:solidFill>
                <a:latin typeface="Avenir Next"/>
                <a:ea typeface="Avenir Next"/>
                <a:cs typeface="Avenir Next"/>
              </a:defRPr>
            </a:lvl2pPr>
            <a:lvl3pPr algn="l">
              <a:defRPr sz="1350" b="0">
                <a:solidFill>
                  <a:srgbClr val="BDCEDD"/>
                </a:solidFill>
                <a:latin typeface="Avenir Next"/>
                <a:ea typeface="Avenir Next"/>
                <a:cs typeface="Avenir Next"/>
              </a:defRPr>
            </a:lvl3pPr>
            <a:lvl4pPr algn="l">
              <a:defRPr sz="1350" b="0">
                <a:solidFill>
                  <a:srgbClr val="BDCEDD"/>
                </a:solidFill>
                <a:latin typeface="Avenir Next"/>
                <a:ea typeface="Avenir Next"/>
                <a:cs typeface="Avenir Next"/>
              </a:defRPr>
            </a:lvl4pPr>
            <a:lvl5pPr algn="l">
              <a:defRPr sz="1350" b="0">
                <a:solidFill>
                  <a:srgbClr val="BDCEDD"/>
                </a:solidFill>
                <a:latin typeface="Avenir Next"/>
                <a:ea typeface="Avenir Next"/>
                <a:cs typeface="Avenir Next"/>
              </a:defRPr>
            </a:lvl5pPr>
            <a:lvl6pPr algn="l">
              <a:defRPr sz="1350" b="0">
                <a:solidFill>
                  <a:srgbClr val="BDCEDD"/>
                </a:solidFill>
                <a:latin typeface="Avenir Next"/>
                <a:ea typeface="Avenir Next"/>
                <a:cs typeface="Avenir Next"/>
              </a:defRPr>
            </a:lvl6pPr>
            <a:lvl7pPr algn="l">
              <a:defRPr sz="1350" b="0">
                <a:solidFill>
                  <a:srgbClr val="BDCEDD"/>
                </a:solidFill>
                <a:latin typeface="Avenir Next"/>
                <a:ea typeface="Avenir Next"/>
                <a:cs typeface="Avenir Next"/>
              </a:defRPr>
            </a:lvl7pPr>
            <a:lvl8pPr algn="l">
              <a:defRPr sz="1350" b="0">
                <a:solidFill>
                  <a:srgbClr val="BDCEDD"/>
                </a:solidFill>
                <a:latin typeface="Avenir Next"/>
                <a:ea typeface="Avenir Next"/>
                <a:cs typeface="Avenir Next"/>
              </a:defRPr>
            </a:lvl8pPr>
            <a:lvl9pPr algn="l">
              <a:defRPr sz="1350" b="0">
                <a:solidFill>
                  <a:srgbClr val="BDCEDD"/>
                </a:solidFill>
                <a:latin typeface="Avenir Next"/>
                <a:ea typeface="Avenir Next"/>
                <a:cs typeface="Avenir Next"/>
              </a:defRPr>
            </a:lvl9pPr>
          </a:lstStyle>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Planned: perspective correction and a validated</a:t>
            </a:r>
          </a:p>
          <a:p xmlns:a="http://schemas.openxmlformats.org/drawingml/2006/main">
            <a:pPr algn="l">
              <a:defRPr sz="1350" b="0">
                <a:solidFill>
                  <a:srgbClr val="BDCEDD"/>
                </a:solidFill>
                <a:latin typeface="Avenir Next"/>
                <a:ea typeface="Avenir Next"/>
                <a:cs typeface="Avenir Next"/>
              </a:defRPr>
            </a:pPr>
            <a:r>
              <a:rPr sz="1350" b="0">
                <a:solidFill>
                  <a:srgbClr val="BDCEDD"/>
                </a:solidFill>
                <a:latin typeface="Avenir Next"/>
                <a:ea typeface="Avenir Next"/>
                <a:cs typeface="Avenir Next"/>
              </a:rPr>
              <a:t>ML estimator. Sarvam supports translation fallback.</a:t>
            </a:r>
          </a:p>
        </p:txBody>
      </p:sp>
      <p:sp>
        <p:nvSpPr>
          <p:cNvPr id="30" name="Range: 0-15 ppm·h, one series, no replicates. Intermediate colours ove">
            <a:extLst xmlns:a="http://schemas.openxmlformats.org/drawingml/2006/main">
              <a:ext uri="{FF2B5EF4-FFF2-40B4-BE49-F238E27FC236}">
                <a16:creationId xmlns:a16="http://schemas.microsoft.com/office/drawing/2014/main" id="{DB6828CA-8418-4348-9225-B13529C94296}"/>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BDCEDD"/>
                </a:solidFill>
                <a:latin typeface="Avenir Next"/>
                <a:ea typeface="Avenir Next"/>
                <a:cs typeface="Avenir Next"/>
              </a:defRPr>
            </a:defPPr>
            <a:lvl1pPr algn="l">
              <a:defRPr sz="960" b="0">
                <a:solidFill>
                  <a:srgbClr val="BDCEDD"/>
                </a:solidFill>
                <a:latin typeface="Avenir Next"/>
                <a:ea typeface="Avenir Next"/>
                <a:cs typeface="Avenir Next"/>
              </a:defRPr>
            </a:lvl1pPr>
            <a:lvl2pPr algn="l">
              <a:defRPr sz="960" b="0">
                <a:solidFill>
                  <a:srgbClr val="BDCEDD"/>
                </a:solidFill>
                <a:latin typeface="Avenir Next"/>
                <a:ea typeface="Avenir Next"/>
                <a:cs typeface="Avenir Next"/>
              </a:defRPr>
            </a:lvl2pPr>
            <a:lvl3pPr algn="l">
              <a:defRPr sz="960" b="0">
                <a:solidFill>
                  <a:srgbClr val="BDCEDD"/>
                </a:solidFill>
                <a:latin typeface="Avenir Next"/>
                <a:ea typeface="Avenir Next"/>
                <a:cs typeface="Avenir Next"/>
              </a:defRPr>
            </a:lvl3pPr>
            <a:lvl4pPr algn="l">
              <a:defRPr sz="960" b="0">
                <a:solidFill>
                  <a:srgbClr val="BDCEDD"/>
                </a:solidFill>
                <a:latin typeface="Avenir Next"/>
                <a:ea typeface="Avenir Next"/>
                <a:cs typeface="Avenir Next"/>
              </a:defRPr>
            </a:lvl4pPr>
            <a:lvl5pPr algn="l">
              <a:defRPr sz="960" b="0">
                <a:solidFill>
                  <a:srgbClr val="BDCEDD"/>
                </a:solidFill>
                <a:latin typeface="Avenir Next"/>
                <a:ea typeface="Avenir Next"/>
                <a:cs typeface="Avenir Next"/>
              </a:defRPr>
            </a:lvl5pPr>
            <a:lvl6pPr algn="l">
              <a:defRPr sz="960" b="0">
                <a:solidFill>
                  <a:srgbClr val="BDCEDD"/>
                </a:solidFill>
                <a:latin typeface="Avenir Next"/>
                <a:ea typeface="Avenir Next"/>
                <a:cs typeface="Avenir Next"/>
              </a:defRPr>
            </a:lvl6pPr>
            <a:lvl7pPr algn="l">
              <a:defRPr sz="960" b="0">
                <a:solidFill>
                  <a:srgbClr val="BDCEDD"/>
                </a:solidFill>
                <a:latin typeface="Avenir Next"/>
                <a:ea typeface="Avenir Next"/>
                <a:cs typeface="Avenir Next"/>
              </a:defRPr>
            </a:lvl7pPr>
            <a:lvl8pPr algn="l">
              <a:defRPr sz="960" b="0">
                <a:solidFill>
                  <a:srgbClr val="BDCEDD"/>
                </a:solidFill>
                <a:latin typeface="Avenir Next"/>
                <a:ea typeface="Avenir Next"/>
                <a:cs typeface="Avenir Next"/>
              </a:defRPr>
            </a:lvl8pPr>
            <a:lvl9pPr algn="l">
              <a:defRPr sz="960" b="0">
                <a:solidFill>
                  <a:srgbClr val="BDCEDD"/>
                </a:solidFill>
                <a:latin typeface="Avenir Next"/>
                <a:ea typeface="Avenir Next"/>
                <a:cs typeface="Avenir Next"/>
              </a:defRPr>
            </a:lvl9pPr>
          </a:lstStyle>
          <a:p xmlns:a="http://schemas.openxmlformats.org/drawingml/2006/main">
            <a:pPr algn="l">
              <a:defRPr sz="960" b="0">
                <a:solidFill>
                  <a:srgbClr val="BDCEDD"/>
                </a:solidFill>
                <a:latin typeface="Avenir Next"/>
                <a:ea typeface="Avenir Next"/>
                <a:cs typeface="Avenir Next"/>
              </a:defRPr>
            </a:pPr>
            <a:r>
              <a:rPr sz="960" b="0">
                <a:solidFill>
                  <a:srgbClr val="BDCEDD"/>
                </a:solidFill>
                <a:latin typeface="Avenir Next"/>
                <a:ea typeface="Avenir Next"/>
                <a:cs typeface="Avenir Next"/>
              </a:rPr>
              <a:t>Range: 0-15 ppm·h, one series, no replicates. Intermediate colours overlap. Dose/TWA and expiry remain provisional.</a:t>
            </a:r>
          </a:p>
        </p:txBody>
      </p:sp>
      <p:sp>
        <p:nvSpPr>
          <p:cNvPr id="31" name="03">
            <a:extLst xmlns:a="http://schemas.openxmlformats.org/drawingml/2006/main">
              <a:ext uri="{FF2B5EF4-FFF2-40B4-BE49-F238E27FC236}">
                <a16:creationId xmlns:a16="http://schemas.microsoft.com/office/drawing/2014/main" id="{51B40F18-5402-4278-98A2-27FEBD42947E}"/>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BDCEDD"/>
                </a:solidFill>
                <a:latin typeface="Avenir Next"/>
                <a:ea typeface="Avenir Next"/>
                <a:cs typeface="Avenir Next"/>
              </a:defRPr>
            </a:defPPr>
            <a:lvl1pPr algn="r">
              <a:defRPr sz="1050" b="0">
                <a:solidFill>
                  <a:srgbClr val="BDCEDD"/>
                </a:solidFill>
                <a:latin typeface="Avenir Next"/>
                <a:ea typeface="Avenir Next"/>
                <a:cs typeface="Avenir Next"/>
              </a:defRPr>
            </a:lvl1pPr>
            <a:lvl2pPr algn="r">
              <a:defRPr sz="1050" b="0">
                <a:solidFill>
                  <a:srgbClr val="BDCEDD"/>
                </a:solidFill>
                <a:latin typeface="Avenir Next"/>
                <a:ea typeface="Avenir Next"/>
                <a:cs typeface="Avenir Next"/>
              </a:defRPr>
            </a:lvl2pPr>
            <a:lvl3pPr algn="r">
              <a:defRPr sz="1050" b="0">
                <a:solidFill>
                  <a:srgbClr val="BDCEDD"/>
                </a:solidFill>
                <a:latin typeface="Avenir Next"/>
                <a:ea typeface="Avenir Next"/>
                <a:cs typeface="Avenir Next"/>
              </a:defRPr>
            </a:lvl3pPr>
            <a:lvl4pPr algn="r">
              <a:defRPr sz="1050" b="0">
                <a:solidFill>
                  <a:srgbClr val="BDCEDD"/>
                </a:solidFill>
                <a:latin typeface="Avenir Next"/>
                <a:ea typeface="Avenir Next"/>
                <a:cs typeface="Avenir Next"/>
              </a:defRPr>
            </a:lvl4pPr>
            <a:lvl5pPr algn="r">
              <a:defRPr sz="1050" b="0">
                <a:solidFill>
                  <a:srgbClr val="BDCEDD"/>
                </a:solidFill>
                <a:latin typeface="Avenir Next"/>
                <a:ea typeface="Avenir Next"/>
                <a:cs typeface="Avenir Next"/>
              </a:defRPr>
            </a:lvl5pPr>
            <a:lvl6pPr algn="r">
              <a:defRPr sz="1050" b="0">
                <a:solidFill>
                  <a:srgbClr val="BDCEDD"/>
                </a:solidFill>
                <a:latin typeface="Avenir Next"/>
                <a:ea typeface="Avenir Next"/>
                <a:cs typeface="Avenir Next"/>
              </a:defRPr>
            </a:lvl6pPr>
            <a:lvl7pPr algn="r">
              <a:defRPr sz="1050" b="0">
                <a:solidFill>
                  <a:srgbClr val="BDCEDD"/>
                </a:solidFill>
                <a:latin typeface="Avenir Next"/>
                <a:ea typeface="Avenir Next"/>
                <a:cs typeface="Avenir Next"/>
              </a:defRPr>
            </a:lvl7pPr>
            <a:lvl8pPr algn="r">
              <a:defRPr sz="1050" b="0">
                <a:solidFill>
                  <a:srgbClr val="BDCEDD"/>
                </a:solidFill>
                <a:latin typeface="Avenir Next"/>
                <a:ea typeface="Avenir Next"/>
                <a:cs typeface="Avenir Next"/>
              </a:defRPr>
            </a:lvl8pPr>
            <a:lvl9pPr algn="r">
              <a:defRPr sz="1050" b="0">
                <a:solidFill>
                  <a:srgbClr val="BDCEDD"/>
                </a:solidFill>
                <a:latin typeface="Avenir Next"/>
                <a:ea typeface="Avenir Next"/>
                <a:cs typeface="Avenir Next"/>
              </a:defRPr>
            </a:lvl9pPr>
          </a:lstStyle>
          <a:p xmlns:a="http://schemas.openxmlformats.org/drawingml/2006/main">
            <a:pPr algn="r">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03</a:t>
            </a:r>
          </a:p>
        </p:txBody>
      </p:sp>
    </p:spTree>
    <p:extLst>
      <p:ext uri="{BB962C8B-B14F-4D97-AF65-F5344CB8AC3E}">
        <p14:creationId xmlns:p14="http://schemas.microsoft.com/office/powerpoint/2010/main" val="356904240"/>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Economics and industrial adoption">
            <a:extLst xmlns:a="http://schemas.openxmlformats.org/drawingml/2006/main">
              <a:ext uri="{FF2B5EF4-FFF2-40B4-BE49-F238E27FC236}">
                <a16:creationId xmlns:a16="http://schemas.microsoft.com/office/drawing/2014/main" id="{2C8CAC56-DBD4-4999-9E85-4CC988FF631A}"/>
              </a:ext>
            </a:extLst>
          </p:cNvPr>
          <p:cNvSpPr>
            <a:spLocks xmlns:a="http://schemas.openxmlformats.org/drawingml/2006/main" noGrp="1"/>
          </p:cNvSpPr>
          <p:nvPr/>
        </p:nvSpPr>
        <p:spPr>
          <a:xfrm xmlns:a="http://schemas.openxmlformats.org/drawingml/2006/main">
            <a:off x="514350" y="409575"/>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B43"/>
                </a:solidFill>
                <a:latin typeface="Avenir Next"/>
                <a:ea typeface="Avenir Next"/>
                <a:cs typeface="Avenir Next"/>
              </a:defRPr>
            </a:defPPr>
            <a:lvl1pPr algn="l">
              <a:defRPr sz="3225" b="1">
                <a:solidFill>
                  <a:srgbClr val="142B43"/>
                </a:solidFill>
                <a:latin typeface="Avenir Next"/>
                <a:ea typeface="Avenir Next"/>
                <a:cs typeface="Avenir Next"/>
              </a:defRPr>
            </a:lvl1pPr>
            <a:lvl2pPr algn="l">
              <a:defRPr sz="3225" b="1">
                <a:solidFill>
                  <a:srgbClr val="142B43"/>
                </a:solidFill>
                <a:latin typeface="Avenir Next"/>
                <a:ea typeface="Avenir Next"/>
                <a:cs typeface="Avenir Next"/>
              </a:defRPr>
            </a:lvl2pPr>
            <a:lvl3pPr algn="l">
              <a:defRPr sz="3225" b="1">
                <a:solidFill>
                  <a:srgbClr val="142B43"/>
                </a:solidFill>
                <a:latin typeface="Avenir Next"/>
                <a:ea typeface="Avenir Next"/>
                <a:cs typeface="Avenir Next"/>
              </a:defRPr>
            </a:lvl3pPr>
            <a:lvl4pPr algn="l">
              <a:defRPr sz="3225" b="1">
                <a:solidFill>
                  <a:srgbClr val="142B43"/>
                </a:solidFill>
                <a:latin typeface="Avenir Next"/>
                <a:ea typeface="Avenir Next"/>
                <a:cs typeface="Avenir Next"/>
              </a:defRPr>
            </a:lvl4pPr>
            <a:lvl5pPr algn="l">
              <a:defRPr sz="3225" b="1">
                <a:solidFill>
                  <a:srgbClr val="142B43"/>
                </a:solidFill>
                <a:latin typeface="Avenir Next"/>
                <a:ea typeface="Avenir Next"/>
                <a:cs typeface="Avenir Next"/>
              </a:defRPr>
            </a:lvl5pPr>
            <a:lvl6pPr algn="l">
              <a:defRPr sz="3225" b="1">
                <a:solidFill>
                  <a:srgbClr val="142B43"/>
                </a:solidFill>
                <a:latin typeface="Avenir Next"/>
                <a:ea typeface="Avenir Next"/>
                <a:cs typeface="Avenir Next"/>
              </a:defRPr>
            </a:lvl6pPr>
            <a:lvl7pPr algn="l">
              <a:defRPr sz="3225" b="1">
                <a:solidFill>
                  <a:srgbClr val="142B43"/>
                </a:solidFill>
                <a:latin typeface="Avenir Next"/>
                <a:ea typeface="Avenir Next"/>
                <a:cs typeface="Avenir Next"/>
              </a:defRPr>
            </a:lvl7pPr>
            <a:lvl8pPr algn="l">
              <a:defRPr sz="3225" b="1">
                <a:solidFill>
                  <a:srgbClr val="142B43"/>
                </a:solidFill>
                <a:latin typeface="Avenir Next"/>
                <a:ea typeface="Avenir Next"/>
                <a:cs typeface="Avenir Next"/>
              </a:defRPr>
            </a:lvl8pPr>
            <a:lvl9pPr algn="l">
              <a:defRPr sz="3225" b="1">
                <a:solidFill>
                  <a:srgbClr val="142B43"/>
                </a:solidFill>
                <a:latin typeface="Avenir Next"/>
                <a:ea typeface="Avenir Next"/>
                <a:cs typeface="Avenir Next"/>
              </a:defRPr>
            </a:lvl9pPr>
          </a:lstStyle>
          <a:p xmlns:a="http://schemas.openxmlformats.org/drawingml/2006/main">
            <a:pPr algn="l">
              <a:defRPr sz="3225" b="1">
                <a:solidFill>
                  <a:srgbClr val="142B43"/>
                </a:solidFill>
                <a:latin typeface="Avenir Next"/>
                <a:ea typeface="Avenir Next"/>
                <a:cs typeface="Avenir Next"/>
              </a:defRPr>
            </a:pPr>
            <a:r>
              <a:rPr sz="3225" b="1">
                <a:solidFill>
                  <a:srgbClr val="142B43"/>
                </a:solidFill>
                <a:latin typeface="Avenir Next"/>
                <a:ea typeface="Avenir Next"/>
                <a:cs typeface="Avenir Next"/>
              </a:rPr>
              <a:t>Economics and industrial adoption</a:t>
            </a:r>
          </a:p>
        </p:txBody>
      </p:sp>
      <p:sp>
        <p:nvSpPr>
          <p:cNvPr id="2" name="B2B buyers: industrial sites and EHS teams. Commercial components supp">
            <a:extLst xmlns:a="http://schemas.openxmlformats.org/drawingml/2006/main">
              <a:ext uri="{FF2B5EF4-FFF2-40B4-BE49-F238E27FC236}">
                <a16:creationId xmlns:a16="http://schemas.microsoft.com/office/drawing/2014/main" id="{18A0D103-2D1F-4960-82D1-BA85B977C2C6}"/>
              </a:ext>
            </a:extLst>
          </p:cNvPr>
          <p:cNvSpPr>
            <a:spLocks xmlns:a="http://schemas.openxmlformats.org/drawingml/2006/main" noGrp="1"/>
          </p:cNvSpPr>
          <p:nvPr/>
        </p:nvSpPr>
        <p:spPr>
          <a:xfrm xmlns:a="http://schemas.openxmlformats.org/drawingml/2006/main">
            <a:off x="533400" y="107632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B2B buyers: industrial sites and EHS teams. Commercial components support local bulk procurement.</a:t>
            </a:r>
          </a:p>
        </p:txBody>
      </p:sp>
      <p:graphicFrame>
        <p:nvGraphicFramePr>
          <p:cNvPr id="3" name="">
            <a:extLst xmlns:a="http://schemas.openxmlformats.org/drawingml/2006/main">
              <a:ext uri="{FF2B5EF4-FFF2-40B4-BE49-F238E27FC236}">
                <a16:creationId xmlns:a16="http://schemas.microsoft.com/office/drawing/2014/main" id="{6E5AEEA1-E45C-4E7F-9082-34E6B31F3430}"/>
              </a:ext>
            </a:extLst>
          </p:cNvPr>
          <p:cNvGraphicFramePr/>
          <p:nvPr/>
        </p:nvGraphicFramePr>
        <p:xfrm>
          <a:off xmlns:a="http://schemas.openxmlformats.org/drawingml/2006/main" x="514350" y="1724025"/>
          <a:ext xmlns:a="http://schemas.openxmlformats.org/drawingml/2006/main" cx="3343275" cy="2428875"/>
        </p:xfrm>
        <a:graphic xmlns:a="http://schemas.openxmlformats.org/drawingml/2006/main">
          <a:graphicData uri="http://schemas.openxmlformats.org/drawingml/2006/table">
            <a:tbl>
              <a:tblPr/>
              <a:tblGrid>
                <a:gridCol w="2438400"/>
                <a:gridCol w="904875"/>
              </a:tblGrid>
              <a:tr h="346982">
                <a:tc>
                  <a:txBody>
                    <a:bodyPr lIns="85725" tIns="38100" rIns="85725" bIns="38100"/>
                    <a:lstStyle/>
                    <a:p>
                      <a:pPr algn="l"/>
                      <a:r>
                        <a:rPr sz="1425" b="1">
                          <a:solidFill>
                            <a:srgbClr val="142B43"/>
                          </a:solidFill>
                          <a:latin typeface="Avenir Next"/>
                          <a:ea typeface="Avenir Next"/>
                          <a:cs typeface="Avenir Next"/>
                        </a:rPr>
                        <a:t>Starter band</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r"/>
                      <a:r>
                        <a:rPr sz="1425" b="1">
                          <a:solidFill>
                            <a:srgbClr val="142B43"/>
                          </a:solidFill>
                          <a:latin typeface="Avenir Next"/>
                          <a:ea typeface="Avenir Next"/>
                          <a:cs typeface="Avenir Next"/>
                        </a:rPr>
                        <a:t>Cost</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346982">
                <a:tc>
                  <a:txBody>
                    <a:bodyPr lIns="85725" tIns="38100" rIns="85725" bIns="38100"/>
                    <a:lstStyle/>
                    <a:p>
                      <a:pPr algn="l"/>
                      <a:r>
                        <a:rPr sz="1425" b="0">
                          <a:solidFill>
                            <a:srgbClr val="142B43"/>
                          </a:solidFill>
                          <a:latin typeface="Avenir Next"/>
                          <a:ea typeface="Avenir Next"/>
                          <a:cs typeface="Avenir Next"/>
                        </a:rPr>
                        <a:t>Body + fastener</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₹8</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Reference + expiry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₹4</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Assembly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₹3</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Packaging + QC</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₹3</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Distribution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₹2</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46982">
                <a:tc>
                  <a:txBody>
                    <a:bodyPr lIns="85725" tIns="38100" rIns="85725" bIns="38100"/>
                    <a:lstStyle/>
                    <a:p>
                      <a:pPr algn="l"/>
                      <a:r>
                        <a:rPr sz="1425" b="0">
                          <a:solidFill>
                            <a:srgbClr val="142B43"/>
                          </a:solidFill>
                          <a:latin typeface="Avenir Next"/>
                          <a:ea typeface="Avenir Next"/>
                          <a:cs typeface="Avenir Next"/>
                        </a:rPr>
                        <a:t>TOTAL</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₹20</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B34E324D-E214-486E-A6B3-4CAE1BE31CD2}"/>
              </a:ext>
            </a:extLst>
          </p:cNvPr>
          <p:cNvGraphicFramePr/>
          <p:nvPr/>
        </p:nvGraphicFramePr>
        <p:xfrm>
          <a:off xmlns:a="http://schemas.openxmlformats.org/drawingml/2006/main" x="4095750" y="1724025"/>
          <a:ext xmlns:a="http://schemas.openxmlformats.org/drawingml/2006/main" cx="3343275" cy="2428875"/>
        </p:xfrm>
        <a:graphic xmlns:a="http://schemas.openxmlformats.org/drawingml/2006/main">
          <a:graphicData uri="http://schemas.openxmlformats.org/drawingml/2006/table">
            <a:tbl>
              <a:tblPr/>
              <a:tblGrid>
                <a:gridCol w="2438400"/>
                <a:gridCol w="904875"/>
              </a:tblGrid>
              <a:tr h="404813">
                <a:tc>
                  <a:txBody>
                    <a:bodyPr lIns="85725" tIns="38100" rIns="85725" bIns="38100"/>
                    <a:lstStyle/>
                    <a:p>
                      <a:pPr algn="l"/>
                      <a:r>
                        <a:rPr sz="1425" b="1">
                          <a:solidFill>
                            <a:srgbClr val="142B43"/>
                          </a:solidFill>
                          <a:latin typeface="Avenir Next"/>
                          <a:ea typeface="Avenir Next"/>
                          <a:cs typeface="Avenir Next"/>
                        </a:rPr>
                        <a:t>Shift strip</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r"/>
                      <a:r>
                        <a:rPr sz="1425" b="1">
                          <a:solidFill>
                            <a:srgbClr val="142B43"/>
                          </a:solidFill>
                          <a:latin typeface="Avenir Next"/>
                          <a:ea typeface="Avenir Next"/>
                          <a:cs typeface="Avenir Next"/>
                        </a:rPr>
                        <a:t>Cost</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404813">
                <a:tc>
                  <a:txBody>
                    <a:bodyPr lIns="85725" tIns="38100" rIns="85725" bIns="38100"/>
                    <a:lstStyle/>
                    <a:p>
                      <a:pPr algn="l"/>
                      <a:r>
                        <a:rPr sz="1425" b="0">
                          <a:solidFill>
                            <a:srgbClr val="142B43"/>
                          </a:solidFill>
                          <a:latin typeface="Avenir Next"/>
                          <a:ea typeface="Avenir Next"/>
                          <a:cs typeface="Avenir Next"/>
                        </a:rPr>
                        <a:t>Tyvek substrate</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₹0.25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CuSO₄ chemistry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₹0.25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Reference + print</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₹0.15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Cutting + QC</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₹0.35</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404813">
                <a:tc>
                  <a:txBody>
                    <a:bodyPr lIns="85725" tIns="38100" rIns="85725" bIns="38100"/>
                    <a:lstStyle/>
                    <a:p>
                      <a:pPr algn="l"/>
                      <a:r>
                        <a:rPr sz="1425" b="0">
                          <a:solidFill>
                            <a:srgbClr val="142B43"/>
                          </a:solidFill>
                          <a:latin typeface="Avenir Next"/>
                          <a:ea typeface="Avenir Next"/>
                          <a:cs typeface="Avenir Next"/>
                        </a:rPr>
                        <a:t>TOTAL</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r"/>
                      <a:r>
                        <a:rPr sz="1425" b="0">
                          <a:solidFill>
                            <a:srgbClr val="142B43"/>
                          </a:solidFill>
                          <a:latin typeface="Avenir Next"/>
                          <a:ea typeface="Avenir Next"/>
                          <a:cs typeface="Avenir Next"/>
                        </a:rPr>
                        <a:t>₹1.00</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5" name="100 workers">
            <a:extLst xmlns:a="http://schemas.openxmlformats.org/drawingml/2006/main">
              <a:ext uri="{FF2B5EF4-FFF2-40B4-BE49-F238E27FC236}">
                <a16:creationId xmlns:a16="http://schemas.microsoft.com/office/drawing/2014/main" id="{BF4B455A-ED84-4854-80B9-B3CD7DF703C7}"/>
              </a:ext>
            </a:extLst>
          </p:cNvPr>
          <p:cNvSpPr>
            <a:spLocks xmlns:a="http://schemas.openxmlformats.org/drawingml/2006/main" noGrp="1"/>
          </p:cNvSpPr>
          <p:nvPr/>
        </p:nvSpPr>
        <p:spPr>
          <a:xfrm xmlns:a="http://schemas.openxmlformats.org/drawingml/2006/main">
            <a:off x="7886700" y="1676400"/>
            <a:ext cx="379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363DA"/>
                </a:solidFill>
                <a:latin typeface="Avenir Next"/>
                <a:ea typeface="Avenir Next"/>
                <a:cs typeface="Avenir Next"/>
              </a:defRPr>
            </a:defPPr>
            <a:lvl1pPr algn="l">
              <a:defRPr sz="2100" b="1">
                <a:solidFill>
                  <a:srgbClr val="2363DA"/>
                </a:solidFill>
                <a:latin typeface="Avenir Next"/>
                <a:ea typeface="Avenir Next"/>
                <a:cs typeface="Avenir Next"/>
              </a:defRPr>
            </a:lvl1pPr>
            <a:lvl2pPr algn="l">
              <a:defRPr sz="2100" b="1">
                <a:solidFill>
                  <a:srgbClr val="2363DA"/>
                </a:solidFill>
                <a:latin typeface="Avenir Next"/>
                <a:ea typeface="Avenir Next"/>
                <a:cs typeface="Avenir Next"/>
              </a:defRPr>
            </a:lvl2pPr>
            <a:lvl3pPr algn="l">
              <a:defRPr sz="2100" b="1">
                <a:solidFill>
                  <a:srgbClr val="2363DA"/>
                </a:solidFill>
                <a:latin typeface="Avenir Next"/>
                <a:ea typeface="Avenir Next"/>
                <a:cs typeface="Avenir Next"/>
              </a:defRPr>
            </a:lvl3pPr>
            <a:lvl4pPr algn="l">
              <a:defRPr sz="2100" b="1">
                <a:solidFill>
                  <a:srgbClr val="2363DA"/>
                </a:solidFill>
                <a:latin typeface="Avenir Next"/>
                <a:ea typeface="Avenir Next"/>
                <a:cs typeface="Avenir Next"/>
              </a:defRPr>
            </a:lvl4pPr>
            <a:lvl5pPr algn="l">
              <a:defRPr sz="2100" b="1">
                <a:solidFill>
                  <a:srgbClr val="2363DA"/>
                </a:solidFill>
                <a:latin typeface="Avenir Next"/>
                <a:ea typeface="Avenir Next"/>
                <a:cs typeface="Avenir Next"/>
              </a:defRPr>
            </a:lvl5pPr>
            <a:lvl6pPr algn="l">
              <a:defRPr sz="2100" b="1">
                <a:solidFill>
                  <a:srgbClr val="2363DA"/>
                </a:solidFill>
                <a:latin typeface="Avenir Next"/>
                <a:ea typeface="Avenir Next"/>
                <a:cs typeface="Avenir Next"/>
              </a:defRPr>
            </a:lvl6pPr>
            <a:lvl7pPr algn="l">
              <a:defRPr sz="2100" b="1">
                <a:solidFill>
                  <a:srgbClr val="2363DA"/>
                </a:solidFill>
                <a:latin typeface="Avenir Next"/>
                <a:ea typeface="Avenir Next"/>
                <a:cs typeface="Avenir Next"/>
              </a:defRPr>
            </a:lvl7pPr>
            <a:lvl8pPr algn="l">
              <a:defRPr sz="2100" b="1">
                <a:solidFill>
                  <a:srgbClr val="2363DA"/>
                </a:solidFill>
                <a:latin typeface="Avenir Next"/>
                <a:ea typeface="Avenir Next"/>
                <a:cs typeface="Avenir Next"/>
              </a:defRPr>
            </a:lvl8pPr>
            <a:lvl9pPr algn="l">
              <a:defRPr sz="2100" b="1">
                <a:solidFill>
                  <a:srgbClr val="2363DA"/>
                </a:solidFill>
                <a:latin typeface="Avenir Next"/>
                <a:ea typeface="Avenir Next"/>
                <a:cs typeface="Avenir Next"/>
              </a:defRPr>
            </a:lvl9pPr>
          </a:lstStyle>
          <a:p xmlns:a="http://schemas.openxmlformats.org/drawingml/2006/main">
            <a:pPr algn="l">
              <a:defRPr sz="2100" b="1">
                <a:solidFill>
                  <a:srgbClr val="2363DA"/>
                </a:solidFill>
                <a:latin typeface="Avenir Next"/>
                <a:ea typeface="Avenir Next"/>
                <a:cs typeface="Avenir Next"/>
              </a:defRPr>
            </a:pPr>
            <a:r>
              <a:rPr sz="2100" b="1">
                <a:solidFill>
                  <a:srgbClr val="2363DA"/>
                </a:solidFill>
                <a:latin typeface="Avenir Next"/>
                <a:ea typeface="Avenir Next"/>
                <a:cs typeface="Avenir Next"/>
              </a:rPr>
              <a:t>100 workers</a:t>
            </a:r>
          </a:p>
        </p:txBody>
      </p:sp>
      <p:sp>
        <p:nvSpPr>
          <p:cNvPr id="6" name="₹2,000 setup">
            <a:extLst xmlns:a="http://schemas.openxmlformats.org/drawingml/2006/main">
              <a:ext uri="{FF2B5EF4-FFF2-40B4-BE49-F238E27FC236}">
                <a16:creationId xmlns:a16="http://schemas.microsoft.com/office/drawing/2014/main" id="{842040EB-5E4C-4A2A-8370-587255651FA8}"/>
              </a:ext>
            </a:extLst>
          </p:cNvPr>
          <p:cNvSpPr>
            <a:spLocks xmlns:a="http://schemas.openxmlformats.org/drawingml/2006/main" noGrp="1"/>
          </p:cNvSpPr>
          <p:nvPr/>
        </p:nvSpPr>
        <p:spPr>
          <a:xfrm xmlns:a="http://schemas.openxmlformats.org/drawingml/2006/main">
            <a:off x="7886700" y="22479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42B43"/>
                </a:solidFill>
                <a:latin typeface="Avenir Next"/>
                <a:ea typeface="Avenir Next"/>
                <a:cs typeface="Avenir Next"/>
              </a:defRPr>
            </a:defPPr>
            <a:lvl1pPr algn="l">
              <a:defRPr sz="2775" b="1">
                <a:solidFill>
                  <a:srgbClr val="142B43"/>
                </a:solidFill>
                <a:latin typeface="Avenir Next"/>
                <a:ea typeface="Avenir Next"/>
                <a:cs typeface="Avenir Next"/>
              </a:defRPr>
            </a:lvl1pPr>
            <a:lvl2pPr algn="l">
              <a:defRPr sz="2775" b="1">
                <a:solidFill>
                  <a:srgbClr val="142B43"/>
                </a:solidFill>
                <a:latin typeface="Avenir Next"/>
                <a:ea typeface="Avenir Next"/>
                <a:cs typeface="Avenir Next"/>
              </a:defRPr>
            </a:lvl2pPr>
            <a:lvl3pPr algn="l">
              <a:defRPr sz="2775" b="1">
                <a:solidFill>
                  <a:srgbClr val="142B43"/>
                </a:solidFill>
                <a:latin typeface="Avenir Next"/>
                <a:ea typeface="Avenir Next"/>
                <a:cs typeface="Avenir Next"/>
              </a:defRPr>
            </a:lvl3pPr>
            <a:lvl4pPr algn="l">
              <a:defRPr sz="2775" b="1">
                <a:solidFill>
                  <a:srgbClr val="142B43"/>
                </a:solidFill>
                <a:latin typeface="Avenir Next"/>
                <a:ea typeface="Avenir Next"/>
                <a:cs typeface="Avenir Next"/>
              </a:defRPr>
            </a:lvl4pPr>
            <a:lvl5pPr algn="l">
              <a:defRPr sz="2775" b="1">
                <a:solidFill>
                  <a:srgbClr val="142B43"/>
                </a:solidFill>
                <a:latin typeface="Avenir Next"/>
                <a:ea typeface="Avenir Next"/>
                <a:cs typeface="Avenir Next"/>
              </a:defRPr>
            </a:lvl5pPr>
            <a:lvl6pPr algn="l">
              <a:defRPr sz="2775" b="1">
                <a:solidFill>
                  <a:srgbClr val="142B43"/>
                </a:solidFill>
                <a:latin typeface="Avenir Next"/>
                <a:ea typeface="Avenir Next"/>
                <a:cs typeface="Avenir Next"/>
              </a:defRPr>
            </a:lvl6pPr>
            <a:lvl7pPr algn="l">
              <a:defRPr sz="2775" b="1">
                <a:solidFill>
                  <a:srgbClr val="142B43"/>
                </a:solidFill>
                <a:latin typeface="Avenir Next"/>
                <a:ea typeface="Avenir Next"/>
                <a:cs typeface="Avenir Next"/>
              </a:defRPr>
            </a:lvl7pPr>
            <a:lvl8pPr algn="l">
              <a:defRPr sz="2775" b="1">
                <a:solidFill>
                  <a:srgbClr val="142B43"/>
                </a:solidFill>
                <a:latin typeface="Avenir Next"/>
                <a:ea typeface="Avenir Next"/>
                <a:cs typeface="Avenir Next"/>
              </a:defRPr>
            </a:lvl8pPr>
            <a:lvl9pPr algn="l">
              <a:defRPr sz="2775" b="1">
                <a:solidFill>
                  <a:srgbClr val="142B43"/>
                </a:solidFill>
                <a:latin typeface="Avenir Next"/>
                <a:ea typeface="Avenir Next"/>
                <a:cs typeface="Avenir Next"/>
              </a:defRPr>
            </a:lvl9pPr>
          </a:lstStyle>
          <a:p xmlns:a="http://schemas.openxmlformats.org/drawingml/2006/main">
            <a:pPr algn="l">
              <a:defRPr sz="2775" b="1">
                <a:solidFill>
                  <a:srgbClr val="142B43"/>
                </a:solidFill>
                <a:latin typeface="Avenir Next"/>
                <a:ea typeface="Avenir Next"/>
                <a:cs typeface="Avenir Next"/>
              </a:defRPr>
            </a:pPr>
            <a:r>
              <a:rPr sz="2775" b="1">
                <a:solidFill>
                  <a:srgbClr val="142B43"/>
                </a:solidFill>
                <a:latin typeface="Avenir Next"/>
                <a:ea typeface="Avenir Next"/>
                <a:cs typeface="Avenir Next"/>
              </a:rPr>
              <a:t>₹2,000 setup</a:t>
            </a:r>
          </a:p>
        </p:txBody>
      </p:sp>
      <p:sp>
        <p:nvSpPr>
          <p:cNvPr id="7" name="+ ₹2,600/month">
            <a:extLst xmlns:a="http://schemas.openxmlformats.org/drawingml/2006/main">
              <a:ext uri="{FF2B5EF4-FFF2-40B4-BE49-F238E27FC236}">
                <a16:creationId xmlns:a16="http://schemas.microsoft.com/office/drawing/2014/main" id="{E761FBD3-AAA1-4320-8F55-4C7A07E02129}"/>
              </a:ext>
            </a:extLst>
          </p:cNvPr>
          <p:cNvSpPr>
            <a:spLocks xmlns:a="http://schemas.openxmlformats.org/drawingml/2006/main" noGrp="1"/>
          </p:cNvSpPr>
          <p:nvPr/>
        </p:nvSpPr>
        <p:spPr>
          <a:xfrm xmlns:a="http://schemas.openxmlformats.org/drawingml/2006/main">
            <a:off x="7886700" y="287655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B43"/>
                </a:solidFill>
                <a:latin typeface="Avenir Next"/>
                <a:ea typeface="Avenir Next"/>
                <a:cs typeface="Avenir Next"/>
              </a:defRPr>
            </a:defPPr>
            <a:lvl1pPr algn="l">
              <a:defRPr sz="2550" b="1">
                <a:solidFill>
                  <a:srgbClr val="142B43"/>
                </a:solidFill>
                <a:latin typeface="Avenir Next"/>
                <a:ea typeface="Avenir Next"/>
                <a:cs typeface="Avenir Next"/>
              </a:defRPr>
            </a:lvl1pPr>
            <a:lvl2pPr algn="l">
              <a:defRPr sz="2550" b="1">
                <a:solidFill>
                  <a:srgbClr val="142B43"/>
                </a:solidFill>
                <a:latin typeface="Avenir Next"/>
                <a:ea typeface="Avenir Next"/>
                <a:cs typeface="Avenir Next"/>
              </a:defRPr>
            </a:lvl2pPr>
            <a:lvl3pPr algn="l">
              <a:defRPr sz="2550" b="1">
                <a:solidFill>
                  <a:srgbClr val="142B43"/>
                </a:solidFill>
                <a:latin typeface="Avenir Next"/>
                <a:ea typeface="Avenir Next"/>
                <a:cs typeface="Avenir Next"/>
              </a:defRPr>
            </a:lvl3pPr>
            <a:lvl4pPr algn="l">
              <a:defRPr sz="2550" b="1">
                <a:solidFill>
                  <a:srgbClr val="142B43"/>
                </a:solidFill>
                <a:latin typeface="Avenir Next"/>
                <a:ea typeface="Avenir Next"/>
                <a:cs typeface="Avenir Next"/>
              </a:defRPr>
            </a:lvl4pPr>
            <a:lvl5pPr algn="l">
              <a:defRPr sz="2550" b="1">
                <a:solidFill>
                  <a:srgbClr val="142B43"/>
                </a:solidFill>
                <a:latin typeface="Avenir Next"/>
                <a:ea typeface="Avenir Next"/>
                <a:cs typeface="Avenir Next"/>
              </a:defRPr>
            </a:lvl5pPr>
            <a:lvl6pPr algn="l">
              <a:defRPr sz="2550" b="1">
                <a:solidFill>
                  <a:srgbClr val="142B43"/>
                </a:solidFill>
                <a:latin typeface="Avenir Next"/>
                <a:ea typeface="Avenir Next"/>
                <a:cs typeface="Avenir Next"/>
              </a:defRPr>
            </a:lvl6pPr>
            <a:lvl7pPr algn="l">
              <a:defRPr sz="2550" b="1">
                <a:solidFill>
                  <a:srgbClr val="142B43"/>
                </a:solidFill>
                <a:latin typeface="Avenir Next"/>
                <a:ea typeface="Avenir Next"/>
                <a:cs typeface="Avenir Next"/>
              </a:defRPr>
            </a:lvl7pPr>
            <a:lvl8pPr algn="l">
              <a:defRPr sz="2550" b="1">
                <a:solidFill>
                  <a:srgbClr val="142B43"/>
                </a:solidFill>
                <a:latin typeface="Avenir Next"/>
                <a:ea typeface="Avenir Next"/>
                <a:cs typeface="Avenir Next"/>
              </a:defRPr>
            </a:lvl8pPr>
            <a:lvl9pPr algn="l">
              <a:defRPr sz="2550" b="1">
                <a:solidFill>
                  <a:srgbClr val="142B43"/>
                </a:solidFill>
                <a:latin typeface="Avenir Next"/>
                <a:ea typeface="Avenir Next"/>
                <a:cs typeface="Avenir Next"/>
              </a:defRPr>
            </a:lvl9pPr>
          </a:lstStyle>
          <a:p xmlns:a="http://schemas.openxmlformats.org/drawingml/2006/main">
            <a:pPr algn="l">
              <a:defRPr sz="2550" b="1">
                <a:solidFill>
                  <a:srgbClr val="142B43"/>
                </a:solidFill>
                <a:latin typeface="Avenir Next"/>
                <a:ea typeface="Avenir Next"/>
                <a:cs typeface="Avenir Next"/>
              </a:defRPr>
            </a:pPr>
            <a:r>
              <a:rPr sz="2550" b="1">
                <a:solidFill>
                  <a:srgbClr val="142B43"/>
                </a:solidFill>
                <a:latin typeface="Avenir Next"/>
                <a:ea typeface="Avenir Next"/>
                <a:cs typeface="Avenir Next"/>
              </a:rPr>
              <a:t>+ ₹2,600/month</a:t>
            </a:r>
          </a:p>
        </p:txBody>
      </p:sp>
      <p:sp>
        <p:nvSpPr>
          <p:cNvPr id="8" name="100 × ₹20 starter bands 100 × 26 shifts × ₹1 strips">
            <a:extLst xmlns:a="http://schemas.openxmlformats.org/drawingml/2006/main">
              <a:ext uri="{FF2B5EF4-FFF2-40B4-BE49-F238E27FC236}">
                <a16:creationId xmlns:a16="http://schemas.microsoft.com/office/drawing/2014/main" id="{2234DE1F-AEDF-4C4A-A78B-074EA5D3841A}"/>
              </a:ext>
            </a:extLst>
          </p:cNvPr>
          <p:cNvSpPr>
            <a:spLocks xmlns:a="http://schemas.openxmlformats.org/drawingml/2006/main" noGrp="1"/>
          </p:cNvSpPr>
          <p:nvPr/>
        </p:nvSpPr>
        <p:spPr>
          <a:xfrm xmlns:a="http://schemas.openxmlformats.org/drawingml/2006/main">
            <a:off x="7905750" y="3533775"/>
            <a:ext cx="3771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100 × ₹20 starter bands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100 × 26 shifts × ₹1 strips</a:t>
            </a:r>
          </a:p>
        </p:txBody>
      </p:sp>
      <p:sp>
        <p:nvSpPr>
          <p:cNvPr id="9" name="Reusable format">
            <a:extLst xmlns:a="http://schemas.openxmlformats.org/drawingml/2006/main">
              <a:ext uri="{FF2B5EF4-FFF2-40B4-BE49-F238E27FC236}">
                <a16:creationId xmlns:a16="http://schemas.microsoft.com/office/drawing/2014/main" id="{BD943668-4C8F-4356-94AE-E176297726A9}"/>
              </a:ext>
            </a:extLst>
          </p:cNvPr>
          <p:cNvSpPr>
            <a:spLocks xmlns:a="http://schemas.openxmlformats.org/drawingml/2006/main" noGrp="1"/>
          </p:cNvSpPr>
          <p:nvPr/>
        </p:nvSpPr>
        <p:spPr>
          <a:xfrm xmlns:a="http://schemas.openxmlformats.org/drawingml/2006/main">
            <a:off x="514350" y="429577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363DA"/>
                </a:solidFill>
                <a:latin typeface="Avenir Next"/>
                <a:ea typeface="Avenir Next"/>
                <a:cs typeface="Avenir Next"/>
              </a:defRPr>
            </a:defPPr>
            <a:lvl1pPr algn="l">
              <a:defRPr sz="1650" b="1">
                <a:solidFill>
                  <a:srgbClr val="2363DA"/>
                </a:solidFill>
                <a:latin typeface="Avenir Next"/>
                <a:ea typeface="Avenir Next"/>
                <a:cs typeface="Avenir Next"/>
              </a:defRPr>
            </a:lvl1pPr>
            <a:lvl2pPr algn="l">
              <a:defRPr sz="1650" b="1">
                <a:solidFill>
                  <a:srgbClr val="2363DA"/>
                </a:solidFill>
                <a:latin typeface="Avenir Next"/>
                <a:ea typeface="Avenir Next"/>
                <a:cs typeface="Avenir Next"/>
              </a:defRPr>
            </a:lvl2pPr>
            <a:lvl3pPr algn="l">
              <a:defRPr sz="1650" b="1">
                <a:solidFill>
                  <a:srgbClr val="2363DA"/>
                </a:solidFill>
                <a:latin typeface="Avenir Next"/>
                <a:ea typeface="Avenir Next"/>
                <a:cs typeface="Avenir Next"/>
              </a:defRPr>
            </a:lvl3pPr>
            <a:lvl4pPr algn="l">
              <a:defRPr sz="1650" b="1">
                <a:solidFill>
                  <a:srgbClr val="2363DA"/>
                </a:solidFill>
                <a:latin typeface="Avenir Next"/>
                <a:ea typeface="Avenir Next"/>
                <a:cs typeface="Avenir Next"/>
              </a:defRPr>
            </a:lvl4pPr>
            <a:lvl5pPr algn="l">
              <a:defRPr sz="1650" b="1">
                <a:solidFill>
                  <a:srgbClr val="2363DA"/>
                </a:solidFill>
                <a:latin typeface="Avenir Next"/>
                <a:ea typeface="Avenir Next"/>
                <a:cs typeface="Avenir Next"/>
              </a:defRPr>
            </a:lvl5pPr>
            <a:lvl6pPr algn="l">
              <a:defRPr sz="1650" b="1">
                <a:solidFill>
                  <a:srgbClr val="2363DA"/>
                </a:solidFill>
                <a:latin typeface="Avenir Next"/>
                <a:ea typeface="Avenir Next"/>
                <a:cs typeface="Avenir Next"/>
              </a:defRPr>
            </a:lvl6pPr>
            <a:lvl7pPr algn="l">
              <a:defRPr sz="1650" b="1">
                <a:solidFill>
                  <a:srgbClr val="2363DA"/>
                </a:solidFill>
                <a:latin typeface="Avenir Next"/>
                <a:ea typeface="Avenir Next"/>
                <a:cs typeface="Avenir Next"/>
              </a:defRPr>
            </a:lvl7pPr>
            <a:lvl8pPr algn="l">
              <a:defRPr sz="1650" b="1">
                <a:solidFill>
                  <a:srgbClr val="2363DA"/>
                </a:solidFill>
                <a:latin typeface="Avenir Next"/>
                <a:ea typeface="Avenir Next"/>
                <a:cs typeface="Avenir Next"/>
              </a:defRPr>
            </a:lvl8pPr>
            <a:lvl9pPr algn="l">
              <a:defRPr sz="1650" b="1">
                <a:solidFill>
                  <a:srgbClr val="2363DA"/>
                </a:solidFill>
                <a:latin typeface="Avenir Next"/>
                <a:ea typeface="Avenir Next"/>
                <a:cs typeface="Avenir Next"/>
              </a:defRPr>
            </a:lvl9pPr>
          </a:lstStyle>
          <a:p xmlns:a="http://schemas.openxmlformats.org/drawingml/2006/main">
            <a:pPr algn="l">
              <a:defRPr sz="1650" b="1">
                <a:solidFill>
                  <a:srgbClr val="2363DA"/>
                </a:solidFill>
                <a:latin typeface="Avenir Next"/>
                <a:ea typeface="Avenir Next"/>
                <a:cs typeface="Avenir Next"/>
              </a:defRPr>
            </a:pPr>
            <a:r>
              <a:rPr sz="1650" b="1">
                <a:solidFill>
                  <a:srgbClr val="2363DA"/>
                </a:solidFill>
                <a:latin typeface="Avenir Next"/>
                <a:ea typeface="Avenir Next"/>
                <a:cs typeface="Avenir Next"/>
              </a:rPr>
              <a:t>Reusable format</a:t>
            </a:r>
          </a:p>
        </p:txBody>
      </p:sp>
      <p:sp>
        <p:nvSpPr>
          <p:cNvPr id="10" name="Durable body for demanding sites. Replace only the sensing strip each ">
            <a:extLst xmlns:a="http://schemas.openxmlformats.org/drawingml/2006/main">
              <a:ext uri="{FF2B5EF4-FFF2-40B4-BE49-F238E27FC236}">
                <a16:creationId xmlns:a16="http://schemas.microsoft.com/office/drawing/2014/main" id="{D139EB13-8F40-4A55-93A8-6B0530C17AB7}"/>
              </a:ext>
            </a:extLst>
          </p:cNvPr>
          <p:cNvSpPr>
            <a:spLocks xmlns:a="http://schemas.openxmlformats.org/drawingml/2006/main" noGrp="1"/>
          </p:cNvSpPr>
          <p:nvPr/>
        </p:nvSpPr>
        <p:spPr>
          <a:xfrm xmlns:a="http://schemas.openxmlformats.org/drawingml/2006/main">
            <a:off x="2676525" y="4295775"/>
            <a:ext cx="9001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Durable body for demanding sites. Replace only the sensing strip each shift to reduce band waste.</a:t>
            </a:r>
          </a:p>
        </p:txBody>
      </p:sp>
      <p:sp>
        <p:nvSpPr>
          <p:cNvPr id="11" name="Disposable format">
            <a:extLst xmlns:a="http://schemas.openxmlformats.org/drawingml/2006/main">
              <a:ext uri="{FF2B5EF4-FFF2-40B4-BE49-F238E27FC236}">
                <a16:creationId xmlns:a16="http://schemas.microsoft.com/office/drawing/2014/main" id="{27A6DB12-D16A-4E24-B2E9-BA71CDBBB389}"/>
              </a:ext>
            </a:extLst>
          </p:cNvPr>
          <p:cNvSpPr>
            <a:spLocks xmlns:a="http://schemas.openxmlformats.org/drawingml/2006/main" noGrp="1"/>
          </p:cNvSpPr>
          <p:nvPr/>
        </p:nvSpPr>
        <p:spPr>
          <a:xfrm xmlns:a="http://schemas.openxmlformats.org/drawingml/2006/main">
            <a:off x="514350" y="4810125"/>
            <a:ext cx="241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363DA"/>
                </a:solidFill>
                <a:latin typeface="Avenir Next"/>
                <a:ea typeface="Avenir Next"/>
                <a:cs typeface="Avenir Next"/>
              </a:defRPr>
            </a:defPPr>
            <a:lvl1pPr algn="l">
              <a:defRPr sz="1650" b="1">
                <a:solidFill>
                  <a:srgbClr val="2363DA"/>
                </a:solidFill>
                <a:latin typeface="Avenir Next"/>
                <a:ea typeface="Avenir Next"/>
                <a:cs typeface="Avenir Next"/>
              </a:defRPr>
            </a:lvl1pPr>
            <a:lvl2pPr algn="l">
              <a:defRPr sz="1650" b="1">
                <a:solidFill>
                  <a:srgbClr val="2363DA"/>
                </a:solidFill>
                <a:latin typeface="Avenir Next"/>
                <a:ea typeface="Avenir Next"/>
                <a:cs typeface="Avenir Next"/>
              </a:defRPr>
            </a:lvl2pPr>
            <a:lvl3pPr algn="l">
              <a:defRPr sz="1650" b="1">
                <a:solidFill>
                  <a:srgbClr val="2363DA"/>
                </a:solidFill>
                <a:latin typeface="Avenir Next"/>
                <a:ea typeface="Avenir Next"/>
                <a:cs typeface="Avenir Next"/>
              </a:defRPr>
            </a:lvl3pPr>
            <a:lvl4pPr algn="l">
              <a:defRPr sz="1650" b="1">
                <a:solidFill>
                  <a:srgbClr val="2363DA"/>
                </a:solidFill>
                <a:latin typeface="Avenir Next"/>
                <a:ea typeface="Avenir Next"/>
                <a:cs typeface="Avenir Next"/>
              </a:defRPr>
            </a:lvl4pPr>
            <a:lvl5pPr algn="l">
              <a:defRPr sz="1650" b="1">
                <a:solidFill>
                  <a:srgbClr val="2363DA"/>
                </a:solidFill>
                <a:latin typeface="Avenir Next"/>
                <a:ea typeface="Avenir Next"/>
                <a:cs typeface="Avenir Next"/>
              </a:defRPr>
            </a:lvl5pPr>
            <a:lvl6pPr algn="l">
              <a:defRPr sz="1650" b="1">
                <a:solidFill>
                  <a:srgbClr val="2363DA"/>
                </a:solidFill>
                <a:latin typeface="Avenir Next"/>
                <a:ea typeface="Avenir Next"/>
                <a:cs typeface="Avenir Next"/>
              </a:defRPr>
            </a:lvl6pPr>
            <a:lvl7pPr algn="l">
              <a:defRPr sz="1650" b="1">
                <a:solidFill>
                  <a:srgbClr val="2363DA"/>
                </a:solidFill>
                <a:latin typeface="Avenir Next"/>
                <a:ea typeface="Avenir Next"/>
                <a:cs typeface="Avenir Next"/>
              </a:defRPr>
            </a:lvl7pPr>
            <a:lvl8pPr algn="l">
              <a:defRPr sz="1650" b="1">
                <a:solidFill>
                  <a:srgbClr val="2363DA"/>
                </a:solidFill>
                <a:latin typeface="Avenir Next"/>
                <a:ea typeface="Avenir Next"/>
                <a:cs typeface="Avenir Next"/>
              </a:defRPr>
            </a:lvl8pPr>
            <a:lvl9pPr algn="l">
              <a:defRPr sz="1650" b="1">
                <a:solidFill>
                  <a:srgbClr val="2363DA"/>
                </a:solidFill>
                <a:latin typeface="Avenir Next"/>
                <a:ea typeface="Avenir Next"/>
                <a:cs typeface="Avenir Next"/>
              </a:defRPr>
            </a:lvl9pPr>
          </a:lstStyle>
          <a:p xmlns:a="http://schemas.openxmlformats.org/drawingml/2006/main">
            <a:pPr algn="l">
              <a:defRPr sz="1650" b="1">
                <a:solidFill>
                  <a:srgbClr val="2363DA"/>
                </a:solidFill>
                <a:latin typeface="Avenir Next"/>
                <a:ea typeface="Avenir Next"/>
                <a:cs typeface="Avenir Next"/>
              </a:defRPr>
            </a:pPr>
            <a:r>
              <a:rPr sz="1650" b="1">
                <a:solidFill>
                  <a:srgbClr val="2363DA"/>
                </a:solidFill>
                <a:latin typeface="Avenir Next"/>
                <a:ea typeface="Avenir Next"/>
                <a:cs typeface="Avenir Next"/>
              </a:rPr>
              <a:t>Disposable format</a:t>
            </a:r>
          </a:p>
        </p:txBody>
      </p:sp>
      <p:sp>
        <p:nvSpPr>
          <p:cNvPr id="12" name="Single-use band targeting ₹1 per band for routine shifts and cost-sens">
            <a:extLst xmlns:a="http://schemas.openxmlformats.org/drawingml/2006/main">
              <a:ext uri="{FF2B5EF4-FFF2-40B4-BE49-F238E27FC236}">
                <a16:creationId xmlns:a16="http://schemas.microsoft.com/office/drawing/2014/main" id="{7591CD84-65E8-4687-AA01-46B6A8E52E38}"/>
              </a:ext>
            </a:extLst>
          </p:cNvPr>
          <p:cNvSpPr>
            <a:spLocks xmlns:a="http://schemas.openxmlformats.org/drawingml/2006/main" noGrp="1"/>
          </p:cNvSpPr>
          <p:nvPr/>
        </p:nvSpPr>
        <p:spPr>
          <a:xfrm xmlns:a="http://schemas.openxmlformats.org/drawingml/2006/main">
            <a:off x="2676525" y="4810125"/>
            <a:ext cx="900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Single-use band targeting ₹1 per band for routine shifts and cost-sensitive teams.</a:t>
            </a:r>
          </a:p>
        </p:txBody>
      </p:sp>
      <p:graphicFrame>
        <p:nvGraphicFramePr>
          <p:cNvPr id="13" name="">
            <a:extLst xmlns:a="http://schemas.openxmlformats.org/drawingml/2006/main">
              <a:ext uri="{FF2B5EF4-FFF2-40B4-BE49-F238E27FC236}">
                <a16:creationId xmlns:a16="http://schemas.microsoft.com/office/drawing/2014/main" id="{AF3DF9E7-4D8F-4917-991C-6AFB7853D470}"/>
              </a:ext>
            </a:extLst>
          </p:cNvPr>
          <p:cNvGraphicFramePr/>
          <p:nvPr/>
        </p:nvGraphicFramePr>
        <p:xfrm>
          <a:off xmlns:a="http://schemas.openxmlformats.org/drawingml/2006/main" x="514350" y="5219700"/>
          <a:ext xmlns:a="http://schemas.openxmlformats.org/drawingml/2006/main" cx="11163300" cy="809625"/>
        </p:xfrm>
        <a:graphic xmlns:a="http://schemas.openxmlformats.org/drawingml/2006/main">
          <a:graphicData uri="http://schemas.openxmlformats.org/drawingml/2006/table">
            <a:tbl>
              <a:tblPr/>
              <a:tblGrid>
                <a:gridCol w="2552700"/>
                <a:gridCol w="4495800"/>
                <a:gridCol w="4114800"/>
              </a:tblGrid>
              <a:tr h="202406">
                <a:tc>
                  <a:txBody>
                    <a:bodyPr lIns="85725" tIns="38100" rIns="85725" bIns="38100"/>
                    <a:lstStyle/>
                    <a:p>
                      <a:pPr algn="l"/>
                      <a:r>
                        <a:rPr sz="1088" b="1">
                          <a:solidFill>
                            <a:srgbClr val="142B43"/>
                          </a:solidFill>
                          <a:latin typeface="Avenir Next"/>
                          <a:ea typeface="Avenir Next"/>
                          <a:cs typeface="Avenir Next"/>
                        </a:rPr>
                        <a:t>Option</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088" b="1">
                          <a:solidFill>
                            <a:srgbClr val="142B43"/>
                          </a:solidFill>
                          <a:latin typeface="Avenir Next"/>
                          <a:ea typeface="Avenir Next"/>
                          <a:cs typeface="Avenir Next"/>
                        </a:rPr>
                        <a:t>Role</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088" b="1">
                          <a:solidFill>
                            <a:srgbClr val="142B43"/>
                          </a:solidFill>
                          <a:latin typeface="Avenir Next"/>
                          <a:ea typeface="Avenir Next"/>
                          <a:cs typeface="Avenir Next"/>
                        </a:rPr>
                        <a:t>Operating trade-off</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202406">
                <a:tc>
                  <a:txBody>
                    <a:bodyPr lIns="85725" tIns="38100" rIns="85725" bIns="38100"/>
                    <a:lstStyle/>
                    <a:p>
                      <a:pPr algn="l"/>
                      <a:r>
                        <a:rPr sz="1088" b="0">
                          <a:solidFill>
                            <a:srgbClr val="142B43"/>
                          </a:solidFill>
                          <a:latin typeface="Avenir Next"/>
                          <a:ea typeface="Avenir Next"/>
                          <a:cs typeface="Avenir Next"/>
                        </a:rPr>
                        <a:t>Electronic detector</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Real-time ppm and alarms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Battery and calibration</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202406">
                <a:tc>
                  <a:txBody>
                    <a:bodyPr lIns="85725" tIns="38100" rIns="85725" bIns="38100"/>
                    <a:lstStyle/>
                    <a:p>
                      <a:pPr algn="l"/>
                      <a:r>
                        <a:rPr sz="1088" b="0">
                          <a:solidFill>
                            <a:srgbClr val="142B43"/>
                          </a:solidFill>
                          <a:latin typeface="Avenir Next"/>
                          <a:ea typeface="Avenir Next"/>
                          <a:cs typeface="Avenir Next"/>
                        </a:rPr>
                        <a:t>Passive badge / tube</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Cumulative visual readout</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Manual logging</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202406">
                <a:tc>
                  <a:txBody>
                    <a:bodyPr lIns="85725" tIns="38100" rIns="85725" bIns="38100"/>
                    <a:lstStyle/>
                    <a:p>
                      <a:pPr algn="l"/>
                      <a:r>
                        <a:rPr sz="1088" b="0">
                          <a:solidFill>
                            <a:srgbClr val="142B43"/>
                          </a:solidFill>
                          <a:latin typeface="Avenir Next"/>
                          <a:ea typeface="Avenir Next"/>
                          <a:cs typeface="Avenir Next"/>
                        </a:rPr>
                        <a:t>VajraSetu</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Colour readout + phone record</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088" b="0">
                          <a:solidFill>
                            <a:srgbClr val="142B43"/>
                          </a:solidFill>
                          <a:latin typeface="Avenir Next"/>
                          <a:ea typeface="Avenir Next"/>
                          <a:cs typeface="Avenir Next"/>
                        </a:rPr>
                        <a:t>Low-cost target; validation required</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14" name="Original deck cost targets, not vendor quotes. Confirm through procure">
            <a:extLst xmlns:a="http://schemas.openxmlformats.org/drawingml/2006/main">
              <a:ext uri="{FF2B5EF4-FFF2-40B4-BE49-F238E27FC236}">
                <a16:creationId xmlns:a16="http://schemas.microsoft.com/office/drawing/2014/main" id="{24B2FAF5-433B-40CB-B2FF-09915E062B82}"/>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Original deck cost targets, not vendor quotes. Confirm through procurement, calibration and field trials. Assumes 26 shifts/month.</a:t>
            </a:r>
          </a:p>
        </p:txBody>
      </p:sp>
      <p:sp>
        <p:nvSpPr>
          <p:cNvPr id="15" name="04">
            <a:extLst xmlns:a="http://schemas.openxmlformats.org/drawingml/2006/main">
              <a:ext uri="{FF2B5EF4-FFF2-40B4-BE49-F238E27FC236}">
                <a16:creationId xmlns:a16="http://schemas.microsoft.com/office/drawing/2014/main" id="{640933A2-2953-4CAB-948B-6ECA80AA2361}"/>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04</a:t>
            </a:r>
          </a:p>
        </p:txBody>
      </p:sp>
    </p:spTree>
    <p:extLst>
      <p:ext uri="{BB962C8B-B14F-4D97-AF65-F5344CB8AC3E}">
        <p14:creationId xmlns:p14="http://schemas.microsoft.com/office/powerpoint/2010/main" val="1163803384"/>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Healthcare impact and route to deployment">
            <a:extLst xmlns:a="http://schemas.openxmlformats.org/drawingml/2006/main">
              <a:ext uri="{FF2B5EF4-FFF2-40B4-BE49-F238E27FC236}">
                <a16:creationId xmlns:a16="http://schemas.microsoft.com/office/drawing/2014/main" id="{5A9ED88D-63A3-45DD-8524-AB2731E84162}"/>
              </a:ext>
            </a:extLst>
          </p:cNvPr>
          <p:cNvSpPr>
            <a:spLocks xmlns:a="http://schemas.openxmlformats.org/drawingml/2006/main" noGrp="1"/>
          </p:cNvSpPr>
          <p:nvPr/>
        </p:nvSpPr>
        <p:spPr>
          <a:xfrm xmlns:a="http://schemas.openxmlformats.org/drawingml/2006/main">
            <a:off x="514350" y="409575"/>
            <a:ext cx="11163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142B43"/>
                </a:solidFill>
                <a:latin typeface="Avenir Next"/>
                <a:ea typeface="Avenir Next"/>
                <a:cs typeface="Avenir Next"/>
              </a:defRPr>
            </a:defPPr>
            <a:lvl1pPr algn="l">
              <a:defRPr sz="3075" b="1">
                <a:solidFill>
                  <a:srgbClr val="142B43"/>
                </a:solidFill>
                <a:latin typeface="Avenir Next"/>
                <a:ea typeface="Avenir Next"/>
                <a:cs typeface="Avenir Next"/>
              </a:defRPr>
            </a:lvl1pPr>
            <a:lvl2pPr algn="l">
              <a:defRPr sz="3075" b="1">
                <a:solidFill>
                  <a:srgbClr val="142B43"/>
                </a:solidFill>
                <a:latin typeface="Avenir Next"/>
                <a:ea typeface="Avenir Next"/>
                <a:cs typeface="Avenir Next"/>
              </a:defRPr>
            </a:lvl2pPr>
            <a:lvl3pPr algn="l">
              <a:defRPr sz="3075" b="1">
                <a:solidFill>
                  <a:srgbClr val="142B43"/>
                </a:solidFill>
                <a:latin typeface="Avenir Next"/>
                <a:ea typeface="Avenir Next"/>
                <a:cs typeface="Avenir Next"/>
              </a:defRPr>
            </a:lvl3pPr>
            <a:lvl4pPr algn="l">
              <a:defRPr sz="3075" b="1">
                <a:solidFill>
                  <a:srgbClr val="142B43"/>
                </a:solidFill>
                <a:latin typeface="Avenir Next"/>
                <a:ea typeface="Avenir Next"/>
                <a:cs typeface="Avenir Next"/>
              </a:defRPr>
            </a:lvl4pPr>
            <a:lvl5pPr algn="l">
              <a:defRPr sz="3075" b="1">
                <a:solidFill>
                  <a:srgbClr val="142B43"/>
                </a:solidFill>
                <a:latin typeface="Avenir Next"/>
                <a:ea typeface="Avenir Next"/>
                <a:cs typeface="Avenir Next"/>
              </a:defRPr>
            </a:lvl5pPr>
            <a:lvl6pPr algn="l">
              <a:defRPr sz="3075" b="1">
                <a:solidFill>
                  <a:srgbClr val="142B43"/>
                </a:solidFill>
                <a:latin typeface="Avenir Next"/>
                <a:ea typeface="Avenir Next"/>
                <a:cs typeface="Avenir Next"/>
              </a:defRPr>
            </a:lvl6pPr>
            <a:lvl7pPr algn="l">
              <a:defRPr sz="3075" b="1">
                <a:solidFill>
                  <a:srgbClr val="142B43"/>
                </a:solidFill>
                <a:latin typeface="Avenir Next"/>
                <a:ea typeface="Avenir Next"/>
                <a:cs typeface="Avenir Next"/>
              </a:defRPr>
            </a:lvl7pPr>
            <a:lvl8pPr algn="l">
              <a:defRPr sz="3075" b="1">
                <a:solidFill>
                  <a:srgbClr val="142B43"/>
                </a:solidFill>
                <a:latin typeface="Avenir Next"/>
                <a:ea typeface="Avenir Next"/>
                <a:cs typeface="Avenir Next"/>
              </a:defRPr>
            </a:lvl8pPr>
            <a:lvl9pPr algn="l">
              <a:defRPr sz="3075" b="1">
                <a:solidFill>
                  <a:srgbClr val="142B43"/>
                </a:solidFill>
                <a:latin typeface="Avenir Next"/>
                <a:ea typeface="Avenir Next"/>
                <a:cs typeface="Avenir Next"/>
              </a:defRPr>
            </a:lvl9pPr>
          </a:lstStyle>
          <a:p xmlns:a="http://schemas.openxmlformats.org/drawingml/2006/main">
            <a:pPr algn="l">
              <a:defRPr sz="3075" b="1">
                <a:solidFill>
                  <a:srgbClr val="142B43"/>
                </a:solidFill>
                <a:latin typeface="Avenir Next"/>
                <a:ea typeface="Avenir Next"/>
                <a:cs typeface="Avenir Next"/>
              </a:defRPr>
            </a:pPr>
            <a:r>
              <a:rPr sz="3075" b="1">
                <a:solidFill>
                  <a:srgbClr val="142B43"/>
                </a:solidFill>
                <a:latin typeface="Avenir Next"/>
                <a:ea typeface="Avenir Next"/>
                <a:cs typeface="Avenir Next"/>
              </a:rPr>
              <a:t>Healthcare impact and route to deployment</a:t>
            </a:r>
          </a:p>
        </p:txBody>
      </p:sp>
      <p:sp>
        <p:nvSpPr>
          <p:cNvPr id="2" name="Worker health">
            <a:extLst xmlns:a="http://schemas.openxmlformats.org/drawingml/2006/main">
              <a:ext uri="{FF2B5EF4-FFF2-40B4-BE49-F238E27FC236}">
                <a16:creationId xmlns:a16="http://schemas.microsoft.com/office/drawing/2014/main" id="{6EA31A1D-FDE2-41B5-833C-6C7BC1A5ED0E}"/>
              </a:ext>
            </a:extLst>
          </p:cNvPr>
          <p:cNvSpPr>
            <a:spLocks xmlns:a="http://schemas.openxmlformats.org/drawingml/2006/main" noGrp="1"/>
          </p:cNvSpPr>
          <p:nvPr/>
        </p:nvSpPr>
        <p:spPr>
          <a:xfrm xmlns:a="http://schemas.openxmlformats.org/drawingml/2006/main">
            <a:off x="514350"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Worker health</a:t>
            </a:r>
          </a:p>
        </p:txBody>
      </p:sp>
      <p:sp>
        <p:nvSpPr>
          <p:cNvPr id="3" name="Visible band checks support exposure awareness and supervisor review.">
            <a:extLst xmlns:a="http://schemas.openxmlformats.org/drawingml/2006/main">
              <a:ext uri="{FF2B5EF4-FFF2-40B4-BE49-F238E27FC236}">
                <a16:creationId xmlns:a16="http://schemas.microsoft.com/office/drawing/2014/main" id="{16A7CB1D-E90B-4B1F-BD8B-0261C70DB078}"/>
              </a:ext>
            </a:extLst>
          </p:cNvPr>
          <p:cNvSpPr>
            <a:spLocks xmlns:a="http://schemas.openxmlformats.org/drawingml/2006/main" noGrp="1"/>
          </p:cNvSpPr>
          <p:nvPr/>
        </p:nvSpPr>
        <p:spPr>
          <a:xfrm xmlns:a="http://schemas.openxmlformats.org/drawingml/2006/main">
            <a:off x="514350"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Visible band checks support</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exposure awareness 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supervisor review.</a:t>
            </a:r>
          </a:p>
        </p:txBody>
      </p:sp>
      <p:sp>
        <p:nvSpPr>
          <p:cNvPr id="4" name="Industrial usability">
            <a:extLst xmlns:a="http://schemas.openxmlformats.org/drawingml/2006/main">
              <a:ext uri="{FF2B5EF4-FFF2-40B4-BE49-F238E27FC236}">
                <a16:creationId xmlns:a16="http://schemas.microsoft.com/office/drawing/2014/main" id="{64958657-800C-4972-9670-9E0BCB637C00}"/>
              </a:ext>
            </a:extLst>
          </p:cNvPr>
          <p:cNvSpPr>
            <a:spLocks xmlns:a="http://schemas.openxmlformats.org/drawingml/2006/main" noGrp="1"/>
          </p:cNvSpPr>
          <p:nvPr/>
        </p:nvSpPr>
        <p:spPr>
          <a:xfrm xmlns:a="http://schemas.openxmlformats.org/drawingml/2006/main">
            <a:off x="3362325"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Industrial usability</a:t>
            </a:r>
          </a:p>
        </p:txBody>
      </p:sp>
      <p:sp>
        <p:nvSpPr>
          <p:cNvPr id="5" name="Passive, lightweight band. Offline records in factories and oil-and-ga">
            <a:extLst xmlns:a="http://schemas.openxmlformats.org/drawingml/2006/main">
              <a:ext uri="{FF2B5EF4-FFF2-40B4-BE49-F238E27FC236}">
                <a16:creationId xmlns:a16="http://schemas.microsoft.com/office/drawing/2014/main" id="{0A7833B4-8BEF-4161-ABB9-1E32A2309CD5}"/>
              </a:ext>
            </a:extLst>
          </p:cNvPr>
          <p:cNvSpPr>
            <a:spLocks xmlns:a="http://schemas.openxmlformats.org/drawingml/2006/main" noGrp="1"/>
          </p:cNvSpPr>
          <p:nvPr/>
        </p:nvSpPr>
        <p:spPr>
          <a:xfrm xmlns:a="http://schemas.openxmlformats.org/drawingml/2006/main">
            <a:off x="3362325"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Passive, lightweight band.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Offline records in factories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and oil-and-gas settings.</a:t>
            </a:r>
          </a:p>
        </p:txBody>
      </p:sp>
      <p:sp>
        <p:nvSpPr>
          <p:cNvPr id="6" name="Digital records">
            <a:extLst xmlns:a="http://schemas.openxmlformats.org/drawingml/2006/main">
              <a:ext uri="{FF2B5EF4-FFF2-40B4-BE49-F238E27FC236}">
                <a16:creationId xmlns:a16="http://schemas.microsoft.com/office/drawing/2014/main" id="{9E148B1A-1CDE-4341-89B1-89A1075801D5}"/>
              </a:ext>
            </a:extLst>
          </p:cNvPr>
          <p:cNvSpPr>
            <a:spLocks xmlns:a="http://schemas.openxmlformats.org/drawingml/2006/main" noGrp="1"/>
          </p:cNvSpPr>
          <p:nvPr/>
        </p:nvSpPr>
        <p:spPr>
          <a:xfrm xmlns:a="http://schemas.openxmlformats.org/drawingml/2006/main">
            <a:off x="6210300"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Digital records</a:t>
            </a:r>
          </a:p>
        </p:txBody>
      </p:sp>
      <p:sp>
        <p:nvSpPr>
          <p:cNvPr id="7" name="Worker and shift history with date, band validity and provisional expo">
            <a:extLst xmlns:a="http://schemas.openxmlformats.org/drawingml/2006/main">
              <a:ext uri="{FF2B5EF4-FFF2-40B4-BE49-F238E27FC236}">
                <a16:creationId xmlns:a16="http://schemas.microsoft.com/office/drawing/2014/main" id="{B1DA7A24-016C-4280-AE30-F77394DB7C4B}"/>
              </a:ext>
            </a:extLst>
          </p:cNvPr>
          <p:cNvSpPr>
            <a:spLocks xmlns:a="http://schemas.openxmlformats.org/drawingml/2006/main" noGrp="1"/>
          </p:cNvSpPr>
          <p:nvPr/>
        </p:nvSpPr>
        <p:spPr>
          <a:xfrm xmlns:a="http://schemas.openxmlformats.org/drawingml/2006/main">
            <a:off x="6210300"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Worker and shift history with</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date, band validity and</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provisional exposure.</a:t>
            </a:r>
          </a:p>
        </p:txBody>
      </p:sp>
      <p:sp>
        <p:nvSpPr>
          <p:cNvPr id="8" name="Make in India">
            <a:extLst xmlns:a="http://schemas.openxmlformats.org/drawingml/2006/main">
              <a:ext uri="{FF2B5EF4-FFF2-40B4-BE49-F238E27FC236}">
                <a16:creationId xmlns:a16="http://schemas.microsoft.com/office/drawing/2014/main" id="{68BD790D-B9E4-4229-89C1-2C1A20F2E2D2}"/>
              </a:ext>
            </a:extLst>
          </p:cNvPr>
          <p:cNvSpPr>
            <a:spLocks xmlns:a="http://schemas.openxmlformats.org/drawingml/2006/main" noGrp="1"/>
          </p:cNvSpPr>
          <p:nvPr/>
        </p:nvSpPr>
        <p:spPr>
          <a:xfrm xmlns:a="http://schemas.openxmlformats.org/drawingml/2006/main">
            <a:off x="9058275" y="1409700"/>
            <a:ext cx="2619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Make in India</a:t>
            </a:r>
          </a:p>
        </p:txBody>
      </p:sp>
      <p:sp>
        <p:nvSpPr>
          <p:cNvPr id="9" name="Local manufacturing potential and affordable consumables for broader a">
            <a:extLst xmlns:a="http://schemas.openxmlformats.org/drawingml/2006/main">
              <a:ext uri="{FF2B5EF4-FFF2-40B4-BE49-F238E27FC236}">
                <a16:creationId xmlns:a16="http://schemas.microsoft.com/office/drawing/2014/main" id="{FA0F9A75-58D9-434D-9BC8-828A2F398AAA}"/>
              </a:ext>
            </a:extLst>
          </p:cNvPr>
          <p:cNvSpPr>
            <a:spLocks xmlns:a="http://schemas.openxmlformats.org/drawingml/2006/main" noGrp="1"/>
          </p:cNvSpPr>
          <p:nvPr/>
        </p:nvSpPr>
        <p:spPr>
          <a:xfrm xmlns:a="http://schemas.openxmlformats.org/drawingml/2006/main">
            <a:off x="9058275" y="18573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4"/>
                </a:solidFill>
                <a:latin typeface="Avenir Next"/>
                <a:ea typeface="Avenir Next"/>
                <a:cs typeface="Avenir Next"/>
              </a:defRPr>
            </a:defPPr>
            <a:lvl1pPr algn="l">
              <a:defRPr sz="1500" b="0">
                <a:solidFill>
                  <a:srgbClr val="526574"/>
                </a:solidFill>
                <a:latin typeface="Avenir Next"/>
                <a:ea typeface="Avenir Next"/>
                <a:cs typeface="Avenir Next"/>
              </a:defRPr>
            </a:lvl1pPr>
            <a:lvl2pPr algn="l">
              <a:defRPr sz="1500" b="0">
                <a:solidFill>
                  <a:srgbClr val="526574"/>
                </a:solidFill>
                <a:latin typeface="Avenir Next"/>
                <a:ea typeface="Avenir Next"/>
                <a:cs typeface="Avenir Next"/>
              </a:defRPr>
            </a:lvl2pPr>
            <a:lvl3pPr algn="l">
              <a:defRPr sz="1500" b="0">
                <a:solidFill>
                  <a:srgbClr val="526574"/>
                </a:solidFill>
                <a:latin typeface="Avenir Next"/>
                <a:ea typeface="Avenir Next"/>
                <a:cs typeface="Avenir Next"/>
              </a:defRPr>
            </a:lvl3pPr>
            <a:lvl4pPr algn="l">
              <a:defRPr sz="1500" b="0">
                <a:solidFill>
                  <a:srgbClr val="526574"/>
                </a:solidFill>
                <a:latin typeface="Avenir Next"/>
                <a:ea typeface="Avenir Next"/>
                <a:cs typeface="Avenir Next"/>
              </a:defRPr>
            </a:lvl4pPr>
            <a:lvl5pPr algn="l">
              <a:defRPr sz="1500" b="0">
                <a:solidFill>
                  <a:srgbClr val="526574"/>
                </a:solidFill>
                <a:latin typeface="Avenir Next"/>
                <a:ea typeface="Avenir Next"/>
                <a:cs typeface="Avenir Next"/>
              </a:defRPr>
            </a:lvl5pPr>
            <a:lvl6pPr algn="l">
              <a:defRPr sz="1500" b="0">
                <a:solidFill>
                  <a:srgbClr val="526574"/>
                </a:solidFill>
                <a:latin typeface="Avenir Next"/>
                <a:ea typeface="Avenir Next"/>
                <a:cs typeface="Avenir Next"/>
              </a:defRPr>
            </a:lvl6pPr>
            <a:lvl7pPr algn="l">
              <a:defRPr sz="1500" b="0">
                <a:solidFill>
                  <a:srgbClr val="526574"/>
                </a:solidFill>
                <a:latin typeface="Avenir Next"/>
                <a:ea typeface="Avenir Next"/>
                <a:cs typeface="Avenir Next"/>
              </a:defRPr>
            </a:lvl7pPr>
            <a:lvl8pPr algn="l">
              <a:defRPr sz="1500" b="0">
                <a:solidFill>
                  <a:srgbClr val="526574"/>
                </a:solidFill>
                <a:latin typeface="Avenir Next"/>
                <a:ea typeface="Avenir Next"/>
                <a:cs typeface="Avenir Next"/>
              </a:defRPr>
            </a:lvl8pPr>
            <a:lvl9pPr algn="l">
              <a:defRPr sz="1500" b="0">
                <a:solidFill>
                  <a:srgbClr val="526574"/>
                </a:solidFill>
                <a:latin typeface="Avenir Next"/>
                <a:ea typeface="Avenir Next"/>
                <a:cs typeface="Avenir Next"/>
              </a:defRPr>
            </a:lvl9pPr>
          </a:lstStyle>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Local manufacturing potential</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and affordable consumables</a:t>
            </a:r>
          </a:p>
          <a:p xmlns:a="http://schemas.openxmlformats.org/drawingml/2006/main">
            <a:pPr algn="l">
              <a:defRPr sz="1500" b="0">
                <a:solidFill>
                  <a:srgbClr val="526574"/>
                </a:solidFill>
                <a:latin typeface="Avenir Next"/>
                <a:ea typeface="Avenir Next"/>
                <a:cs typeface="Avenir Next"/>
              </a:defRPr>
            </a:pPr>
            <a:r>
              <a:rPr sz="1500" b="0">
                <a:solidFill>
                  <a:srgbClr val="526574"/>
                </a:solidFill>
                <a:latin typeface="Avenir Next"/>
                <a:ea typeface="Avenir Next"/>
                <a:cs typeface="Avenir Next"/>
              </a:rPr>
              <a:t>for broader access.</a:t>
            </a:r>
          </a:p>
        </p:txBody>
      </p:sp>
      <p:sp>
        <p:nvSpPr>
          <p:cNvPr id="10" name="">
            <a:extLst xmlns:a="http://schemas.openxmlformats.org/drawingml/2006/main">
              <a:ext uri="{FF2B5EF4-FFF2-40B4-BE49-F238E27FC236}">
                <a16:creationId xmlns:a16="http://schemas.microsoft.com/office/drawing/2014/main" id="{C71151F3-495D-4EED-A74D-96589F9EE891}"/>
              </a:ext>
            </a:extLst>
          </p:cNvPr>
          <p:cNvSpPr>
            <a:spLocks xmlns:a="http://schemas.openxmlformats.org/drawingml/2006/main" noGrp="1"/>
          </p:cNvSpPr>
          <p:nvPr/>
        </p:nvSpPr>
        <p:spPr>
          <a:xfrm xmlns:a="http://schemas.openxmlformats.org/drawingml/2006/main">
            <a:off x="514350" y="3009900"/>
            <a:ext cx="11163300" cy="0"/>
          </a:xfrm>
          <a:prstGeom xmlns:a="http://schemas.openxmlformats.org/drawingml/2006/main" prst="line">
            <a:avLst/>
          </a:prstGeom>
          <a:ln xmlns:a="http://schemas.openxmlformats.org/drawingml/2006/main" w="9525">
            <a:solidFill>
              <a:srgbClr val="D3D9D9"/>
            </a:solidFill>
          </a:ln>
        </p:spPr>
      </p:sp>
      <p:sp>
        <p:nvSpPr>
          <p:cNvPr id="11" name="Deployment">
            <a:extLst xmlns:a="http://schemas.openxmlformats.org/drawingml/2006/main">
              <a:ext uri="{FF2B5EF4-FFF2-40B4-BE49-F238E27FC236}">
                <a16:creationId xmlns:a16="http://schemas.microsoft.com/office/drawing/2014/main" id="{0BFAAEE1-CBFF-4569-B176-F88F9FD387E3}"/>
              </a:ext>
            </a:extLst>
          </p:cNvPr>
          <p:cNvSpPr>
            <a:spLocks xmlns:a="http://schemas.openxmlformats.org/drawingml/2006/main" noGrp="1"/>
          </p:cNvSpPr>
          <p:nvPr/>
        </p:nvSpPr>
        <p:spPr>
          <a:xfrm xmlns:a="http://schemas.openxmlformats.org/drawingml/2006/main">
            <a:off x="514350" y="3257550"/>
            <a:ext cx="209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B43"/>
                </a:solidFill>
                <a:latin typeface="Avenir Next"/>
                <a:ea typeface="Avenir Next"/>
                <a:cs typeface="Avenir Next"/>
              </a:defRPr>
            </a:defPPr>
            <a:lvl1pPr algn="l">
              <a:defRPr sz="1650" b="1">
                <a:solidFill>
                  <a:srgbClr val="142B43"/>
                </a:solidFill>
                <a:latin typeface="Avenir Next"/>
                <a:ea typeface="Avenir Next"/>
                <a:cs typeface="Avenir Next"/>
              </a:defRPr>
            </a:lvl1pPr>
            <a:lvl2pPr algn="l">
              <a:defRPr sz="1650" b="1">
                <a:solidFill>
                  <a:srgbClr val="142B43"/>
                </a:solidFill>
                <a:latin typeface="Avenir Next"/>
                <a:ea typeface="Avenir Next"/>
                <a:cs typeface="Avenir Next"/>
              </a:defRPr>
            </a:lvl2pPr>
            <a:lvl3pPr algn="l">
              <a:defRPr sz="1650" b="1">
                <a:solidFill>
                  <a:srgbClr val="142B43"/>
                </a:solidFill>
                <a:latin typeface="Avenir Next"/>
                <a:ea typeface="Avenir Next"/>
                <a:cs typeface="Avenir Next"/>
              </a:defRPr>
            </a:lvl3pPr>
            <a:lvl4pPr algn="l">
              <a:defRPr sz="1650" b="1">
                <a:solidFill>
                  <a:srgbClr val="142B43"/>
                </a:solidFill>
                <a:latin typeface="Avenir Next"/>
                <a:ea typeface="Avenir Next"/>
                <a:cs typeface="Avenir Next"/>
              </a:defRPr>
            </a:lvl4pPr>
            <a:lvl5pPr algn="l">
              <a:defRPr sz="1650" b="1">
                <a:solidFill>
                  <a:srgbClr val="142B43"/>
                </a:solidFill>
                <a:latin typeface="Avenir Next"/>
                <a:ea typeface="Avenir Next"/>
                <a:cs typeface="Avenir Next"/>
              </a:defRPr>
            </a:lvl5pPr>
            <a:lvl6pPr algn="l">
              <a:defRPr sz="1650" b="1">
                <a:solidFill>
                  <a:srgbClr val="142B43"/>
                </a:solidFill>
                <a:latin typeface="Avenir Next"/>
                <a:ea typeface="Avenir Next"/>
                <a:cs typeface="Avenir Next"/>
              </a:defRPr>
            </a:lvl6pPr>
            <a:lvl7pPr algn="l">
              <a:defRPr sz="1650" b="1">
                <a:solidFill>
                  <a:srgbClr val="142B43"/>
                </a:solidFill>
                <a:latin typeface="Avenir Next"/>
                <a:ea typeface="Avenir Next"/>
                <a:cs typeface="Avenir Next"/>
              </a:defRPr>
            </a:lvl7pPr>
            <a:lvl8pPr algn="l">
              <a:defRPr sz="1650" b="1">
                <a:solidFill>
                  <a:srgbClr val="142B43"/>
                </a:solidFill>
                <a:latin typeface="Avenir Next"/>
                <a:ea typeface="Avenir Next"/>
                <a:cs typeface="Avenir Next"/>
              </a:defRPr>
            </a:lvl8pPr>
            <a:lvl9pPr algn="l">
              <a:defRPr sz="1650" b="1">
                <a:solidFill>
                  <a:srgbClr val="142B43"/>
                </a:solidFill>
                <a:latin typeface="Avenir Next"/>
                <a:ea typeface="Avenir Next"/>
                <a:cs typeface="Avenir Next"/>
              </a:defRPr>
            </a:lvl9pPr>
          </a:lstStyle>
          <a:p xmlns:a="http://schemas.openxmlformats.org/drawingml/2006/main">
            <a:pPr algn="l">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Deployment</a:t>
            </a:r>
          </a:p>
        </p:txBody>
      </p:sp>
      <p:sp>
        <p:nvSpPr>
          <p:cNvPr id="12" name="01  Prototype">
            <a:extLst xmlns:a="http://schemas.openxmlformats.org/drawingml/2006/main">
              <a:ext uri="{FF2B5EF4-FFF2-40B4-BE49-F238E27FC236}">
                <a16:creationId xmlns:a16="http://schemas.microsoft.com/office/drawing/2014/main" id="{83ED4B2E-5B87-4C06-A6B1-B7FC8D0DB55F}"/>
              </a:ext>
            </a:extLst>
          </p:cNvPr>
          <p:cNvSpPr>
            <a:spLocks xmlns:a="http://schemas.openxmlformats.org/drawingml/2006/main" noGrp="1"/>
          </p:cNvSpPr>
          <p:nvPr/>
        </p:nvSpPr>
        <p:spPr>
          <a:xfrm xmlns:a="http://schemas.openxmlformats.org/drawingml/2006/main">
            <a:off x="2743200" y="3257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01  Prototype</a:t>
            </a:r>
          </a:p>
        </p:txBody>
      </p:sp>
      <p:sp>
        <p:nvSpPr>
          <p:cNvPr id="13" name="02  Controlled validation">
            <a:extLst xmlns:a="http://schemas.openxmlformats.org/drawingml/2006/main">
              <a:ext uri="{FF2B5EF4-FFF2-40B4-BE49-F238E27FC236}">
                <a16:creationId xmlns:a16="http://schemas.microsoft.com/office/drawing/2014/main" id="{0B877FDF-8775-4EDC-BA59-6820E6777E81}"/>
              </a:ext>
            </a:extLst>
          </p:cNvPr>
          <p:cNvSpPr>
            <a:spLocks xmlns:a="http://schemas.openxmlformats.org/drawingml/2006/main" noGrp="1"/>
          </p:cNvSpPr>
          <p:nvPr/>
        </p:nvSpPr>
        <p:spPr>
          <a:xfrm xmlns:a="http://schemas.openxmlformats.org/drawingml/2006/main">
            <a:off x="5324475" y="325755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02  Controlled validation</a:t>
            </a:r>
          </a:p>
        </p:txBody>
      </p:sp>
      <p:sp>
        <p:nvSpPr>
          <p:cNvPr id="14" name="03  Phased rollout">
            <a:extLst xmlns:a="http://schemas.openxmlformats.org/drawingml/2006/main">
              <a:ext uri="{FF2B5EF4-FFF2-40B4-BE49-F238E27FC236}">
                <a16:creationId xmlns:a16="http://schemas.microsoft.com/office/drawing/2014/main" id="{A6A98361-1D68-4DCA-A550-23CAA19F6EE2}"/>
              </a:ext>
            </a:extLst>
          </p:cNvPr>
          <p:cNvSpPr>
            <a:spLocks xmlns:a="http://schemas.openxmlformats.org/drawingml/2006/main" noGrp="1"/>
          </p:cNvSpPr>
          <p:nvPr/>
        </p:nvSpPr>
        <p:spPr>
          <a:xfrm xmlns:a="http://schemas.openxmlformats.org/drawingml/2006/main">
            <a:off x="9182100" y="3257550"/>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B43"/>
                </a:solidFill>
                <a:latin typeface="Avenir Next"/>
                <a:ea typeface="Avenir Next"/>
                <a:cs typeface="Avenir Next"/>
              </a:defRPr>
            </a:defPPr>
            <a:lvl1pPr algn="l">
              <a:defRPr sz="1725" b="1">
                <a:solidFill>
                  <a:srgbClr val="142B43"/>
                </a:solidFill>
                <a:latin typeface="Avenir Next"/>
                <a:ea typeface="Avenir Next"/>
                <a:cs typeface="Avenir Next"/>
              </a:defRPr>
            </a:lvl1pPr>
            <a:lvl2pPr algn="l">
              <a:defRPr sz="1725" b="1">
                <a:solidFill>
                  <a:srgbClr val="142B43"/>
                </a:solidFill>
                <a:latin typeface="Avenir Next"/>
                <a:ea typeface="Avenir Next"/>
                <a:cs typeface="Avenir Next"/>
              </a:defRPr>
            </a:lvl2pPr>
            <a:lvl3pPr algn="l">
              <a:defRPr sz="1725" b="1">
                <a:solidFill>
                  <a:srgbClr val="142B43"/>
                </a:solidFill>
                <a:latin typeface="Avenir Next"/>
                <a:ea typeface="Avenir Next"/>
                <a:cs typeface="Avenir Next"/>
              </a:defRPr>
            </a:lvl3pPr>
            <a:lvl4pPr algn="l">
              <a:defRPr sz="1725" b="1">
                <a:solidFill>
                  <a:srgbClr val="142B43"/>
                </a:solidFill>
                <a:latin typeface="Avenir Next"/>
                <a:ea typeface="Avenir Next"/>
                <a:cs typeface="Avenir Next"/>
              </a:defRPr>
            </a:lvl4pPr>
            <a:lvl5pPr algn="l">
              <a:defRPr sz="1725" b="1">
                <a:solidFill>
                  <a:srgbClr val="142B43"/>
                </a:solidFill>
                <a:latin typeface="Avenir Next"/>
                <a:ea typeface="Avenir Next"/>
                <a:cs typeface="Avenir Next"/>
              </a:defRPr>
            </a:lvl5pPr>
            <a:lvl6pPr algn="l">
              <a:defRPr sz="1725" b="1">
                <a:solidFill>
                  <a:srgbClr val="142B43"/>
                </a:solidFill>
                <a:latin typeface="Avenir Next"/>
                <a:ea typeface="Avenir Next"/>
                <a:cs typeface="Avenir Next"/>
              </a:defRPr>
            </a:lvl6pPr>
            <a:lvl7pPr algn="l">
              <a:defRPr sz="1725" b="1">
                <a:solidFill>
                  <a:srgbClr val="142B43"/>
                </a:solidFill>
                <a:latin typeface="Avenir Next"/>
                <a:ea typeface="Avenir Next"/>
                <a:cs typeface="Avenir Next"/>
              </a:defRPr>
            </a:lvl7pPr>
            <a:lvl8pPr algn="l">
              <a:defRPr sz="1725" b="1">
                <a:solidFill>
                  <a:srgbClr val="142B43"/>
                </a:solidFill>
                <a:latin typeface="Avenir Next"/>
                <a:ea typeface="Avenir Next"/>
                <a:cs typeface="Avenir Next"/>
              </a:defRPr>
            </a:lvl8pPr>
            <a:lvl9pPr algn="l">
              <a:defRPr sz="1725" b="1">
                <a:solidFill>
                  <a:srgbClr val="142B43"/>
                </a:solidFill>
                <a:latin typeface="Avenir Next"/>
                <a:ea typeface="Avenir Next"/>
                <a:cs typeface="Avenir Next"/>
              </a:defRPr>
            </a:lvl9pPr>
          </a:lstStyle>
          <a:p xmlns:a="http://schemas.openxmlformats.org/drawingml/2006/main">
            <a:pPr algn="l">
              <a:defRPr sz="1725" b="1">
                <a:solidFill>
                  <a:srgbClr val="142B43"/>
                </a:solidFill>
                <a:latin typeface="Avenir Next"/>
                <a:ea typeface="Avenir Next"/>
                <a:cs typeface="Avenir Next"/>
              </a:defRPr>
            </a:pPr>
            <a:r>
              <a:rPr sz="1725" b="1">
                <a:solidFill>
                  <a:srgbClr val="142B43"/>
                </a:solidFill>
                <a:latin typeface="Avenir Next"/>
                <a:ea typeface="Avenir Next"/>
                <a:cs typeface="Avenir Next"/>
              </a:rPr>
              <a:t>03  Phased rollout</a:t>
            </a:r>
          </a:p>
        </p:txBody>
      </p:sp>
      <p:graphicFrame>
        <p:nvGraphicFramePr>
          <p:cNvPr id="15" name="">
            <a:extLst xmlns:a="http://schemas.openxmlformats.org/drawingml/2006/main">
              <a:ext uri="{FF2B5EF4-FFF2-40B4-BE49-F238E27FC236}">
                <a16:creationId xmlns:a16="http://schemas.microsoft.com/office/drawing/2014/main" id="{7AC118C3-052D-438D-8F80-86B1FE0C13BD}"/>
              </a:ext>
            </a:extLst>
          </p:cNvPr>
          <p:cNvGraphicFramePr/>
          <p:nvPr/>
        </p:nvGraphicFramePr>
        <p:xfrm>
          <a:off xmlns:a="http://schemas.openxmlformats.org/drawingml/2006/main" x="514350" y="3790950"/>
          <a:ext xmlns:a="http://schemas.openxmlformats.org/drawingml/2006/main" cx="11163300" cy="1905000"/>
        </p:xfrm>
        <a:graphic xmlns:a="http://schemas.openxmlformats.org/drawingml/2006/main">
          <a:graphicData uri="http://schemas.openxmlformats.org/drawingml/2006/table">
            <a:tbl>
              <a:tblPr/>
              <a:tblGrid>
                <a:gridCol w="1866900"/>
                <a:gridCol w="3476625"/>
                <a:gridCol w="5819775"/>
              </a:tblGrid>
              <a:tr h="317500">
                <a:tc>
                  <a:txBody>
                    <a:bodyPr lIns="85725" tIns="38100" rIns="85725" bIns="38100"/>
                    <a:lstStyle/>
                    <a:p>
                      <a:pPr algn="l"/>
                      <a:r>
                        <a:rPr sz="1290" b="1">
                          <a:solidFill>
                            <a:srgbClr val="142B43"/>
                          </a:solidFill>
                          <a:latin typeface="Avenir Next"/>
                          <a:ea typeface="Avenir Next"/>
                          <a:cs typeface="Avenir Next"/>
                        </a:rPr>
                        <a:t>Challenge</a:t>
                      </a:r>
                    </a:p>
                  </a:txBody>
                  <a:tcPr marL="91440" marR="91440" marT="45720" marB="45720" anchor="ctr">
                    <a:lnL w="6668">
                      <a:solidFill>
                        <a:srgbClr val="D6DDDF"/>
                      </a:solidFill>
                      <a:prstDash val="solid"/>
                    </a:lnL>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290" b="1">
                          <a:solidFill>
                            <a:srgbClr val="142B43"/>
                          </a:solidFill>
                          <a:latin typeface="Avenir Next"/>
                          <a:ea typeface="Avenir Next"/>
                          <a:cs typeface="Avenir Next"/>
                        </a:rPr>
                        <a:t>Site reality</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c>
                  <a:txBody>
                    <a:bodyPr lIns="85725" tIns="38100" rIns="85725" bIns="38100"/>
                    <a:lstStyle/>
                    <a:p>
                      <a:pPr algn="l"/>
                      <a:r>
                        <a:rPr sz="1290" b="1">
                          <a:solidFill>
                            <a:srgbClr val="142B43"/>
                          </a:solidFill>
                          <a:latin typeface="Avenir Next"/>
                          <a:ea typeface="Avenir Next"/>
                          <a:cs typeface="Avenir Next"/>
                        </a:rPr>
                        <a:t>Response</a:t>
                      </a:r>
                    </a:p>
                  </a:txBody>
                  <a:tcPr marL="91440" marR="91440" marT="45720" marB="45720" anchor="ctr">
                    <a:lnR w="6668">
                      <a:solidFill>
                        <a:srgbClr val="D6DDDF"/>
                      </a:solidFill>
                      <a:prstDash val="solid"/>
                    </a:lnR>
                    <a:lnT w="6668">
                      <a:solidFill>
                        <a:srgbClr val="D6DDDF"/>
                      </a:solidFill>
                      <a:prstDash val="solid"/>
                    </a:lnT>
                    <a:lnB w="6668">
                      <a:solidFill>
                        <a:srgbClr val="D6DDDF"/>
                      </a:solidFill>
                      <a:prstDash val="solid"/>
                    </a:lnB>
                    <a:solidFill>
                      <a:srgbClr val="DCE7EB"/>
                    </a:solidFill>
                  </a:tcPr>
                </a:tc>
              </a:tr>
              <a:tr h="317500">
                <a:tc>
                  <a:txBody>
                    <a:bodyPr lIns="85725" tIns="38100" rIns="85725" bIns="38100"/>
                    <a:lstStyle/>
                    <a:p>
                      <a:pPr algn="l"/>
                      <a:r>
                        <a:rPr sz="1290" b="0">
                          <a:solidFill>
                            <a:srgbClr val="142B43"/>
                          </a:solidFill>
                          <a:latin typeface="Avenir Next"/>
                          <a:ea typeface="Avenir Next"/>
                          <a:cs typeface="Avenir Next"/>
                        </a:rPr>
                        <a:t>Connectivity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Industrial dead zones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Local SQLite logging and offline caching</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Privacy</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Exposure and shift histories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Planned on-device encryption and role-based access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Integration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Legacy safety workflows</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Plant partners and standard template exports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Adoption</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A new chemical-patch workflow</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Guided onboarding and visual colour cues</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r h="317500">
                <a:tc>
                  <a:txBody>
                    <a:bodyPr lIns="85725" tIns="38100" rIns="85725" bIns="38100"/>
                    <a:lstStyle/>
                    <a:p>
                      <a:pPr algn="l"/>
                      <a:r>
                        <a:rPr sz="1290" b="0">
                          <a:solidFill>
                            <a:srgbClr val="142B43"/>
                          </a:solidFill>
                          <a:latin typeface="Avenir Next"/>
                          <a:ea typeface="Avenir Next"/>
                          <a:cs typeface="Avenir Next"/>
                        </a:rPr>
                        <a:t>Durability / cost</a:t>
                      </a:r>
                    </a:p>
                  </a:txBody>
                  <a:tcPr marL="91440" marR="91440" marT="45720" marB="45720" anchor="ctr">
                    <a:lnL w="6668">
                      <a:solidFill>
                        <a:srgbClr val="D6DDDF"/>
                      </a:solidFill>
                      <a:prstDash val="solid"/>
                    </a:lnL>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Wear and price sensitivity</a:t>
                      </a:r>
                    </a:p>
                  </a:txBody>
                  <a:tcPr marL="91440" marR="91440" marT="45720" marB="45720" anchor="ctr">
                    <a:lnR w="6668">
                      <a:solidFill>
                        <a:srgbClr val="D6DDDF"/>
                      </a:solidFill>
                      <a:prstDash val="solid"/>
                    </a:lnR>
                    <a:lnB w="6668">
                      <a:solidFill>
                        <a:srgbClr val="D6DDDF"/>
                      </a:solidFill>
                      <a:prstDash val="solid"/>
                    </a:lnB>
                    <a:solidFill>
                      <a:srgbClr val="F5F2EA"/>
                    </a:solidFill>
                  </a:tcPr>
                </a:tc>
                <a:tc>
                  <a:txBody>
                    <a:bodyPr lIns="85725" tIns="38100" rIns="85725" bIns="38100"/>
                    <a:lstStyle/>
                    <a:p>
                      <a:pPr algn="l"/>
                      <a:r>
                        <a:rPr sz="1290" b="0">
                          <a:solidFill>
                            <a:srgbClr val="142B43"/>
                          </a:solidFill>
                          <a:latin typeface="Avenir Next"/>
                          <a:ea typeface="Avenir Next"/>
                          <a:cs typeface="Avenir Next"/>
                        </a:rPr>
                        <a:t>Reusable body for harsh use; disposable cost option</a:t>
                      </a:r>
                    </a:p>
                  </a:txBody>
                  <a:tcPr marL="91440" marR="91440" marT="45720" marB="45720" anchor="ctr">
                    <a:lnR w="6668">
                      <a:solidFill>
                        <a:srgbClr val="D6DDDF"/>
                      </a:solidFill>
                      <a:prstDash val="solid"/>
                    </a:lnR>
                    <a:lnB w="6668">
                      <a:solidFill>
                        <a:srgbClr val="D6DDDF"/>
                      </a:solidFill>
                      <a:prstDash val="solid"/>
                    </a:lnB>
                    <a:solidFill>
                      <a:srgbClr val="F5F2EA"/>
                    </a:solidFill>
                  </a:tcPr>
                </a:tc>
              </a:tr>
            </a:tbl>
          </a:graphicData>
        </a:graphic>
      </p:graphicFrame>
      <p:sp>
        <p:nvSpPr>
          <p:cNvPr id="16" name="KHOJ demonstration">
            <a:extLst xmlns:a="http://schemas.openxmlformats.org/drawingml/2006/main">
              <a:ext uri="{FF2B5EF4-FFF2-40B4-BE49-F238E27FC236}">
                <a16:creationId xmlns:a16="http://schemas.microsoft.com/office/drawing/2014/main" id="{F59B6991-2EA0-48E6-9C79-4CCD4B5DD9A1}"/>
              </a:ext>
            </a:extLst>
          </p:cNvPr>
          <p:cNvSpPr>
            <a:spLocks xmlns:a="http://schemas.openxmlformats.org/drawingml/2006/main" noGrp="1"/>
          </p:cNvSpPr>
          <p:nvPr/>
        </p:nvSpPr>
        <p:spPr>
          <a:xfrm xmlns:a="http://schemas.openxmlformats.org/drawingml/2006/main">
            <a:off x="514350" y="5905500"/>
            <a:ext cx="2619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363DA"/>
                </a:solidFill>
                <a:latin typeface="Avenir Next"/>
                <a:ea typeface="Avenir Next"/>
                <a:cs typeface="Avenir Next"/>
              </a:defRPr>
            </a:defPPr>
            <a:lvl1pPr algn="l">
              <a:defRPr sz="1575" b="1">
                <a:solidFill>
                  <a:srgbClr val="2363DA"/>
                </a:solidFill>
                <a:latin typeface="Avenir Next"/>
                <a:ea typeface="Avenir Next"/>
                <a:cs typeface="Avenir Next"/>
              </a:defRPr>
            </a:lvl1pPr>
            <a:lvl2pPr algn="l">
              <a:defRPr sz="1575" b="1">
                <a:solidFill>
                  <a:srgbClr val="2363DA"/>
                </a:solidFill>
                <a:latin typeface="Avenir Next"/>
                <a:ea typeface="Avenir Next"/>
                <a:cs typeface="Avenir Next"/>
              </a:defRPr>
            </a:lvl2pPr>
            <a:lvl3pPr algn="l">
              <a:defRPr sz="1575" b="1">
                <a:solidFill>
                  <a:srgbClr val="2363DA"/>
                </a:solidFill>
                <a:latin typeface="Avenir Next"/>
                <a:ea typeface="Avenir Next"/>
                <a:cs typeface="Avenir Next"/>
              </a:defRPr>
            </a:lvl3pPr>
            <a:lvl4pPr algn="l">
              <a:defRPr sz="1575" b="1">
                <a:solidFill>
                  <a:srgbClr val="2363DA"/>
                </a:solidFill>
                <a:latin typeface="Avenir Next"/>
                <a:ea typeface="Avenir Next"/>
                <a:cs typeface="Avenir Next"/>
              </a:defRPr>
            </a:lvl4pPr>
            <a:lvl5pPr algn="l">
              <a:defRPr sz="1575" b="1">
                <a:solidFill>
                  <a:srgbClr val="2363DA"/>
                </a:solidFill>
                <a:latin typeface="Avenir Next"/>
                <a:ea typeface="Avenir Next"/>
                <a:cs typeface="Avenir Next"/>
              </a:defRPr>
            </a:lvl5pPr>
            <a:lvl6pPr algn="l">
              <a:defRPr sz="1575" b="1">
                <a:solidFill>
                  <a:srgbClr val="2363DA"/>
                </a:solidFill>
                <a:latin typeface="Avenir Next"/>
                <a:ea typeface="Avenir Next"/>
                <a:cs typeface="Avenir Next"/>
              </a:defRPr>
            </a:lvl6pPr>
            <a:lvl7pPr algn="l">
              <a:defRPr sz="1575" b="1">
                <a:solidFill>
                  <a:srgbClr val="2363DA"/>
                </a:solidFill>
                <a:latin typeface="Avenir Next"/>
                <a:ea typeface="Avenir Next"/>
                <a:cs typeface="Avenir Next"/>
              </a:defRPr>
            </a:lvl7pPr>
            <a:lvl8pPr algn="l">
              <a:defRPr sz="1575" b="1">
                <a:solidFill>
                  <a:srgbClr val="2363DA"/>
                </a:solidFill>
                <a:latin typeface="Avenir Next"/>
                <a:ea typeface="Avenir Next"/>
                <a:cs typeface="Avenir Next"/>
              </a:defRPr>
            </a:lvl8pPr>
            <a:lvl9pPr algn="l">
              <a:defRPr sz="1575" b="1">
                <a:solidFill>
                  <a:srgbClr val="2363DA"/>
                </a:solidFill>
                <a:latin typeface="Avenir Next"/>
                <a:ea typeface="Avenir Next"/>
                <a:cs typeface="Avenir Next"/>
              </a:defRPr>
            </a:lvl9pPr>
          </a:lstStyle>
          <a:p xmlns:a="http://schemas.openxmlformats.org/drawingml/2006/main">
            <a:pPr algn="l">
              <a:defRPr sz="1575" b="1">
                <a:solidFill>
                  <a:srgbClr val="2363DA"/>
                </a:solidFill>
                <a:latin typeface="Avenir Next"/>
                <a:ea typeface="Avenir Next"/>
                <a:cs typeface="Avenir Next"/>
              </a:defRPr>
            </a:pPr>
            <a:r>
              <a:rPr sz="1575" b="1">
                <a:solidFill>
                  <a:srgbClr val="2363DA"/>
                </a:solidFill>
                <a:latin typeface="Avenir Next"/>
                <a:ea typeface="Avenir Next"/>
                <a:cs typeface="Avenir Next"/>
              </a:rPr>
              <a:t>KHOJ demonstration</a:t>
            </a:r>
          </a:p>
        </p:txBody>
      </p:sp>
      <p:sp>
        <p:nvSpPr>
          <p:cNvPr id="17" name="Scan prepared colour samples, show an invalid-band/retry path, then op">
            <a:extLst xmlns:a="http://schemas.openxmlformats.org/drawingml/2006/main">
              <a:ext uri="{FF2B5EF4-FFF2-40B4-BE49-F238E27FC236}">
                <a16:creationId xmlns:a16="http://schemas.microsoft.com/office/drawing/2014/main" id="{4CCFF076-3B36-4BD5-ADB1-AC06580616DD}"/>
              </a:ext>
            </a:extLst>
          </p:cNvPr>
          <p:cNvSpPr>
            <a:spLocks xmlns:a="http://schemas.openxmlformats.org/drawingml/2006/main" noGrp="1"/>
          </p:cNvSpPr>
          <p:nvPr/>
        </p:nvSpPr>
        <p:spPr>
          <a:xfrm xmlns:a="http://schemas.openxmlformats.org/drawingml/2006/main">
            <a:off x="3162300" y="5895975"/>
            <a:ext cx="8515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42B43"/>
                </a:solidFill>
                <a:latin typeface="Avenir Next"/>
                <a:ea typeface="Avenir Next"/>
                <a:cs typeface="Avenir Next"/>
              </a:defRPr>
            </a:defPPr>
            <a:lvl1pPr algn="l">
              <a:defRPr sz="1425" b="0">
                <a:solidFill>
                  <a:srgbClr val="142B43"/>
                </a:solidFill>
                <a:latin typeface="Avenir Next"/>
                <a:ea typeface="Avenir Next"/>
                <a:cs typeface="Avenir Next"/>
              </a:defRPr>
            </a:lvl1pPr>
            <a:lvl2pPr algn="l">
              <a:defRPr sz="1425" b="0">
                <a:solidFill>
                  <a:srgbClr val="142B43"/>
                </a:solidFill>
                <a:latin typeface="Avenir Next"/>
                <a:ea typeface="Avenir Next"/>
                <a:cs typeface="Avenir Next"/>
              </a:defRPr>
            </a:lvl2pPr>
            <a:lvl3pPr algn="l">
              <a:defRPr sz="1425" b="0">
                <a:solidFill>
                  <a:srgbClr val="142B43"/>
                </a:solidFill>
                <a:latin typeface="Avenir Next"/>
                <a:ea typeface="Avenir Next"/>
                <a:cs typeface="Avenir Next"/>
              </a:defRPr>
            </a:lvl3pPr>
            <a:lvl4pPr algn="l">
              <a:defRPr sz="1425" b="0">
                <a:solidFill>
                  <a:srgbClr val="142B43"/>
                </a:solidFill>
                <a:latin typeface="Avenir Next"/>
                <a:ea typeface="Avenir Next"/>
                <a:cs typeface="Avenir Next"/>
              </a:defRPr>
            </a:lvl4pPr>
            <a:lvl5pPr algn="l">
              <a:defRPr sz="1425" b="0">
                <a:solidFill>
                  <a:srgbClr val="142B43"/>
                </a:solidFill>
                <a:latin typeface="Avenir Next"/>
                <a:ea typeface="Avenir Next"/>
                <a:cs typeface="Avenir Next"/>
              </a:defRPr>
            </a:lvl5pPr>
            <a:lvl6pPr algn="l">
              <a:defRPr sz="1425" b="0">
                <a:solidFill>
                  <a:srgbClr val="142B43"/>
                </a:solidFill>
                <a:latin typeface="Avenir Next"/>
                <a:ea typeface="Avenir Next"/>
                <a:cs typeface="Avenir Next"/>
              </a:defRPr>
            </a:lvl6pPr>
            <a:lvl7pPr algn="l">
              <a:defRPr sz="1425" b="0">
                <a:solidFill>
                  <a:srgbClr val="142B43"/>
                </a:solidFill>
                <a:latin typeface="Avenir Next"/>
                <a:ea typeface="Avenir Next"/>
                <a:cs typeface="Avenir Next"/>
              </a:defRPr>
            </a:lvl7pPr>
            <a:lvl8pPr algn="l">
              <a:defRPr sz="1425" b="0">
                <a:solidFill>
                  <a:srgbClr val="142B43"/>
                </a:solidFill>
                <a:latin typeface="Avenir Next"/>
                <a:ea typeface="Avenir Next"/>
                <a:cs typeface="Avenir Next"/>
              </a:defRPr>
            </a:lvl8pPr>
            <a:lvl9pPr algn="l">
              <a:defRPr sz="1425" b="0">
                <a:solidFill>
                  <a:srgbClr val="142B43"/>
                </a:solidFill>
                <a:latin typeface="Avenir Next"/>
                <a:ea typeface="Avenir Next"/>
                <a:cs typeface="Avenir Next"/>
              </a:defRPr>
            </a:lvl9pPr>
          </a:lstStyle>
          <a:p xmlns:a="http://schemas.openxmlformats.org/drawingml/2006/main">
            <a:pPr algn="l">
              <a:defRPr sz="1425" b="0">
                <a:solidFill>
                  <a:srgbClr val="142B43"/>
                </a:solidFill>
                <a:latin typeface="Avenir Next"/>
                <a:ea typeface="Avenir Next"/>
                <a:cs typeface="Avenir Next"/>
              </a:defRPr>
            </a:pPr>
            <a:r>
              <a:rPr sz="1425" b="0">
                <a:solidFill>
                  <a:srgbClr val="142B43"/>
                </a:solidFill>
                <a:latin typeface="Avenir Next"/>
                <a:ea typeface="Avenir Next"/>
                <a:cs typeface="Avenir Next"/>
              </a:rPr>
              <a:t>Scan prepared colour samples, show an invalid-band/retry path, then open local history. No live H₂S.</a:t>
            </a:r>
          </a:p>
        </p:txBody>
      </p:sp>
      <p:sp>
        <p:nvSpPr>
          <p:cNvPr id="18" name="Impact is proposed, not measured. Pilot gates: calibration and stabili">
            <a:extLst xmlns:a="http://schemas.openxmlformats.org/drawingml/2006/main">
              <a:ext uri="{FF2B5EF4-FFF2-40B4-BE49-F238E27FC236}">
                <a16:creationId xmlns:a16="http://schemas.microsoft.com/office/drawing/2014/main" id="{86F28CEB-7F68-4E76-A37E-4F0DF4827A45}"/>
              </a:ext>
            </a:extLst>
          </p:cNvPr>
          <p:cNvSpPr>
            <a:spLocks xmlns:a="http://schemas.openxmlformats.org/drawingml/2006/main" noGrp="1"/>
          </p:cNvSpPr>
          <p:nvPr/>
        </p:nvSpPr>
        <p:spPr>
          <a:xfrm xmlns:a="http://schemas.openxmlformats.org/drawingml/2006/main">
            <a:off x="514350" y="6419850"/>
            <a:ext cx="10620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 b="0">
                <a:solidFill>
                  <a:srgbClr val="526574"/>
                </a:solidFill>
                <a:latin typeface="Avenir Next"/>
                <a:ea typeface="Avenir Next"/>
                <a:cs typeface="Avenir Next"/>
              </a:defRPr>
            </a:defPPr>
            <a:lvl1pPr algn="l">
              <a:defRPr sz="960" b="0">
                <a:solidFill>
                  <a:srgbClr val="526574"/>
                </a:solidFill>
                <a:latin typeface="Avenir Next"/>
                <a:ea typeface="Avenir Next"/>
                <a:cs typeface="Avenir Next"/>
              </a:defRPr>
            </a:lvl1pPr>
            <a:lvl2pPr algn="l">
              <a:defRPr sz="960" b="0">
                <a:solidFill>
                  <a:srgbClr val="526574"/>
                </a:solidFill>
                <a:latin typeface="Avenir Next"/>
                <a:ea typeface="Avenir Next"/>
                <a:cs typeface="Avenir Next"/>
              </a:defRPr>
            </a:lvl2pPr>
            <a:lvl3pPr algn="l">
              <a:defRPr sz="960" b="0">
                <a:solidFill>
                  <a:srgbClr val="526574"/>
                </a:solidFill>
                <a:latin typeface="Avenir Next"/>
                <a:ea typeface="Avenir Next"/>
                <a:cs typeface="Avenir Next"/>
              </a:defRPr>
            </a:lvl3pPr>
            <a:lvl4pPr algn="l">
              <a:defRPr sz="960" b="0">
                <a:solidFill>
                  <a:srgbClr val="526574"/>
                </a:solidFill>
                <a:latin typeface="Avenir Next"/>
                <a:ea typeface="Avenir Next"/>
                <a:cs typeface="Avenir Next"/>
              </a:defRPr>
            </a:lvl4pPr>
            <a:lvl5pPr algn="l">
              <a:defRPr sz="960" b="0">
                <a:solidFill>
                  <a:srgbClr val="526574"/>
                </a:solidFill>
                <a:latin typeface="Avenir Next"/>
                <a:ea typeface="Avenir Next"/>
                <a:cs typeface="Avenir Next"/>
              </a:defRPr>
            </a:lvl5pPr>
            <a:lvl6pPr algn="l">
              <a:defRPr sz="960" b="0">
                <a:solidFill>
                  <a:srgbClr val="526574"/>
                </a:solidFill>
                <a:latin typeface="Avenir Next"/>
                <a:ea typeface="Avenir Next"/>
                <a:cs typeface="Avenir Next"/>
              </a:defRPr>
            </a:lvl6pPr>
            <a:lvl7pPr algn="l">
              <a:defRPr sz="960" b="0">
                <a:solidFill>
                  <a:srgbClr val="526574"/>
                </a:solidFill>
                <a:latin typeface="Avenir Next"/>
                <a:ea typeface="Avenir Next"/>
                <a:cs typeface="Avenir Next"/>
              </a:defRPr>
            </a:lvl7pPr>
            <a:lvl8pPr algn="l">
              <a:defRPr sz="960" b="0">
                <a:solidFill>
                  <a:srgbClr val="526574"/>
                </a:solidFill>
                <a:latin typeface="Avenir Next"/>
                <a:ea typeface="Avenir Next"/>
                <a:cs typeface="Avenir Next"/>
              </a:defRPr>
            </a:lvl8pPr>
            <a:lvl9pPr algn="l">
              <a:defRPr sz="960" b="0">
                <a:solidFill>
                  <a:srgbClr val="526574"/>
                </a:solidFill>
                <a:latin typeface="Avenir Next"/>
                <a:ea typeface="Avenir Next"/>
                <a:cs typeface="Avenir Next"/>
              </a:defRPr>
            </a:lvl9pPr>
          </a:lstStyle>
          <a:p xmlns:a="http://schemas.openxmlformats.org/drawingml/2006/main">
            <a:pPr algn="l">
              <a:defRPr sz="960" b="0">
                <a:solidFill>
                  <a:srgbClr val="526574"/>
                </a:solidFill>
                <a:latin typeface="Avenir Next"/>
                <a:ea typeface="Avenir Next"/>
                <a:cs typeface="Avenir Next"/>
              </a:defRPr>
            </a:pPr>
            <a:r>
              <a:rPr sz="960" b="0">
                <a:solidFill>
                  <a:srgbClr val="526574"/>
                </a:solidFill>
                <a:latin typeface="Avenir Next"/>
                <a:ea typeface="Avenir Next"/>
                <a:cs typeface="Avenir Next"/>
              </a:rPr>
              <a:t>Impact is proposed, not measured. Pilot gates: calibration and stability, held-out devices/batches, language review and EHS approval.</a:t>
            </a:r>
          </a:p>
        </p:txBody>
      </p:sp>
      <p:sp>
        <p:nvSpPr>
          <p:cNvPr id="19" name="05">
            <a:extLst xmlns:a="http://schemas.openxmlformats.org/drawingml/2006/main">
              <a:ext uri="{FF2B5EF4-FFF2-40B4-BE49-F238E27FC236}">
                <a16:creationId xmlns:a16="http://schemas.microsoft.com/office/drawing/2014/main" id="{CFE875A3-1074-4BEB-8944-4CACF0D26AFA}"/>
              </a:ext>
            </a:extLst>
          </p:cNvPr>
          <p:cNvSpPr>
            <a:spLocks xmlns:a="http://schemas.openxmlformats.org/drawingml/2006/main" noGrp="1"/>
          </p:cNvSpPr>
          <p:nvPr/>
        </p:nvSpPr>
        <p:spPr>
          <a:xfrm xmlns:a="http://schemas.openxmlformats.org/drawingml/2006/main">
            <a:off x="112014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26574"/>
                </a:solidFill>
                <a:latin typeface="Avenir Next"/>
                <a:ea typeface="Avenir Next"/>
                <a:cs typeface="Avenir Next"/>
              </a:defRPr>
            </a:defPPr>
            <a:lvl1pPr algn="r">
              <a:defRPr sz="1050" b="0">
                <a:solidFill>
                  <a:srgbClr val="526574"/>
                </a:solidFill>
                <a:latin typeface="Avenir Next"/>
                <a:ea typeface="Avenir Next"/>
                <a:cs typeface="Avenir Next"/>
              </a:defRPr>
            </a:lvl1pPr>
            <a:lvl2pPr algn="r">
              <a:defRPr sz="1050" b="0">
                <a:solidFill>
                  <a:srgbClr val="526574"/>
                </a:solidFill>
                <a:latin typeface="Avenir Next"/>
                <a:ea typeface="Avenir Next"/>
                <a:cs typeface="Avenir Next"/>
              </a:defRPr>
            </a:lvl2pPr>
            <a:lvl3pPr algn="r">
              <a:defRPr sz="1050" b="0">
                <a:solidFill>
                  <a:srgbClr val="526574"/>
                </a:solidFill>
                <a:latin typeface="Avenir Next"/>
                <a:ea typeface="Avenir Next"/>
                <a:cs typeface="Avenir Next"/>
              </a:defRPr>
            </a:lvl3pPr>
            <a:lvl4pPr algn="r">
              <a:defRPr sz="1050" b="0">
                <a:solidFill>
                  <a:srgbClr val="526574"/>
                </a:solidFill>
                <a:latin typeface="Avenir Next"/>
                <a:ea typeface="Avenir Next"/>
                <a:cs typeface="Avenir Next"/>
              </a:defRPr>
            </a:lvl4pPr>
            <a:lvl5pPr algn="r">
              <a:defRPr sz="1050" b="0">
                <a:solidFill>
                  <a:srgbClr val="526574"/>
                </a:solidFill>
                <a:latin typeface="Avenir Next"/>
                <a:ea typeface="Avenir Next"/>
                <a:cs typeface="Avenir Next"/>
              </a:defRPr>
            </a:lvl5pPr>
            <a:lvl6pPr algn="r">
              <a:defRPr sz="1050" b="0">
                <a:solidFill>
                  <a:srgbClr val="526574"/>
                </a:solidFill>
                <a:latin typeface="Avenir Next"/>
                <a:ea typeface="Avenir Next"/>
                <a:cs typeface="Avenir Next"/>
              </a:defRPr>
            </a:lvl6pPr>
            <a:lvl7pPr algn="r">
              <a:defRPr sz="1050" b="0">
                <a:solidFill>
                  <a:srgbClr val="526574"/>
                </a:solidFill>
                <a:latin typeface="Avenir Next"/>
                <a:ea typeface="Avenir Next"/>
                <a:cs typeface="Avenir Next"/>
              </a:defRPr>
            </a:lvl7pPr>
            <a:lvl8pPr algn="r">
              <a:defRPr sz="1050" b="0">
                <a:solidFill>
                  <a:srgbClr val="526574"/>
                </a:solidFill>
                <a:latin typeface="Avenir Next"/>
                <a:ea typeface="Avenir Next"/>
                <a:cs typeface="Avenir Next"/>
              </a:defRPr>
            </a:lvl8pPr>
            <a:lvl9pPr algn="r">
              <a:defRPr sz="1050" b="0">
                <a:solidFill>
                  <a:srgbClr val="526574"/>
                </a:solidFill>
                <a:latin typeface="Avenir Next"/>
                <a:ea typeface="Avenir Next"/>
                <a:cs typeface="Avenir Next"/>
              </a:defRPr>
            </a:lvl9pPr>
          </a:lstStyle>
          <a:p xmlns:a="http://schemas.openxmlformats.org/drawingml/2006/main">
            <a:pPr algn="r">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05</a:t>
            </a:r>
          </a:p>
        </p:txBody>
      </p:sp>
    </p:spTree>
    <p:extLst>
      <p:ext uri="{BB962C8B-B14F-4D97-AF65-F5344CB8AC3E}">
        <p14:creationId xmlns:p14="http://schemas.microsoft.com/office/powerpoint/2010/main" val="644061420"/>
      </p:ext>
    </p:extLst>
  </p:cSld>
</p:sld>
</file>

<file path=ppt/slides/slide6.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sp>
        <p:nvSpPr>
          <p:cNvPr id="30" name="Research and references">
            <a:extLst xmlns:a="http://schemas.openxmlformats.org/drawingml/2006/main">
              <a:ext uri="{FF2B5EF4-FFF2-40B4-BE49-F238E27FC236}">
                <a16:creationId xmlns:a16="http://schemas.microsoft.com/office/drawing/2014/main" id="{331E6E7F-E43D-4CE8-AE20-DB6D55DAAA3C}"/>
              </a:ext>
            </a:extLst>
          </p:cNvPr>
          <p:cNvSpPr>
            <a:spLocks xmlns:a="http://schemas.openxmlformats.org/drawingml/2006/main" noGrp="1"/>
          </p:cNvSpPr>
          <p:nvPr/>
        </p:nvSpPr>
        <p:spPr>
          <a:xfrm xmlns:a="http://schemas.openxmlformats.org/drawingml/2006/main">
            <a:off x="514350" y="409575"/>
            <a:ext cx="11163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Avenir Next"/>
                <a:ea typeface="Avenir Next"/>
                <a:cs typeface="Avenir Next"/>
              </a:defRPr>
            </a:defPPr>
            <a:lvl1pPr algn="l">
              <a:defRPr sz="3375" b="1">
                <a:solidFill>
                  <a:srgbClr val="FFFFFF"/>
                </a:solidFill>
                <a:latin typeface="Avenir Next"/>
                <a:ea typeface="Avenir Next"/>
                <a:cs typeface="Avenir Next"/>
              </a:defRPr>
            </a:lvl1pPr>
            <a:lvl2pPr algn="l">
              <a:defRPr sz="3375" b="1">
                <a:solidFill>
                  <a:srgbClr val="FFFFFF"/>
                </a:solidFill>
                <a:latin typeface="Avenir Next"/>
                <a:ea typeface="Avenir Next"/>
                <a:cs typeface="Avenir Next"/>
              </a:defRPr>
            </a:lvl2pPr>
            <a:lvl3pPr algn="l">
              <a:defRPr sz="3375" b="1">
                <a:solidFill>
                  <a:srgbClr val="FFFFFF"/>
                </a:solidFill>
                <a:latin typeface="Avenir Next"/>
                <a:ea typeface="Avenir Next"/>
                <a:cs typeface="Avenir Next"/>
              </a:defRPr>
            </a:lvl3pPr>
            <a:lvl4pPr algn="l">
              <a:defRPr sz="3375" b="1">
                <a:solidFill>
                  <a:srgbClr val="FFFFFF"/>
                </a:solidFill>
                <a:latin typeface="Avenir Next"/>
                <a:ea typeface="Avenir Next"/>
                <a:cs typeface="Avenir Next"/>
              </a:defRPr>
            </a:lvl4pPr>
            <a:lvl5pPr algn="l">
              <a:defRPr sz="3375" b="1">
                <a:solidFill>
                  <a:srgbClr val="FFFFFF"/>
                </a:solidFill>
                <a:latin typeface="Avenir Next"/>
                <a:ea typeface="Avenir Next"/>
                <a:cs typeface="Avenir Next"/>
              </a:defRPr>
            </a:lvl5pPr>
            <a:lvl6pPr algn="l">
              <a:defRPr sz="3375" b="1">
                <a:solidFill>
                  <a:srgbClr val="FFFFFF"/>
                </a:solidFill>
                <a:latin typeface="Avenir Next"/>
                <a:ea typeface="Avenir Next"/>
                <a:cs typeface="Avenir Next"/>
              </a:defRPr>
            </a:lvl6pPr>
            <a:lvl7pPr algn="l">
              <a:defRPr sz="3375" b="1">
                <a:solidFill>
                  <a:srgbClr val="FFFFFF"/>
                </a:solidFill>
                <a:latin typeface="Avenir Next"/>
                <a:ea typeface="Avenir Next"/>
                <a:cs typeface="Avenir Next"/>
              </a:defRPr>
            </a:lvl7pPr>
            <a:lvl8pPr algn="l">
              <a:defRPr sz="3375" b="1">
                <a:solidFill>
                  <a:srgbClr val="FFFFFF"/>
                </a:solidFill>
                <a:latin typeface="Avenir Next"/>
                <a:ea typeface="Avenir Next"/>
                <a:cs typeface="Avenir Next"/>
              </a:defRPr>
            </a:lvl8pPr>
            <a:lvl9pPr algn="l">
              <a:defRPr sz="3375" b="1">
                <a:solidFill>
                  <a:srgbClr val="FFFFFF"/>
                </a:solidFill>
                <a:latin typeface="Avenir Next"/>
                <a:ea typeface="Avenir Next"/>
                <a:cs typeface="Avenir Next"/>
              </a:defRPr>
            </a:lvl9pPr>
          </a:lstStyle>
          <a:p xmlns:a="http://schemas.openxmlformats.org/drawingml/2006/main">
            <a:pPr algn="l">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Research and references</a:t>
            </a:r>
          </a:p>
        </p:txBody>
      </p:sp>
      <p:sp>
        <p:nvSpPr>
          <p:cNvPr id="2" name="[1] Austigard, Å. &amp; Smedbold, H.T. (2022).">
            <a:extLst xmlns:a="http://schemas.openxmlformats.org/drawingml/2006/main">
              <a:ext uri="{FF2B5EF4-FFF2-40B4-BE49-F238E27FC236}">
                <a16:creationId xmlns:a16="http://schemas.microsoft.com/office/drawing/2014/main" id="{13DA9C8B-E53F-4DBC-8114-B6DDA5B66375}"/>
              </a:ext>
            </a:extLst>
          </p:cNvPr>
          <p:cNvSpPr>
            <a:spLocks xmlns:a="http://schemas.openxmlformats.org/drawingml/2006/main" noGrp="1"/>
          </p:cNvSpPr>
          <p:nvPr/>
        </p:nvSpPr>
        <p:spPr>
          <a:xfrm xmlns:a="http://schemas.openxmlformats.org/drawingml/2006/main">
            <a:off x="514350" y="12858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[1] Austigard, Å. &amp; Smedbold, H.T. (2022).</a:t>
            </a:r>
          </a:p>
        </p:txBody>
      </p:sp>
      <p:sp>
        <p:nvSpPr>
          <p:cNvPr id="3" name="Hydrogen Sulphide (H₂S) Exposure Hazard Assessment: An Algorithm for G">
            <a:extLst xmlns:a="http://schemas.openxmlformats.org/drawingml/2006/main">
              <a:ext uri="{FF2B5EF4-FFF2-40B4-BE49-F238E27FC236}">
                <a16:creationId xmlns:a16="http://schemas.microsoft.com/office/drawing/2014/main" id="{82C6A08F-2089-4B79-BBC2-FBA3476BCAF7}"/>
              </a:ext>
            </a:extLst>
          </p:cNvPr>
          <p:cNvSpPr>
            <a:spLocks xmlns:a="http://schemas.openxmlformats.org/drawingml/2006/main" noGrp="1"/>
          </p:cNvSpPr>
          <p:nvPr/>
        </p:nvSpPr>
        <p:spPr>
          <a:xfrm xmlns:a="http://schemas.openxmlformats.org/drawingml/2006/main">
            <a:off x="514350" y="16192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Hydrogen Sulphide (H₂S) Exposure Hazard Assessment: An Algorithm for Generating Exposure Index Based on Direct Instrument Readings.</a:t>
            </a:r>
          </a:p>
        </p:txBody>
      </p:sp>
      <p:sp>
        <p:nvSpPr>
          <p:cNvPr id="4" name="Annals of Work Exposures and Health, 66(1), 124–129.">
            <a:extLst xmlns:a="http://schemas.openxmlformats.org/drawingml/2006/main">
              <a:ext uri="{FF2B5EF4-FFF2-40B4-BE49-F238E27FC236}">
                <a16:creationId xmlns:a16="http://schemas.microsoft.com/office/drawing/2014/main" id="{F513802B-149D-49B1-B705-B288C5B903C8}"/>
              </a:ext>
            </a:extLst>
          </p:cNvPr>
          <p:cNvSpPr>
            <a:spLocks xmlns:a="http://schemas.openxmlformats.org/drawingml/2006/main" noGrp="1"/>
          </p:cNvSpPr>
          <p:nvPr/>
        </p:nvSpPr>
        <p:spPr>
          <a:xfrm xmlns:a="http://schemas.openxmlformats.org/drawingml/2006/main">
            <a:off x="514350" y="2324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Annals of Work Exposures and Health, 66(1), 124–129.</a:t>
            </a:r>
          </a:p>
        </p:txBody>
      </p:sp>
      <p:sp>
        <p:nvSpPr>
          <p:cNvPr id="5" name="DOI: 10.1093/annweh/wxab047">
            <a:extLst xmlns:a="http://schemas.openxmlformats.org/drawingml/2006/main">
              <a:ext uri="{FF2B5EF4-FFF2-40B4-BE49-F238E27FC236}">
                <a16:creationId xmlns:a16="http://schemas.microsoft.com/office/drawing/2014/main" id="{B67254F5-F8F0-40D0-B6E2-7705DF66E836}"/>
              </a:ext>
            </a:extLst>
          </p:cNvPr>
          <p:cNvSpPr>
            <a:spLocks xmlns:a="http://schemas.openxmlformats.org/drawingml/2006/main" noGrp="1"/>
          </p:cNvSpPr>
          <p:nvPr/>
        </p:nvSpPr>
        <p:spPr>
          <a:xfrm xmlns:a="http://schemas.openxmlformats.org/drawingml/2006/main">
            <a:off x="514350" y="26479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e351abf578174a33"/>
              </a:rPr>
              <a:t>DOI: 10.1093/annweh/wxab047</a:t>
            </a:r>
          </a:p>
        </p:txBody>
      </p:sp>
      <p:sp>
        <p:nvSpPr>
          <p:cNvPr id="6" name="[2] Sarfraz, J. et al. (2019).">
            <a:extLst xmlns:a="http://schemas.openxmlformats.org/drawingml/2006/main">
              <a:ext uri="{FF2B5EF4-FFF2-40B4-BE49-F238E27FC236}">
                <a16:creationId xmlns:a16="http://schemas.microsoft.com/office/drawing/2014/main" id="{D7D5DFCF-27CD-429B-9163-640179E9A8BF}"/>
              </a:ext>
            </a:extLst>
          </p:cNvPr>
          <p:cNvSpPr>
            <a:spLocks xmlns:a="http://schemas.openxmlformats.org/drawingml/2006/main" noGrp="1"/>
          </p:cNvSpPr>
          <p:nvPr/>
        </p:nvSpPr>
        <p:spPr>
          <a:xfrm xmlns:a="http://schemas.openxmlformats.org/drawingml/2006/main">
            <a:off x="514350" y="29241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[2] Sarfraz, J. et al. (2019).</a:t>
            </a:r>
          </a:p>
        </p:txBody>
      </p:sp>
      <p:sp>
        <p:nvSpPr>
          <p:cNvPr id="7" name="Electro-Optical Gas Sensor Consisting of Nanostructured Paper Coating ">
            <a:extLst xmlns:a="http://schemas.openxmlformats.org/drawingml/2006/main">
              <a:ext uri="{FF2B5EF4-FFF2-40B4-BE49-F238E27FC236}">
                <a16:creationId xmlns:a16="http://schemas.microsoft.com/office/drawing/2014/main" id="{05E1644E-F35F-40F3-B98C-5131A5280165}"/>
              </a:ext>
            </a:extLst>
          </p:cNvPr>
          <p:cNvSpPr>
            <a:spLocks xmlns:a="http://schemas.openxmlformats.org/drawingml/2006/main" noGrp="1"/>
          </p:cNvSpPr>
          <p:nvPr/>
        </p:nvSpPr>
        <p:spPr>
          <a:xfrm xmlns:a="http://schemas.openxmlformats.org/drawingml/2006/main">
            <a:off x="514350" y="32575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Electro-Optical Gas Sensor Consisting of Nanostructured Paper Coating and an Ultrathin Sensing Element.</a:t>
            </a:r>
          </a:p>
        </p:txBody>
      </p:sp>
      <p:sp>
        <p:nvSpPr>
          <p:cNvPr id="8" name="Chemosensors, 7(2), 23.">
            <a:extLst xmlns:a="http://schemas.openxmlformats.org/drawingml/2006/main">
              <a:ext uri="{FF2B5EF4-FFF2-40B4-BE49-F238E27FC236}">
                <a16:creationId xmlns:a16="http://schemas.microsoft.com/office/drawing/2014/main" id="{786D7301-6D04-4CBB-A2D2-18ECAA01E169}"/>
              </a:ext>
            </a:extLst>
          </p:cNvPr>
          <p:cNvSpPr>
            <a:spLocks xmlns:a="http://schemas.openxmlformats.org/drawingml/2006/main" noGrp="1"/>
          </p:cNvSpPr>
          <p:nvPr/>
        </p:nvSpPr>
        <p:spPr>
          <a:xfrm xmlns:a="http://schemas.openxmlformats.org/drawingml/2006/main">
            <a:off x="514350" y="39624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Chemosensors, 7(2), 23.</a:t>
            </a:r>
          </a:p>
        </p:txBody>
      </p:sp>
      <p:sp>
        <p:nvSpPr>
          <p:cNvPr id="9" name="DOI: 10.3390/chemosensors7020023">
            <a:extLst xmlns:a="http://schemas.openxmlformats.org/drawingml/2006/main">
              <a:ext uri="{FF2B5EF4-FFF2-40B4-BE49-F238E27FC236}">
                <a16:creationId xmlns:a16="http://schemas.microsoft.com/office/drawing/2014/main" id="{4A747DBC-0AA6-4BA0-8D1D-4FFB94542271}"/>
              </a:ext>
            </a:extLst>
          </p:cNvPr>
          <p:cNvSpPr>
            <a:spLocks xmlns:a="http://schemas.openxmlformats.org/drawingml/2006/main" noGrp="1"/>
          </p:cNvSpPr>
          <p:nvPr/>
        </p:nvSpPr>
        <p:spPr>
          <a:xfrm xmlns:a="http://schemas.openxmlformats.org/drawingml/2006/main">
            <a:off x="514350" y="42862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cfbf38433043439f"/>
              </a:rPr>
              <a:t>DOI: 10.3390/chemosensors7020023</a:t>
            </a:r>
          </a:p>
        </p:txBody>
      </p:sp>
      <p:sp>
        <p:nvSpPr>
          <p:cNvPr id="10" name="[3] Quantitative, Colorimetric Paper Probe (2017).">
            <a:extLst xmlns:a="http://schemas.openxmlformats.org/drawingml/2006/main">
              <a:ext uri="{FF2B5EF4-FFF2-40B4-BE49-F238E27FC236}">
                <a16:creationId xmlns:a16="http://schemas.microsoft.com/office/drawing/2014/main" id="{3910FB5F-D86C-41CB-9C9F-1A3E47AC6DFE}"/>
              </a:ext>
            </a:extLst>
          </p:cNvPr>
          <p:cNvSpPr>
            <a:spLocks xmlns:a="http://schemas.openxmlformats.org/drawingml/2006/main" noGrp="1"/>
          </p:cNvSpPr>
          <p:nvPr/>
        </p:nvSpPr>
        <p:spPr>
          <a:xfrm xmlns:a="http://schemas.openxmlformats.org/drawingml/2006/main">
            <a:off x="514350" y="45624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[3] Quantitative, Colorimetric Paper Probe (2017).</a:t>
            </a:r>
          </a:p>
        </p:txBody>
      </p:sp>
      <p:sp>
        <p:nvSpPr>
          <p:cNvPr id="11" name="Quantitative, Colorimetric Paper Probe for Hydrogen Sulfide Gas.">
            <a:extLst xmlns:a="http://schemas.openxmlformats.org/drawingml/2006/main">
              <a:ext uri="{FF2B5EF4-FFF2-40B4-BE49-F238E27FC236}">
                <a16:creationId xmlns:a16="http://schemas.microsoft.com/office/drawing/2014/main" id="{FF2DFF00-8E18-4559-9DB3-FD68B9A67655}"/>
              </a:ext>
            </a:extLst>
          </p:cNvPr>
          <p:cNvSpPr>
            <a:spLocks xmlns:a="http://schemas.openxmlformats.org/drawingml/2006/main" noGrp="1"/>
          </p:cNvSpPr>
          <p:nvPr/>
        </p:nvSpPr>
        <p:spPr>
          <a:xfrm xmlns:a="http://schemas.openxmlformats.org/drawingml/2006/main">
            <a:off x="514350" y="48958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Quantitative, Colorimetric Paper Probe for Hydrogen Sulfide Gas.</a:t>
            </a:r>
          </a:p>
        </p:txBody>
      </p:sp>
      <p:sp>
        <p:nvSpPr>
          <p:cNvPr id="12" name="Sensors and Actuators B: Chemical, 253, 846–851.">
            <a:extLst xmlns:a="http://schemas.openxmlformats.org/drawingml/2006/main">
              <a:ext uri="{FF2B5EF4-FFF2-40B4-BE49-F238E27FC236}">
                <a16:creationId xmlns:a16="http://schemas.microsoft.com/office/drawing/2014/main" id="{055B3406-40C6-4712-99E1-C7BA4F077346}"/>
              </a:ext>
            </a:extLst>
          </p:cNvPr>
          <p:cNvSpPr>
            <a:spLocks xmlns:a="http://schemas.openxmlformats.org/drawingml/2006/main" noGrp="1"/>
          </p:cNvSpPr>
          <p:nvPr/>
        </p:nvSpPr>
        <p:spPr>
          <a:xfrm xmlns:a="http://schemas.openxmlformats.org/drawingml/2006/main">
            <a:off x="514350" y="56007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Sensors and Actuators B: Chemical, 253, 846–851.</a:t>
            </a:r>
          </a:p>
        </p:txBody>
      </p:sp>
      <p:sp>
        <p:nvSpPr>
          <p:cNvPr id="13" name="DOI: 10.1016/j.snb.2017.06.114">
            <a:extLst xmlns:a="http://schemas.openxmlformats.org/drawingml/2006/main">
              <a:ext uri="{FF2B5EF4-FFF2-40B4-BE49-F238E27FC236}">
                <a16:creationId xmlns:a16="http://schemas.microsoft.com/office/drawing/2014/main" id="{A040FF82-57E7-432C-AEC3-D720CED631DF}"/>
              </a:ext>
            </a:extLst>
          </p:cNvPr>
          <p:cNvSpPr>
            <a:spLocks xmlns:a="http://schemas.openxmlformats.org/drawingml/2006/main" noGrp="1"/>
          </p:cNvSpPr>
          <p:nvPr/>
        </p:nvSpPr>
        <p:spPr>
          <a:xfrm xmlns:a="http://schemas.openxmlformats.org/drawingml/2006/main">
            <a:off x="514350" y="59245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1e7fe70d27d0428e"/>
              </a:rPr>
              <a:t>DOI: 10.1016/j.snb.2017.06.114</a:t>
            </a:r>
          </a:p>
        </p:txBody>
      </p:sp>
      <p:sp>
        <p:nvSpPr>
          <p:cNvPr id="14" name="[4] Vargas, A.P. et al. (2021).">
            <a:extLst xmlns:a="http://schemas.openxmlformats.org/drawingml/2006/main">
              <a:ext uri="{FF2B5EF4-FFF2-40B4-BE49-F238E27FC236}">
                <a16:creationId xmlns:a16="http://schemas.microsoft.com/office/drawing/2014/main" id="{AB4E8308-B642-498D-A077-D87AD24B5508}"/>
              </a:ext>
            </a:extLst>
          </p:cNvPr>
          <p:cNvSpPr>
            <a:spLocks xmlns:a="http://schemas.openxmlformats.org/drawingml/2006/main" noGrp="1"/>
          </p:cNvSpPr>
          <p:nvPr/>
        </p:nvSpPr>
        <p:spPr>
          <a:xfrm xmlns:a="http://schemas.openxmlformats.org/drawingml/2006/main">
            <a:off x="6334125" y="12858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[4] Vargas, A.P. et al. (2021).</a:t>
            </a:r>
          </a:p>
        </p:txBody>
      </p:sp>
      <p:sp>
        <p:nvSpPr>
          <p:cNvPr id="15" name="A Paper-Based Ultrasensitive Optical Sensor for the Selective Detectio">
            <a:extLst xmlns:a="http://schemas.openxmlformats.org/drawingml/2006/main">
              <a:ext uri="{FF2B5EF4-FFF2-40B4-BE49-F238E27FC236}">
                <a16:creationId xmlns:a16="http://schemas.microsoft.com/office/drawing/2014/main" id="{845504F7-49AB-4AF0-9DE3-3783887EC6E0}"/>
              </a:ext>
            </a:extLst>
          </p:cNvPr>
          <p:cNvSpPr>
            <a:spLocks xmlns:a="http://schemas.openxmlformats.org/drawingml/2006/main" noGrp="1"/>
          </p:cNvSpPr>
          <p:nvPr/>
        </p:nvSpPr>
        <p:spPr>
          <a:xfrm xmlns:a="http://schemas.openxmlformats.org/drawingml/2006/main">
            <a:off x="6334125" y="16192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A Paper-Based Ultrasensitive Optical Sensor for the Selective Detection of H₂S Vapors.</a:t>
            </a:r>
          </a:p>
        </p:txBody>
      </p:sp>
      <p:sp>
        <p:nvSpPr>
          <p:cNvPr id="16" name="Chemosensors, 9(2), 40.">
            <a:extLst xmlns:a="http://schemas.openxmlformats.org/drawingml/2006/main">
              <a:ext uri="{FF2B5EF4-FFF2-40B4-BE49-F238E27FC236}">
                <a16:creationId xmlns:a16="http://schemas.microsoft.com/office/drawing/2014/main" id="{787B7387-0341-4BA3-ABEC-5F71D5A91DC8}"/>
              </a:ext>
            </a:extLst>
          </p:cNvPr>
          <p:cNvSpPr>
            <a:spLocks xmlns:a="http://schemas.openxmlformats.org/drawingml/2006/main" noGrp="1"/>
          </p:cNvSpPr>
          <p:nvPr/>
        </p:nvSpPr>
        <p:spPr>
          <a:xfrm xmlns:a="http://schemas.openxmlformats.org/drawingml/2006/main">
            <a:off x="6334125" y="2324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Chemosensors, 9(2), 40.</a:t>
            </a:r>
          </a:p>
        </p:txBody>
      </p:sp>
      <p:sp>
        <p:nvSpPr>
          <p:cNvPr id="17" name="DOI: 10.3390/chemosensors9020040">
            <a:extLst xmlns:a="http://schemas.openxmlformats.org/drawingml/2006/main">
              <a:ext uri="{FF2B5EF4-FFF2-40B4-BE49-F238E27FC236}">
                <a16:creationId xmlns:a16="http://schemas.microsoft.com/office/drawing/2014/main" id="{E98192FB-819B-4663-9B82-66411B83F546}"/>
              </a:ext>
            </a:extLst>
          </p:cNvPr>
          <p:cNvSpPr>
            <a:spLocks xmlns:a="http://schemas.openxmlformats.org/drawingml/2006/main" noGrp="1"/>
          </p:cNvSpPr>
          <p:nvPr/>
        </p:nvSpPr>
        <p:spPr>
          <a:xfrm xmlns:a="http://schemas.openxmlformats.org/drawingml/2006/main">
            <a:off x="6334125" y="26479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389314a5701a4053"/>
              </a:rPr>
              <a:t>DOI: 10.3390/chemosensors9020040</a:t>
            </a:r>
          </a:p>
        </p:txBody>
      </p:sp>
      <p:sp>
        <p:nvSpPr>
          <p:cNvPr id="18" name="[5] Elwood, M. (2021).">
            <a:extLst xmlns:a="http://schemas.openxmlformats.org/drawingml/2006/main">
              <a:ext uri="{FF2B5EF4-FFF2-40B4-BE49-F238E27FC236}">
                <a16:creationId xmlns:a16="http://schemas.microsoft.com/office/drawing/2014/main" id="{EBB584B1-FE07-4A63-886D-3B46AB631CA2}"/>
              </a:ext>
            </a:extLst>
          </p:cNvPr>
          <p:cNvSpPr>
            <a:spLocks xmlns:a="http://schemas.openxmlformats.org/drawingml/2006/main" noGrp="1"/>
          </p:cNvSpPr>
          <p:nvPr/>
        </p:nvSpPr>
        <p:spPr>
          <a:xfrm xmlns:a="http://schemas.openxmlformats.org/drawingml/2006/main">
            <a:off x="6334125" y="29241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[5] Elwood, M. (2021).</a:t>
            </a:r>
          </a:p>
        </p:txBody>
      </p:sp>
      <p:sp>
        <p:nvSpPr>
          <p:cNvPr id="19" name="The Scientific Basis for Occupational Exposure Limits for Hydrogen Sul">
            <a:extLst xmlns:a="http://schemas.openxmlformats.org/drawingml/2006/main">
              <a:ext uri="{FF2B5EF4-FFF2-40B4-BE49-F238E27FC236}">
                <a16:creationId xmlns:a16="http://schemas.microsoft.com/office/drawing/2014/main" id="{53969427-BF8C-45ED-85C2-B446DF5908B0}"/>
              </a:ext>
            </a:extLst>
          </p:cNvPr>
          <p:cNvSpPr>
            <a:spLocks xmlns:a="http://schemas.openxmlformats.org/drawingml/2006/main" noGrp="1"/>
          </p:cNvSpPr>
          <p:nvPr/>
        </p:nvSpPr>
        <p:spPr>
          <a:xfrm xmlns:a="http://schemas.openxmlformats.org/drawingml/2006/main">
            <a:off x="6334125" y="32575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The Scientific Basis for Occupational Exposure Limits for Hydrogen Sulphide—A Critical Commentary.</a:t>
            </a:r>
          </a:p>
        </p:txBody>
      </p:sp>
      <p:sp>
        <p:nvSpPr>
          <p:cNvPr id="20" name="International Journal of Environmental Research and Public Health, 18(">
            <a:extLst xmlns:a="http://schemas.openxmlformats.org/drawingml/2006/main">
              <a:ext uri="{FF2B5EF4-FFF2-40B4-BE49-F238E27FC236}">
                <a16:creationId xmlns:a16="http://schemas.microsoft.com/office/drawing/2014/main" id="{B5E9CD73-CFC9-40AE-94C9-964D864C777C}"/>
              </a:ext>
            </a:extLst>
          </p:cNvPr>
          <p:cNvSpPr>
            <a:spLocks xmlns:a="http://schemas.openxmlformats.org/drawingml/2006/main" noGrp="1"/>
          </p:cNvSpPr>
          <p:nvPr/>
        </p:nvSpPr>
        <p:spPr>
          <a:xfrm xmlns:a="http://schemas.openxmlformats.org/drawingml/2006/main">
            <a:off x="6334125" y="39624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International Journal of Environmental Research and Public Health, 18(6), 2866.</a:t>
            </a:r>
          </a:p>
        </p:txBody>
      </p:sp>
      <p:sp>
        <p:nvSpPr>
          <p:cNvPr id="21" name="DOI: 10.3390/ijerph18062866">
            <a:extLst xmlns:a="http://schemas.openxmlformats.org/drawingml/2006/main">
              <a:ext uri="{FF2B5EF4-FFF2-40B4-BE49-F238E27FC236}">
                <a16:creationId xmlns:a16="http://schemas.microsoft.com/office/drawing/2014/main" id="{1A088204-4A43-4118-A9BE-6E355D3F5476}"/>
              </a:ext>
            </a:extLst>
          </p:cNvPr>
          <p:cNvSpPr>
            <a:spLocks xmlns:a="http://schemas.openxmlformats.org/drawingml/2006/main" noGrp="1"/>
          </p:cNvSpPr>
          <p:nvPr/>
        </p:nvSpPr>
        <p:spPr>
          <a:xfrm xmlns:a="http://schemas.openxmlformats.org/drawingml/2006/main">
            <a:off x="6334125" y="42862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dfdac5520fd64b7c"/>
              </a:rPr>
              <a:t>DOI: 10.3390/ijerph18062866</a:t>
            </a:r>
          </a:p>
        </p:txBody>
      </p:sp>
      <p:sp>
        <p:nvSpPr>
          <p:cNvPr id="22" name="[6] OSHA.">
            <a:extLst xmlns:a="http://schemas.openxmlformats.org/drawingml/2006/main">
              <a:ext uri="{FF2B5EF4-FFF2-40B4-BE49-F238E27FC236}">
                <a16:creationId xmlns:a16="http://schemas.microsoft.com/office/drawing/2014/main" id="{93E0FB7E-9223-4FA9-AAFA-07AFE7308F9C}"/>
              </a:ext>
            </a:extLst>
          </p:cNvPr>
          <p:cNvSpPr>
            <a:spLocks xmlns:a="http://schemas.openxmlformats.org/drawingml/2006/main" noGrp="1"/>
          </p:cNvSpPr>
          <p:nvPr/>
        </p:nvSpPr>
        <p:spPr>
          <a:xfrm xmlns:a="http://schemas.openxmlformats.org/drawingml/2006/main">
            <a:off x="6334125" y="45624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3" b="1">
                <a:solidFill>
                  <a:srgbClr val="FFFFFF"/>
                </a:solidFill>
                <a:latin typeface="Avenir Next"/>
                <a:ea typeface="Avenir Next"/>
                <a:cs typeface="Avenir Next"/>
              </a:defRPr>
            </a:defPPr>
            <a:lvl1pPr algn="l">
              <a:defRPr sz="1463" b="1">
                <a:solidFill>
                  <a:srgbClr val="FFFFFF"/>
                </a:solidFill>
                <a:latin typeface="Avenir Next"/>
                <a:ea typeface="Avenir Next"/>
                <a:cs typeface="Avenir Next"/>
              </a:defRPr>
            </a:lvl1pPr>
            <a:lvl2pPr algn="l">
              <a:defRPr sz="1463" b="1">
                <a:solidFill>
                  <a:srgbClr val="FFFFFF"/>
                </a:solidFill>
                <a:latin typeface="Avenir Next"/>
                <a:ea typeface="Avenir Next"/>
                <a:cs typeface="Avenir Next"/>
              </a:defRPr>
            </a:lvl2pPr>
            <a:lvl3pPr algn="l">
              <a:defRPr sz="1463" b="1">
                <a:solidFill>
                  <a:srgbClr val="FFFFFF"/>
                </a:solidFill>
                <a:latin typeface="Avenir Next"/>
                <a:ea typeface="Avenir Next"/>
                <a:cs typeface="Avenir Next"/>
              </a:defRPr>
            </a:lvl3pPr>
            <a:lvl4pPr algn="l">
              <a:defRPr sz="1463" b="1">
                <a:solidFill>
                  <a:srgbClr val="FFFFFF"/>
                </a:solidFill>
                <a:latin typeface="Avenir Next"/>
                <a:ea typeface="Avenir Next"/>
                <a:cs typeface="Avenir Next"/>
              </a:defRPr>
            </a:lvl4pPr>
            <a:lvl5pPr algn="l">
              <a:defRPr sz="1463" b="1">
                <a:solidFill>
                  <a:srgbClr val="FFFFFF"/>
                </a:solidFill>
                <a:latin typeface="Avenir Next"/>
                <a:ea typeface="Avenir Next"/>
                <a:cs typeface="Avenir Next"/>
              </a:defRPr>
            </a:lvl5pPr>
            <a:lvl6pPr algn="l">
              <a:defRPr sz="1463" b="1">
                <a:solidFill>
                  <a:srgbClr val="FFFFFF"/>
                </a:solidFill>
                <a:latin typeface="Avenir Next"/>
                <a:ea typeface="Avenir Next"/>
                <a:cs typeface="Avenir Next"/>
              </a:defRPr>
            </a:lvl6pPr>
            <a:lvl7pPr algn="l">
              <a:defRPr sz="1463" b="1">
                <a:solidFill>
                  <a:srgbClr val="FFFFFF"/>
                </a:solidFill>
                <a:latin typeface="Avenir Next"/>
                <a:ea typeface="Avenir Next"/>
                <a:cs typeface="Avenir Next"/>
              </a:defRPr>
            </a:lvl7pPr>
            <a:lvl8pPr algn="l">
              <a:defRPr sz="1463" b="1">
                <a:solidFill>
                  <a:srgbClr val="FFFFFF"/>
                </a:solidFill>
                <a:latin typeface="Avenir Next"/>
                <a:ea typeface="Avenir Next"/>
                <a:cs typeface="Avenir Next"/>
              </a:defRPr>
            </a:lvl8pPr>
            <a:lvl9pPr algn="l">
              <a:defRPr sz="1463" b="1">
                <a:solidFill>
                  <a:srgbClr val="FFFFFF"/>
                </a:solidFill>
                <a:latin typeface="Avenir Next"/>
                <a:ea typeface="Avenir Next"/>
                <a:cs typeface="Avenir Next"/>
              </a:defRPr>
            </a:lvl9pPr>
          </a:lstStyle>
          <a:p xmlns:a="http://schemas.openxmlformats.org/drawingml/2006/main">
            <a:pPr algn="l">
              <a:defRPr sz="1463" b="1">
                <a:solidFill>
                  <a:srgbClr val="FFFFFF"/>
                </a:solidFill>
                <a:latin typeface="Avenir Next"/>
                <a:ea typeface="Avenir Next"/>
                <a:cs typeface="Avenir Next"/>
              </a:defRPr>
            </a:pPr>
            <a:r>
              <a:rPr sz="1463" b="1">
                <a:solidFill>
                  <a:srgbClr val="FFFFFF"/>
                </a:solidFill>
                <a:latin typeface="Avenir Next"/>
                <a:ea typeface="Avenir Next"/>
                <a:cs typeface="Avenir Next"/>
              </a:rPr>
              <a:t>[6] OSHA.</a:t>
            </a:r>
          </a:p>
        </p:txBody>
      </p:sp>
      <p:sp>
        <p:nvSpPr>
          <p:cNvPr id="23" name="Hydrogen Sulfide — Chemical Data &amp; Exposure Limits.">
            <a:extLst xmlns:a="http://schemas.openxmlformats.org/drawingml/2006/main">
              <a:ext uri="{FF2B5EF4-FFF2-40B4-BE49-F238E27FC236}">
                <a16:creationId xmlns:a16="http://schemas.microsoft.com/office/drawing/2014/main" id="{4BED39D0-D6CF-47B0-AAF9-DD708D488972}"/>
              </a:ext>
            </a:extLst>
          </p:cNvPr>
          <p:cNvSpPr>
            <a:spLocks xmlns:a="http://schemas.openxmlformats.org/drawingml/2006/main" noGrp="1"/>
          </p:cNvSpPr>
          <p:nvPr/>
        </p:nvSpPr>
        <p:spPr>
          <a:xfrm xmlns:a="http://schemas.openxmlformats.org/drawingml/2006/main">
            <a:off x="6334125" y="489585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35" b="0">
                <a:solidFill>
                  <a:srgbClr val="BDCEDD"/>
                </a:solidFill>
                <a:latin typeface="Avenir Next"/>
                <a:ea typeface="Avenir Next"/>
                <a:cs typeface="Avenir Next"/>
              </a:defRPr>
            </a:defPPr>
            <a:lvl1pPr algn="l">
              <a:defRPr sz="1335" b="0">
                <a:solidFill>
                  <a:srgbClr val="BDCEDD"/>
                </a:solidFill>
                <a:latin typeface="Avenir Next"/>
                <a:ea typeface="Avenir Next"/>
                <a:cs typeface="Avenir Next"/>
              </a:defRPr>
            </a:lvl1pPr>
            <a:lvl2pPr algn="l">
              <a:defRPr sz="1335" b="0">
                <a:solidFill>
                  <a:srgbClr val="BDCEDD"/>
                </a:solidFill>
                <a:latin typeface="Avenir Next"/>
                <a:ea typeface="Avenir Next"/>
                <a:cs typeface="Avenir Next"/>
              </a:defRPr>
            </a:lvl2pPr>
            <a:lvl3pPr algn="l">
              <a:defRPr sz="1335" b="0">
                <a:solidFill>
                  <a:srgbClr val="BDCEDD"/>
                </a:solidFill>
                <a:latin typeface="Avenir Next"/>
                <a:ea typeface="Avenir Next"/>
                <a:cs typeface="Avenir Next"/>
              </a:defRPr>
            </a:lvl3pPr>
            <a:lvl4pPr algn="l">
              <a:defRPr sz="1335" b="0">
                <a:solidFill>
                  <a:srgbClr val="BDCEDD"/>
                </a:solidFill>
                <a:latin typeface="Avenir Next"/>
                <a:ea typeface="Avenir Next"/>
                <a:cs typeface="Avenir Next"/>
              </a:defRPr>
            </a:lvl4pPr>
            <a:lvl5pPr algn="l">
              <a:defRPr sz="1335" b="0">
                <a:solidFill>
                  <a:srgbClr val="BDCEDD"/>
                </a:solidFill>
                <a:latin typeface="Avenir Next"/>
                <a:ea typeface="Avenir Next"/>
                <a:cs typeface="Avenir Next"/>
              </a:defRPr>
            </a:lvl5pPr>
            <a:lvl6pPr algn="l">
              <a:defRPr sz="1335" b="0">
                <a:solidFill>
                  <a:srgbClr val="BDCEDD"/>
                </a:solidFill>
                <a:latin typeface="Avenir Next"/>
                <a:ea typeface="Avenir Next"/>
                <a:cs typeface="Avenir Next"/>
              </a:defRPr>
            </a:lvl6pPr>
            <a:lvl7pPr algn="l">
              <a:defRPr sz="1335" b="0">
                <a:solidFill>
                  <a:srgbClr val="BDCEDD"/>
                </a:solidFill>
                <a:latin typeface="Avenir Next"/>
                <a:ea typeface="Avenir Next"/>
                <a:cs typeface="Avenir Next"/>
              </a:defRPr>
            </a:lvl7pPr>
            <a:lvl8pPr algn="l">
              <a:defRPr sz="1335" b="0">
                <a:solidFill>
                  <a:srgbClr val="BDCEDD"/>
                </a:solidFill>
                <a:latin typeface="Avenir Next"/>
                <a:ea typeface="Avenir Next"/>
                <a:cs typeface="Avenir Next"/>
              </a:defRPr>
            </a:lvl8pPr>
            <a:lvl9pPr algn="l">
              <a:defRPr sz="1335" b="0">
                <a:solidFill>
                  <a:srgbClr val="BDCEDD"/>
                </a:solidFill>
                <a:latin typeface="Avenir Next"/>
                <a:ea typeface="Avenir Next"/>
                <a:cs typeface="Avenir Next"/>
              </a:defRPr>
            </a:lvl9pPr>
          </a:lstStyle>
          <a:p xmlns:a="http://schemas.openxmlformats.org/drawingml/2006/main">
            <a:pPr algn="l">
              <a:defRPr sz="1335" b="0">
                <a:solidFill>
                  <a:srgbClr val="BDCEDD"/>
                </a:solidFill>
                <a:latin typeface="Avenir Next"/>
                <a:ea typeface="Avenir Next"/>
                <a:cs typeface="Avenir Next"/>
              </a:defRPr>
            </a:pPr>
            <a:r>
              <a:rPr sz="1335" b="0">
                <a:solidFill>
                  <a:srgbClr val="BDCEDD"/>
                </a:solidFill>
                <a:latin typeface="Avenir Next"/>
                <a:ea typeface="Avenir Next"/>
                <a:cs typeface="Avenir Next"/>
              </a:rPr>
              <a:t>Hydrogen Sulfide — Chemical Data &amp; Exposure Limits.</a:t>
            </a:r>
          </a:p>
        </p:txBody>
      </p:sp>
      <p:sp>
        <p:nvSpPr>
          <p:cNvPr id="24" name="Occupational Chemical Database.">
            <a:extLst xmlns:a="http://schemas.openxmlformats.org/drawingml/2006/main">
              <a:ext uri="{FF2B5EF4-FFF2-40B4-BE49-F238E27FC236}">
                <a16:creationId xmlns:a16="http://schemas.microsoft.com/office/drawing/2014/main" id="{C7005CCD-1A45-4559-9E98-CAA7D9A31950}"/>
              </a:ext>
            </a:extLst>
          </p:cNvPr>
          <p:cNvSpPr>
            <a:spLocks xmlns:a="http://schemas.openxmlformats.org/drawingml/2006/main" noGrp="1"/>
          </p:cNvSpPr>
          <p:nvPr/>
        </p:nvSpPr>
        <p:spPr>
          <a:xfrm xmlns:a="http://schemas.openxmlformats.org/drawingml/2006/main">
            <a:off x="6334125" y="56007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73" b="0">
                <a:solidFill>
                  <a:srgbClr val="BDCEDD"/>
                </a:solidFill>
                <a:latin typeface="Avenir Next"/>
                <a:ea typeface="Avenir Next"/>
                <a:cs typeface="Avenir Next"/>
              </a:defRPr>
            </a:defPPr>
            <a:lvl1pPr algn="l">
              <a:defRPr sz="1073" b="0">
                <a:solidFill>
                  <a:srgbClr val="BDCEDD"/>
                </a:solidFill>
                <a:latin typeface="Avenir Next"/>
                <a:ea typeface="Avenir Next"/>
                <a:cs typeface="Avenir Next"/>
              </a:defRPr>
            </a:lvl1pPr>
            <a:lvl2pPr algn="l">
              <a:defRPr sz="1073" b="0">
                <a:solidFill>
                  <a:srgbClr val="BDCEDD"/>
                </a:solidFill>
                <a:latin typeface="Avenir Next"/>
                <a:ea typeface="Avenir Next"/>
                <a:cs typeface="Avenir Next"/>
              </a:defRPr>
            </a:lvl2pPr>
            <a:lvl3pPr algn="l">
              <a:defRPr sz="1073" b="0">
                <a:solidFill>
                  <a:srgbClr val="BDCEDD"/>
                </a:solidFill>
                <a:latin typeface="Avenir Next"/>
                <a:ea typeface="Avenir Next"/>
                <a:cs typeface="Avenir Next"/>
              </a:defRPr>
            </a:lvl3pPr>
            <a:lvl4pPr algn="l">
              <a:defRPr sz="1073" b="0">
                <a:solidFill>
                  <a:srgbClr val="BDCEDD"/>
                </a:solidFill>
                <a:latin typeface="Avenir Next"/>
                <a:ea typeface="Avenir Next"/>
                <a:cs typeface="Avenir Next"/>
              </a:defRPr>
            </a:lvl4pPr>
            <a:lvl5pPr algn="l">
              <a:defRPr sz="1073" b="0">
                <a:solidFill>
                  <a:srgbClr val="BDCEDD"/>
                </a:solidFill>
                <a:latin typeface="Avenir Next"/>
                <a:ea typeface="Avenir Next"/>
                <a:cs typeface="Avenir Next"/>
              </a:defRPr>
            </a:lvl5pPr>
            <a:lvl6pPr algn="l">
              <a:defRPr sz="1073" b="0">
                <a:solidFill>
                  <a:srgbClr val="BDCEDD"/>
                </a:solidFill>
                <a:latin typeface="Avenir Next"/>
                <a:ea typeface="Avenir Next"/>
                <a:cs typeface="Avenir Next"/>
              </a:defRPr>
            </a:lvl6pPr>
            <a:lvl7pPr algn="l">
              <a:defRPr sz="1073" b="0">
                <a:solidFill>
                  <a:srgbClr val="BDCEDD"/>
                </a:solidFill>
                <a:latin typeface="Avenir Next"/>
                <a:ea typeface="Avenir Next"/>
                <a:cs typeface="Avenir Next"/>
              </a:defRPr>
            </a:lvl7pPr>
            <a:lvl8pPr algn="l">
              <a:defRPr sz="1073" b="0">
                <a:solidFill>
                  <a:srgbClr val="BDCEDD"/>
                </a:solidFill>
                <a:latin typeface="Avenir Next"/>
                <a:ea typeface="Avenir Next"/>
                <a:cs typeface="Avenir Next"/>
              </a:defRPr>
            </a:lvl8pPr>
            <a:lvl9pPr algn="l">
              <a:defRPr sz="1073" b="0">
                <a:solidFill>
                  <a:srgbClr val="BDCEDD"/>
                </a:solidFill>
                <a:latin typeface="Avenir Next"/>
                <a:ea typeface="Avenir Next"/>
                <a:cs typeface="Avenir Next"/>
              </a:defRPr>
            </a:lvl9pPr>
          </a:lstStyle>
          <a:p xmlns:a="http://schemas.openxmlformats.org/drawingml/2006/main">
            <a:pPr algn="l">
              <a:defRPr sz="1073" b="0">
                <a:solidFill>
                  <a:srgbClr val="BDCEDD"/>
                </a:solidFill>
                <a:latin typeface="Avenir Next"/>
                <a:ea typeface="Avenir Next"/>
                <a:cs typeface="Avenir Next"/>
              </a:defRPr>
            </a:pPr>
            <a:r>
              <a:rPr sz="1073" b="0">
                <a:solidFill>
                  <a:srgbClr val="BDCEDD"/>
                </a:solidFill>
                <a:latin typeface="Avenir Next"/>
                <a:ea typeface="Avenir Next"/>
                <a:cs typeface="Avenir Next"/>
              </a:rPr>
              <a:t>Occupational Chemical Database.</a:t>
            </a:r>
          </a:p>
        </p:txBody>
      </p:sp>
      <p:sp>
        <p:nvSpPr>
          <p:cNvPr id="25" name="osha.gov/chemicaldata/652">
            <a:extLst xmlns:a="http://schemas.openxmlformats.org/drawingml/2006/main">
              <a:ext uri="{FF2B5EF4-FFF2-40B4-BE49-F238E27FC236}">
                <a16:creationId xmlns:a16="http://schemas.microsoft.com/office/drawing/2014/main" id="{37289F1E-91DC-403A-A9D1-25B14C69DD16}"/>
              </a:ext>
            </a:extLst>
          </p:cNvPr>
          <p:cNvSpPr>
            <a:spLocks xmlns:a="http://schemas.openxmlformats.org/drawingml/2006/main" noGrp="1"/>
          </p:cNvSpPr>
          <p:nvPr/>
        </p:nvSpPr>
        <p:spPr>
          <a:xfrm xmlns:a="http://schemas.openxmlformats.org/drawingml/2006/main">
            <a:off x="6334125" y="59245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88" b="0">
                <a:solidFill>
                  <a:srgbClr val="E8B563"/>
                </a:solidFill>
                <a:latin typeface="Avenir Next"/>
                <a:ea typeface="Avenir Next"/>
                <a:cs typeface="Avenir Next"/>
              </a:defRPr>
            </a:defPPr>
            <a:lvl1pPr algn="l">
              <a:defRPr sz="1088" b="0">
                <a:solidFill>
                  <a:srgbClr val="E8B563"/>
                </a:solidFill>
                <a:latin typeface="Avenir Next"/>
                <a:ea typeface="Avenir Next"/>
                <a:cs typeface="Avenir Next"/>
              </a:defRPr>
            </a:lvl1pPr>
            <a:lvl2pPr algn="l">
              <a:defRPr sz="1088" b="0">
                <a:solidFill>
                  <a:srgbClr val="E8B563"/>
                </a:solidFill>
                <a:latin typeface="Avenir Next"/>
                <a:ea typeface="Avenir Next"/>
                <a:cs typeface="Avenir Next"/>
              </a:defRPr>
            </a:lvl2pPr>
            <a:lvl3pPr algn="l">
              <a:defRPr sz="1088" b="0">
                <a:solidFill>
                  <a:srgbClr val="E8B563"/>
                </a:solidFill>
                <a:latin typeface="Avenir Next"/>
                <a:ea typeface="Avenir Next"/>
                <a:cs typeface="Avenir Next"/>
              </a:defRPr>
            </a:lvl3pPr>
            <a:lvl4pPr algn="l">
              <a:defRPr sz="1088" b="0">
                <a:solidFill>
                  <a:srgbClr val="E8B563"/>
                </a:solidFill>
                <a:latin typeface="Avenir Next"/>
                <a:ea typeface="Avenir Next"/>
                <a:cs typeface="Avenir Next"/>
              </a:defRPr>
            </a:lvl4pPr>
            <a:lvl5pPr algn="l">
              <a:defRPr sz="1088" b="0">
                <a:solidFill>
                  <a:srgbClr val="E8B563"/>
                </a:solidFill>
                <a:latin typeface="Avenir Next"/>
                <a:ea typeface="Avenir Next"/>
                <a:cs typeface="Avenir Next"/>
              </a:defRPr>
            </a:lvl5pPr>
            <a:lvl6pPr algn="l">
              <a:defRPr sz="1088" b="0">
                <a:solidFill>
                  <a:srgbClr val="E8B563"/>
                </a:solidFill>
                <a:latin typeface="Avenir Next"/>
                <a:ea typeface="Avenir Next"/>
                <a:cs typeface="Avenir Next"/>
              </a:defRPr>
            </a:lvl6pPr>
            <a:lvl7pPr algn="l">
              <a:defRPr sz="1088" b="0">
                <a:solidFill>
                  <a:srgbClr val="E8B563"/>
                </a:solidFill>
                <a:latin typeface="Avenir Next"/>
                <a:ea typeface="Avenir Next"/>
                <a:cs typeface="Avenir Next"/>
              </a:defRPr>
            </a:lvl7pPr>
            <a:lvl8pPr algn="l">
              <a:defRPr sz="1088" b="0">
                <a:solidFill>
                  <a:srgbClr val="E8B563"/>
                </a:solidFill>
                <a:latin typeface="Avenir Next"/>
                <a:ea typeface="Avenir Next"/>
                <a:cs typeface="Avenir Next"/>
              </a:defRPr>
            </a:lvl8pPr>
            <a:lvl9pPr algn="l">
              <a:defRPr sz="1088" b="0">
                <a:solidFill>
                  <a:srgbClr val="E8B563"/>
                </a:solidFill>
                <a:latin typeface="Avenir Next"/>
                <a:ea typeface="Avenir Next"/>
                <a:cs typeface="Avenir Next"/>
              </a:defRPr>
            </a:lvl9pPr>
          </a:lstStyle>
          <a:p xmlns:a="http://schemas.openxmlformats.org/drawingml/2006/main">
            <a:pPr algn="l">
              <a:defRPr sz="1088" b="0">
                <a:solidFill>
                  <a:srgbClr val="E8B563"/>
                </a:solidFill>
                <a:latin typeface="Avenir Next"/>
                <a:ea typeface="Avenir Next"/>
                <a:cs typeface="Avenir Next"/>
              </a:defRPr>
            </a:pPr>
            <a:r>
              <a:rPr sz="1088" b="0">
                <a:solidFill>
                  <a:srgbClr val="E8B563"/>
                </a:solidFill>
                <a:latin typeface="Avenir Next"/>
                <a:ea typeface="Avenir Next"/>
                <a:cs typeface="Avenir Next"/>
                <a:hlinkClick xmlns:r="http://schemas.openxmlformats.org/officeDocument/2006/relationships" r:id="Rd65da2dc56424126"/>
              </a:rPr>
              <a:t>osha.gov/chemicaldata/652</a:t>
            </a:r>
          </a:p>
        </p:txBody>
      </p:sp>
      <p:sp>
        <p:nvSpPr>
          <p:cNvPr id="26" name="">
            <a:extLst xmlns:a="http://schemas.openxmlformats.org/drawingml/2006/main">
              <a:ext uri="{FF2B5EF4-FFF2-40B4-BE49-F238E27FC236}">
                <a16:creationId xmlns:a16="http://schemas.microsoft.com/office/drawing/2014/main" id="{68DCC9C7-FB46-46C4-A0CF-23C53717D726}"/>
              </a:ext>
            </a:extLst>
          </p:cNvPr>
          <p:cNvSpPr>
            <a:spLocks xmlns:a="http://schemas.openxmlformats.org/drawingml/2006/main" noGrp="1"/>
          </p:cNvSpPr>
          <p:nvPr/>
        </p:nvSpPr>
        <p:spPr>
          <a:xfrm xmlns:a="http://schemas.openxmlformats.org/drawingml/2006/main">
            <a:off x="514350" y="6238875"/>
            <a:ext cx="11163300" cy="0"/>
          </a:xfrm>
          <a:prstGeom xmlns:a="http://schemas.openxmlformats.org/drawingml/2006/main" prst="line">
            <a:avLst/>
          </a:prstGeom>
          <a:ln xmlns:a="http://schemas.openxmlformats.org/drawingml/2006/main" w="9525">
            <a:solidFill>
              <a:srgbClr val="385269"/>
            </a:solidFill>
          </a:ln>
        </p:spPr>
      </p:sp>
      <p:sp>
        <p:nvSpPr>
          <p:cNvPr id="27" name="Project repository">
            <a:extLst xmlns:a="http://schemas.openxmlformats.org/drawingml/2006/main">
              <a:ext uri="{FF2B5EF4-FFF2-40B4-BE49-F238E27FC236}">
                <a16:creationId xmlns:a16="http://schemas.microsoft.com/office/drawing/2014/main" id="{CAA9DAD3-EF6A-4DBA-9E90-29E17B8D7FB7}"/>
              </a:ext>
            </a:extLst>
          </p:cNvPr>
          <p:cNvSpPr>
            <a:spLocks xmlns:a="http://schemas.openxmlformats.org/drawingml/2006/main" noGrp="1"/>
          </p:cNvSpPr>
          <p:nvPr/>
        </p:nvSpPr>
        <p:spPr>
          <a:xfrm xmlns:a="http://schemas.openxmlformats.org/drawingml/2006/main">
            <a:off x="514350" y="6419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venir Next"/>
                <a:ea typeface="Avenir Next"/>
                <a:cs typeface="Avenir Next"/>
              </a:defRPr>
            </a:defPPr>
            <a:lvl1pPr algn="l">
              <a:defRPr sz="1200" b="1">
                <a:solidFill>
                  <a:srgbClr val="FFFFFF"/>
                </a:solidFill>
                <a:latin typeface="Avenir Next"/>
                <a:ea typeface="Avenir Next"/>
                <a:cs typeface="Avenir Next"/>
              </a:defRPr>
            </a:lvl1pPr>
            <a:lvl2pPr algn="l">
              <a:defRPr sz="1200" b="1">
                <a:solidFill>
                  <a:srgbClr val="FFFFFF"/>
                </a:solidFill>
                <a:latin typeface="Avenir Next"/>
                <a:ea typeface="Avenir Next"/>
                <a:cs typeface="Avenir Next"/>
              </a:defRPr>
            </a:lvl2pPr>
            <a:lvl3pPr algn="l">
              <a:defRPr sz="1200" b="1">
                <a:solidFill>
                  <a:srgbClr val="FFFFFF"/>
                </a:solidFill>
                <a:latin typeface="Avenir Next"/>
                <a:ea typeface="Avenir Next"/>
                <a:cs typeface="Avenir Next"/>
              </a:defRPr>
            </a:lvl3pPr>
            <a:lvl4pPr algn="l">
              <a:defRPr sz="1200" b="1">
                <a:solidFill>
                  <a:srgbClr val="FFFFFF"/>
                </a:solidFill>
                <a:latin typeface="Avenir Next"/>
                <a:ea typeface="Avenir Next"/>
                <a:cs typeface="Avenir Next"/>
              </a:defRPr>
            </a:lvl4pPr>
            <a:lvl5pPr algn="l">
              <a:defRPr sz="1200" b="1">
                <a:solidFill>
                  <a:srgbClr val="FFFFFF"/>
                </a:solidFill>
                <a:latin typeface="Avenir Next"/>
                <a:ea typeface="Avenir Next"/>
                <a:cs typeface="Avenir Next"/>
              </a:defRPr>
            </a:lvl5pPr>
            <a:lvl6pPr algn="l">
              <a:defRPr sz="1200" b="1">
                <a:solidFill>
                  <a:srgbClr val="FFFFFF"/>
                </a:solidFill>
                <a:latin typeface="Avenir Next"/>
                <a:ea typeface="Avenir Next"/>
                <a:cs typeface="Avenir Next"/>
              </a:defRPr>
            </a:lvl6pPr>
            <a:lvl7pPr algn="l">
              <a:defRPr sz="1200" b="1">
                <a:solidFill>
                  <a:srgbClr val="FFFFFF"/>
                </a:solidFill>
                <a:latin typeface="Avenir Next"/>
                <a:ea typeface="Avenir Next"/>
                <a:cs typeface="Avenir Next"/>
              </a:defRPr>
            </a:lvl7pPr>
            <a:lvl8pPr algn="l">
              <a:defRPr sz="1200" b="1">
                <a:solidFill>
                  <a:srgbClr val="FFFFFF"/>
                </a:solidFill>
                <a:latin typeface="Avenir Next"/>
                <a:ea typeface="Avenir Next"/>
                <a:cs typeface="Avenir Next"/>
              </a:defRPr>
            </a:lvl8pPr>
            <a:lvl9pPr algn="l">
              <a:defRPr sz="1200" b="1">
                <a:solidFill>
                  <a:srgbClr val="FFFFFF"/>
                </a:solidFill>
                <a:latin typeface="Avenir Next"/>
                <a:ea typeface="Avenir Next"/>
                <a:cs typeface="Avenir Next"/>
              </a:defRPr>
            </a:lvl9pPr>
          </a:lstStyle>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hlinkClick xmlns:r="http://schemas.openxmlformats.org/officeDocument/2006/relationships" r:id="Rbc1aeffbbd87489c"/>
              </a:rPr>
              <a:t>Project repository</a:t>
            </a:r>
          </a:p>
        </p:txBody>
      </p:sp>
      <p:sp>
        <p:nvSpPr>
          <p:cNvPr id="28" name="Demonstration video">
            <a:extLst xmlns:a="http://schemas.openxmlformats.org/drawingml/2006/main">
              <a:ext uri="{FF2B5EF4-FFF2-40B4-BE49-F238E27FC236}">
                <a16:creationId xmlns:a16="http://schemas.microsoft.com/office/drawing/2014/main" id="{050809D0-EB49-4343-9E97-CF15FC105670}"/>
              </a:ext>
            </a:extLst>
          </p:cNvPr>
          <p:cNvSpPr>
            <a:spLocks xmlns:a="http://schemas.openxmlformats.org/drawingml/2006/main" noGrp="1"/>
          </p:cNvSpPr>
          <p:nvPr/>
        </p:nvSpPr>
        <p:spPr>
          <a:xfrm xmlns:a="http://schemas.openxmlformats.org/drawingml/2006/main">
            <a:off x="4029075" y="64198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Avenir Next"/>
                <a:ea typeface="Avenir Next"/>
                <a:cs typeface="Avenir Next"/>
              </a:defRPr>
            </a:defPPr>
            <a:lvl1pPr algn="l">
              <a:defRPr sz="1200" b="1">
                <a:solidFill>
                  <a:srgbClr val="FFFFFF"/>
                </a:solidFill>
                <a:latin typeface="Avenir Next"/>
                <a:ea typeface="Avenir Next"/>
                <a:cs typeface="Avenir Next"/>
              </a:defRPr>
            </a:lvl1pPr>
            <a:lvl2pPr algn="l">
              <a:defRPr sz="1200" b="1">
                <a:solidFill>
                  <a:srgbClr val="FFFFFF"/>
                </a:solidFill>
                <a:latin typeface="Avenir Next"/>
                <a:ea typeface="Avenir Next"/>
                <a:cs typeface="Avenir Next"/>
              </a:defRPr>
            </a:lvl2pPr>
            <a:lvl3pPr algn="l">
              <a:defRPr sz="1200" b="1">
                <a:solidFill>
                  <a:srgbClr val="FFFFFF"/>
                </a:solidFill>
                <a:latin typeface="Avenir Next"/>
                <a:ea typeface="Avenir Next"/>
                <a:cs typeface="Avenir Next"/>
              </a:defRPr>
            </a:lvl3pPr>
            <a:lvl4pPr algn="l">
              <a:defRPr sz="1200" b="1">
                <a:solidFill>
                  <a:srgbClr val="FFFFFF"/>
                </a:solidFill>
                <a:latin typeface="Avenir Next"/>
                <a:ea typeface="Avenir Next"/>
                <a:cs typeface="Avenir Next"/>
              </a:defRPr>
            </a:lvl4pPr>
            <a:lvl5pPr algn="l">
              <a:defRPr sz="1200" b="1">
                <a:solidFill>
                  <a:srgbClr val="FFFFFF"/>
                </a:solidFill>
                <a:latin typeface="Avenir Next"/>
                <a:ea typeface="Avenir Next"/>
                <a:cs typeface="Avenir Next"/>
              </a:defRPr>
            </a:lvl5pPr>
            <a:lvl6pPr algn="l">
              <a:defRPr sz="1200" b="1">
                <a:solidFill>
                  <a:srgbClr val="FFFFFF"/>
                </a:solidFill>
                <a:latin typeface="Avenir Next"/>
                <a:ea typeface="Avenir Next"/>
                <a:cs typeface="Avenir Next"/>
              </a:defRPr>
            </a:lvl6pPr>
            <a:lvl7pPr algn="l">
              <a:defRPr sz="1200" b="1">
                <a:solidFill>
                  <a:srgbClr val="FFFFFF"/>
                </a:solidFill>
                <a:latin typeface="Avenir Next"/>
                <a:ea typeface="Avenir Next"/>
                <a:cs typeface="Avenir Next"/>
              </a:defRPr>
            </a:lvl7pPr>
            <a:lvl8pPr algn="l">
              <a:defRPr sz="1200" b="1">
                <a:solidFill>
                  <a:srgbClr val="FFFFFF"/>
                </a:solidFill>
                <a:latin typeface="Avenir Next"/>
                <a:ea typeface="Avenir Next"/>
                <a:cs typeface="Avenir Next"/>
              </a:defRPr>
            </a:lvl8pPr>
            <a:lvl9pPr algn="l">
              <a:defRPr sz="1200" b="1">
                <a:solidFill>
                  <a:srgbClr val="FFFFFF"/>
                </a:solidFill>
                <a:latin typeface="Avenir Next"/>
                <a:ea typeface="Avenir Next"/>
                <a:cs typeface="Avenir Next"/>
              </a:defRPr>
            </a:lvl9pPr>
          </a:lstStyle>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hlinkClick xmlns:r="http://schemas.openxmlformats.org/officeDocument/2006/relationships" r:id="Ra08f9336ae1e487f"/>
              </a:rPr>
              <a:t>Demonstration video</a:t>
            </a:r>
          </a:p>
        </p:txBody>
      </p:sp>
      <p:sp>
        <p:nvSpPr>
          <p:cNvPr id="29" name="Team Tenet">
            <a:extLst xmlns:a="http://schemas.openxmlformats.org/drawingml/2006/main">
              <a:ext uri="{FF2B5EF4-FFF2-40B4-BE49-F238E27FC236}">
                <a16:creationId xmlns:a16="http://schemas.microsoft.com/office/drawing/2014/main" id="{B937CEAA-A677-4FB6-8832-FF91EDB863D4}"/>
              </a:ext>
            </a:extLst>
          </p:cNvPr>
          <p:cNvSpPr>
            <a:spLocks xmlns:a="http://schemas.openxmlformats.org/drawingml/2006/main" noGrp="1"/>
          </p:cNvSpPr>
          <p:nvPr/>
        </p:nvSpPr>
        <p:spPr>
          <a:xfrm xmlns:a="http://schemas.openxmlformats.org/drawingml/2006/main">
            <a:off x="9544050" y="6419850"/>
            <a:ext cx="2124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Team Tenet</a:t>
            </a:r>
          </a:p>
        </p:txBody>
      </p:sp>
    </p:spTree>
    <p:extLst>
      <p:ext uri="{BB962C8B-B14F-4D97-AF65-F5344CB8AC3E}">
        <p14:creationId xmlns:p14="http://schemas.microsoft.com/office/powerpoint/2010/main" val="1206765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2026-10-26T16:46:46.9620000Z</dcterms:created>
  <dcterms:modified xsi:type="dcterms:W3CDTF">2026-10-26T16:46:46.9620000Z</dcterms:modified>
</coreProperties>
</file>